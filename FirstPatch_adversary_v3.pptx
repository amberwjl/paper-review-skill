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7" r:id="rId2"/>
    <p:sldId id="257" r:id="rId3"/>
    <p:sldId id="270" r:id="rId4"/>
    <p:sldId id="272" r:id="rId5"/>
    <p:sldId id="262" r:id="rId6"/>
    <p:sldId id="258" r:id="rId7"/>
    <p:sldId id="269" r:id="rId8"/>
    <p:sldId id="263" r:id="rId9"/>
    <p:sldId id="274" r:id="rId10"/>
    <p:sldId id="27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dversary case" id="{F6A081C6-7021-EEBA-AB9F-0D113E51D22D}">
          <p14:sldIdLst>
            <p14:sldId id="267"/>
            <p14:sldId id="257"/>
            <p14:sldId id="270"/>
            <p14:sldId id="272"/>
            <p14:sldId id="262"/>
            <p14:sldId id="258"/>
            <p14:sldId id="269"/>
            <p14:sldId id="263"/>
            <p14:sldId id="274"/>
            <p14:sldId id="27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81"/>
    <p:restoredTop sz="76426"/>
  </p:normalViewPr>
  <p:slideViewPr>
    <p:cSldViewPr snapToGrid="0" snapToObjects="1">
      <p:cViewPr>
        <p:scale>
          <a:sx n="90" d="100"/>
          <a:sy n="90" d="100"/>
        </p:scale>
        <p:origin x="40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2E3A46"/>
                </a:solidFill>
                <a:latin typeface="+mn-lt"/>
              </a:defRPr>
            </a:pPr>
            <a:r>
              <a:rPr lang="en-CA" sz="1300" b="0" i="0" u="none" strike="noStrike">
                <a:solidFill>
                  <a:srgbClr val="2E3A46"/>
                </a:solidFill>
                <a:latin typeface="+mn-lt"/>
              </a:rPr>
              <a:t>Share of the outcome explained, EP(%)</a:t>
            </a:r>
          </a:p>
        </c:rich>
      </c:tx>
      <c:overlay val="0"/>
    </c:title>
    <c:autoTitleDeleted val="0"/>
    <c:plotArea>
      <c:layout/>
      <c:barChart>
        <c:barDir val="col"/>
        <c:grouping val="clustered"/>
        <c:varyColors val="0"/>
        <c:ser>
          <c:idx val="0"/>
          <c:order val="0"/>
          <c:tx>
            <c:strRef>
              <c:f>Sheet1!$B$1</c:f>
              <c:strCache>
                <c:ptCount val="1"/>
                <c:pt idx="0">
                  <c:v>EP(%)</c:v>
                </c:pt>
              </c:strCache>
            </c:strRef>
          </c:tx>
          <c:spPr>
            <a:solidFill>
              <a:srgbClr val="9AA5B1"/>
            </a:solidFill>
            <a:effectLst/>
          </c:spPr>
          <c:invertIfNegative val="0"/>
          <c:dPt>
            <c:idx val="0"/>
            <c:invertIfNegative val="0"/>
            <c:bubble3D val="0"/>
            <c:extLst>
              <c:ext xmlns:c16="http://schemas.microsoft.com/office/drawing/2014/chart" uri="{C3380CC4-5D6E-409C-BE32-E72D297353CC}">
                <c16:uniqueId val="{00000001-655B-F74A-B9E8-2EAC4577FD4C}"/>
              </c:ext>
            </c:extLst>
          </c:dPt>
          <c:dPt>
            <c:idx val="1"/>
            <c:invertIfNegative val="0"/>
            <c:bubble3D val="0"/>
            <c:extLst>
              <c:ext xmlns:c16="http://schemas.microsoft.com/office/drawing/2014/chart" uri="{C3380CC4-5D6E-409C-BE32-E72D297353CC}">
                <c16:uniqueId val="{00000003-655B-F74A-B9E8-2EAC4577FD4C}"/>
              </c:ext>
            </c:extLst>
          </c:dPt>
          <c:dPt>
            <c:idx val="2"/>
            <c:invertIfNegative val="0"/>
            <c:bubble3D val="0"/>
            <c:extLst>
              <c:ext xmlns:c16="http://schemas.microsoft.com/office/drawing/2014/chart" uri="{C3380CC4-5D6E-409C-BE32-E72D297353CC}">
                <c16:uniqueId val="{00000005-655B-F74A-B9E8-2EAC4577FD4C}"/>
              </c:ext>
            </c:extLst>
          </c:dPt>
          <c:dPt>
            <c:idx val="3"/>
            <c:invertIfNegative val="0"/>
            <c:bubble3D val="0"/>
            <c:extLst>
              <c:ext xmlns:c16="http://schemas.microsoft.com/office/drawing/2014/chart" uri="{C3380CC4-5D6E-409C-BE32-E72D297353CC}">
                <c16:uniqueId val="{00000007-655B-F74A-B9E8-2EAC4577FD4C}"/>
              </c:ext>
            </c:extLst>
          </c:dPt>
          <c:dPt>
            <c:idx val="4"/>
            <c:invertIfNegative val="0"/>
            <c:bubble3D val="0"/>
            <c:spPr>
              <a:solidFill>
                <a:srgbClr val="4A6FA5"/>
              </a:solidFill>
              <a:effectLst/>
            </c:spPr>
            <c:extLst>
              <c:ext xmlns:c16="http://schemas.microsoft.com/office/drawing/2014/chart" uri="{C3380CC4-5D6E-409C-BE32-E72D297353CC}">
                <c16:uniqueId val="{00000009-655B-F74A-B9E8-2EAC4577FD4C}"/>
              </c:ext>
            </c:extLst>
          </c:dPt>
          <c:dPt>
            <c:idx val="5"/>
            <c:invertIfNegative val="0"/>
            <c:bubble3D val="0"/>
            <c:spPr>
              <a:solidFill>
                <a:srgbClr val="4A6FA5"/>
              </a:solidFill>
              <a:effectLst/>
            </c:spPr>
            <c:extLst>
              <c:ext xmlns:c16="http://schemas.microsoft.com/office/drawing/2014/chart" uri="{C3380CC4-5D6E-409C-BE32-E72D297353CC}">
                <c16:uniqueId val="{0000000B-655B-F74A-B9E8-2EAC4577FD4C}"/>
              </c:ext>
            </c:extLst>
          </c:dPt>
          <c:dLbls>
            <c:numFmt formatCode="0.00" sourceLinked="0"/>
            <c:spPr>
              <a:noFill/>
              <a:ln>
                <a:noFill/>
              </a:ln>
              <a:effectLst/>
            </c:spPr>
            <c:txPr>
              <a:bodyPr/>
              <a:lstStyle/>
              <a:p>
                <a:pPr>
                  <a:defRPr sz="1100" b="0" i="0" u="none" strike="noStrike">
                    <a:solidFill>
                      <a:srgbClr val="2E3A4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title length</c:v>
                </c:pt>
                <c:pt idx="1">
                  <c:v>desc. length</c:v>
                </c:pt>
                <c:pt idx="2">
                  <c:v>title read.</c:v>
                </c:pt>
                <c:pt idx="3">
                  <c:v>desc. read.</c:v>
                </c:pt>
                <c:pt idx="4">
                  <c:v>doc file</c:v>
                </c:pt>
                <c:pt idx="5">
                  <c:v>log(insert)</c:v>
                </c:pt>
              </c:strCache>
            </c:strRef>
          </c:cat>
          <c:val>
            <c:numRef>
              <c:f>Sheet1!$B$2:$B$7</c:f>
              <c:numCache>
                <c:formatCode>General</c:formatCode>
                <c:ptCount val="6"/>
                <c:pt idx="0">
                  <c:v>0.01</c:v>
                </c:pt>
                <c:pt idx="1">
                  <c:v>0.22</c:v>
                </c:pt>
                <c:pt idx="2">
                  <c:v>0.03</c:v>
                </c:pt>
                <c:pt idx="3">
                  <c:v>0.02</c:v>
                </c:pt>
                <c:pt idx="4">
                  <c:v>1.82</c:v>
                </c:pt>
                <c:pt idx="5">
                  <c:v>2.92</c:v>
                </c:pt>
              </c:numCache>
            </c:numRef>
          </c:val>
          <c:extLst>
            <c:ext xmlns:c16="http://schemas.microsoft.com/office/drawing/2014/chart" uri="{C3380CC4-5D6E-409C-BE32-E72D297353CC}">
              <c16:uniqueId val="{0000000C-655B-F74A-B9E8-2EAC4577FD4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E3A46"/>
                </a:solidFill>
                <a:latin typeface="+mn-lt"/>
              </a:defRPr>
            </a:pPr>
            <a:endParaRPr lang="en-US"/>
          </a:p>
        </c:txPr>
        <c:crossAx val="2094734552"/>
        <c:crosses val="autoZero"/>
        <c:auto val="1"/>
        <c:lblAlgn val="ctr"/>
        <c:lblOffset val="100"/>
        <c:noMultiLvlLbl val="1"/>
      </c:catAx>
      <c:valAx>
        <c:axId val="2094734552"/>
        <c:scaling>
          <c:orientation val="minMax"/>
          <c:max val="3.5"/>
        </c:scaling>
        <c:delete val="0"/>
        <c:axPos val="l"/>
        <c:majorGridlines>
          <c:spPr>
            <a:ln w="6350" cap="flat">
              <a:solidFill>
                <a:srgbClr val="E6EA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AA5B1"/>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7252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title. Transition into slide 2: Fade.
Opening line: the champions showed you what the paper found; I am going to argue that what it claims is larger than what it measured.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are the three.
[click] First, no evidence. The paper makes a claim about becoming a long-term contributor, but it never measures that.
[click] Second, a biased conclusion. The comparison behind that same claim can be explained by experience rather than by what newcomers choose to work on. The technical name is confounding. Points one and two attack the same sentence in the abstract, so I'll take them together.
[click] Third, significance from large samples. Four results are called significant only because the samples are huge, not because the effects are big enough to matter.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C3890-6A43-BD23-20C0-FF1C09937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B69F6-5FDB-F3C7-4D65-F1931291A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393123-C03E-2EBB-0A6D-3E37A3CF3D66}"/>
              </a:ext>
            </a:extLst>
          </p:cNvPr>
          <p:cNvSpPr>
            <a:spLocks noGrp="1"/>
          </p:cNvSpPr>
          <p:nvPr>
            <p:ph type="body" idx="1"/>
          </p:nvPr>
        </p:nvSpPr>
        <p:spPr/>
        <p:txBody>
          <a:bodyPr/>
          <a:lstStyle/>
          <a:p>
            <a:r>
              <a:rPr lang="en-US" dirty="0"/>
              <a:t>SCRIPT
Here is the claim my first two points are about.
The paper looks at three recommendations that help newcomers get their first patch accepted: work on simple tasks, work on documentation, and make changes that delete only a few lines.
[click] For newcomers, all three go with higher acceptance.
[click] For non-newcomers, the same three go with lower acceptance.
[click] From that flip, the abstract concludes that once you are past your first patch you should abandon these strategies, to increase your odds of becoming a long-term contributor. Everything in my next four slides is about this one sentence.
IF ASKED
- Which numbers? Simple tasks, measured as change entropy, GitHub(H): odds ratio 0.85 for newcomers and 2.14 for non-newcomers (Tables VIII and X). Documentation, LibreOffice: 4.56 and 0.90 (Tables VII and IX). Fewer deletions, GitHub(H): 0.85 and 1.11 (Tables VIII and X).
- Why is 0.85 good for newcomers? For complexity and deletions the metric goes up as the task gets harder, so an odds ratio below 1 means simpler is better. The paper's Table XI footnote says the same.
- Where else does the claim appear? The RQ3 result in Section I and the implications in Section V-C.</a:t>
            </a:r>
          </a:p>
        </p:txBody>
      </p:sp>
      <p:sp>
        <p:nvSpPr>
          <p:cNvPr id="4" name="Slide Number Placeholder 3">
            <a:extLst>
              <a:ext uri="{FF2B5EF4-FFF2-40B4-BE49-F238E27FC236}">
                <a16:creationId xmlns:a16="http://schemas.microsoft.com/office/drawing/2014/main" id="{E5632864-896C-BD10-152E-38EBF012470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305708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CA" dirty="0"/>
              <a:t>. In its non-newcomer results, documentation-related changes are associated with higher acceptance odds in Android (OR 1.27) and GitHub(L) (OR 1.84), but lower odds in LibreOffice (OR 0.90), GitHub(M) (OR 0.97), and GitHub(H) (OR 0.999). The paper reports these as statistically significant associations. In </a:t>
            </a:r>
            <a:r>
              <a:rPr lang="en-CA" dirty="0" err="1"/>
              <a:t>oVirt</a:t>
            </a:r>
            <a:r>
              <a:rPr lang="en-CA" dirty="0"/>
              <a:t>, Typo3, and Wikimedia, the estimates are not marked significant. So even among the paper’s non-newcomers, “stop working on documentation” is not a consistent rule across projects. </a:t>
            </a:r>
            <a:endParaRPr lang="en-US" dirty="0"/>
          </a:p>
        </p:txBody>
      </p:sp>
    </p:spTree>
    <p:extLst>
      <p:ext uri="{BB962C8B-B14F-4D97-AF65-F5344CB8AC3E}">
        <p14:creationId xmlns:p14="http://schemas.microsoft.com/office/powerpoint/2010/main" val="2721559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How would we tell stage apart from experience? There are two ways.
[click] The first is to split non-newcomers by experience: people with two to five accepted patches, people with six to twenty, and core maintainers.
[click] If simple patches already do worse among people with only two to five accepted patches, then stage really matters, and the paper's advice may hold. In that case, I'm wrong.
[click] If the gap only shows up among core maintainers, experience explains it, and the advice does not follow.
[click] The second way is to follow the same person from their second patch to their tenth, and compare their own simple and complex patches. Experience is then held constant by design.
Both use data the paper already has. Even adding tenure and author effects to the existing models would be a quick first check.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is the claim my first two points are about.
The paper looks at three recommendations that help newcomers get their first patch accepted: work on simple tasks, work on documentation, and make changes that delete only a few lines.
[click] For newcomers, all three go with higher acceptance.
[click] For non-newcomers, the same three go with lower acceptance.
[click] From that flip, the abstract concludes that once you are past your first patch you should abandon these strategies, to increase your odds of becoming a long-term contributor. Everything in my next four slides is about this one sentence.
IF ASKED
- Which numbers? Simple tasks, measured as change entropy, GitHub(H): odds ratio 0.85 for newcomers and 2.14 for non-newcomers (Tables VIII and X). Documentation, LibreOffice: 4.56 and 0.90 (Tables VII and IX). Fewer deletions, GitHub(H): 0.85 and 1.11 (Tables VIII and X).
- Why is 0.85 good for newcomers? For complexity and deletions the metric goes up as the task gets harder, so an odds ratio below 1 means simpler is better. The paper's Table XI footnote says the same.
- Where else does the claim appear? The RQ3 result in Section I and the implications in Section V-C.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1E193-542E-1417-A6F0-8E08F04DA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74313-1C4A-E505-82C8-D0488D3307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EE17D-4944-CB13-D494-5A1E1C9C508A}"/>
              </a:ext>
            </a:extLst>
          </p:cNvPr>
          <p:cNvSpPr>
            <a:spLocks noGrp="1"/>
          </p:cNvSpPr>
          <p:nvPr>
            <p:ph type="body" idx="1"/>
          </p:nvPr>
        </p:nvSpPr>
        <p:spPr/>
        <p:txBody>
          <a:bodyPr/>
          <a:lstStyle/>
          <a:p>
            <a:r>
              <a:rPr lang="en-US" dirty="0"/>
              <a:t>SCRIPT
Here is the claim my first two points are about.
The paper looks at three recommendations that help newcomers get their first patch accepted: work on simple tasks, work on documentation, and make changes that delete only a few lines.
[click] For newcomers, all three go with higher acceptance.
[click] For non-newcomers, the same three go with lower acceptance.
[click] From that flip, the abstract concludes that once you are past your first patch you should abandon these strategies, to increase your odds of becoming a long-term contributor. Everything in my next four slides is about this one sentence.
IF ASKED
- Which numbers? Simple tasks, measured as change entropy, GitHub(H): odds ratio 0.85 for newcomers and 2.14 for non-newcomers (Tables VIII and X). Documentation, LibreOffice: 4.56 and 0.90 (Tables VII and IX). Fewer deletions, GitHub(H): 0.85 and 1.11 (Tables VIII and X).
- Why is 0.85 good for newcomers? For complexity and deletions the metric goes up as the task gets harder, so an odds ratio below 1 means simpler is better. The paper's Table XI footnote says the same.
- Where else does the claim appear? The RQ3 result in Section I and the implications in Section V-C.</a:t>
            </a:r>
          </a:p>
        </p:txBody>
      </p:sp>
      <p:sp>
        <p:nvSpPr>
          <p:cNvPr id="4" name="Slide Number Placeholder 3">
            <a:extLst>
              <a:ext uri="{FF2B5EF4-FFF2-40B4-BE49-F238E27FC236}">
                <a16:creationId xmlns:a16="http://schemas.microsoft.com/office/drawing/2014/main" id="{2F06DD8A-CDFA-520C-AAEE-D1770B96721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007952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My third point is about a different headline result.
[click] The abstract says four recommendations have significant negative associations.
[click] They are title length, description length, title readability, and description readability. Every significant estimate for them is an odds ratio of 0.999 or 1.001. An odds ratio of 1 means no effect at all.
[click] Now look at how much of the outcome they explain: the grey bars. Each explains at most about a fifth of a percent. For comparison, documentation and lines added explain about two and three percent.
IF ASKED
- Which datasets? The 0.999 values on the chips are newcomers in GitHub(H), except description length, which is GitHub(M); all from Table VIII. In GitHub(H), description length is 1.001, slightly positive.
- The chart is GitHub(H) newcomers, Table VIII: 0.01, 0.22, 0.03, 0.02 for the four title and description metrics.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4CA94-B313-1B12-60E7-A97E717F1A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9BB9-99E5-F133-DCD8-B9B72BA49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51E5DA-169D-D6BD-B95C-8921D33E130D}"/>
              </a:ext>
            </a:extLst>
          </p:cNvPr>
          <p:cNvSpPr>
            <a:spLocks noGrp="1"/>
          </p:cNvSpPr>
          <p:nvPr>
            <p:ph type="body" idx="1"/>
          </p:nvPr>
        </p:nvSpPr>
        <p:spPr/>
        <p:txBody>
          <a:bodyPr/>
          <a:lstStyle/>
          <a:p>
            <a:r>
              <a:rPr lang="en-US" dirty="0"/>
              <a:t>SCRIPT
My third point is about a different headline result.
[click] The abstract says four recommendations have significant negative associations.
[click] They are title length, description length, title readability, and description readability. Every significant estimate for them is an odds ratio of 0.999 or 1.001. An odds ratio of 1 means no effect at all.
[click] Now look at how much of the outcome they explain: the grey bars. Each explains at most about a fifth of a percent. For comparison, documentation and lines added explain about two and three percent.
IF ASKED
- Which datasets? The 0.999 values on the chips are newcomers in GitHub(H), except description length, which is GitHub(M); all from Table VIII. In GitHub(H), description length is 1.001, slightly positive.
- The chart is GitHub(H) newcomers, Table VIII: 0.01, 0.22, 0.03, 0.02 for the four title and description metrics.</a:t>
            </a:r>
          </a:p>
        </p:txBody>
      </p:sp>
      <p:sp>
        <p:nvSpPr>
          <p:cNvPr id="4" name="Slide Number Placeholder 3">
            <a:extLst>
              <a:ext uri="{FF2B5EF4-FFF2-40B4-BE49-F238E27FC236}">
                <a16:creationId xmlns:a16="http://schemas.microsoft.com/office/drawing/2014/main" id="{9BF91BD4-54CF-DEE3-DF5D-BC16FE5D389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25095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93725-0913-75BA-3ACD-3129BE654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4FEA9-412B-26DA-AB8B-751E07F41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F82AE-67FA-62B1-E69D-157B08948F02}"/>
              </a:ext>
            </a:extLst>
          </p:cNvPr>
          <p:cNvSpPr>
            <a:spLocks noGrp="1"/>
          </p:cNvSpPr>
          <p:nvPr>
            <p:ph type="body" idx="1"/>
          </p:nvPr>
        </p:nvSpPr>
        <p:spPr/>
        <p:txBody>
          <a:bodyPr/>
          <a:lstStyle/>
          <a:p>
            <a:r>
              <a:rPr lang="en-US" dirty="0"/>
              <a:t>SCRIPT
My third point is about a different headline result.
[click] The abstract says four recommendations have significant negative associations.
[click] They are title length, description length, title readability, and description readability. Every significant estimate for them is an odds ratio of 0.999 or 1.001. An odds ratio of 1 means no effect at all.
[click] Now look at how much of the outcome they explain: the grey bars. Each explains at most about a fifth of a percent. For comparison, documentation and lines added explain about two and three percent.
IF ASKED
- Which datasets? The 0.999 values on the chips are newcomers in GitHub(H), except description length, which is GitHub(M); all from Table VIII. In GitHub(H), description length is 1.001, slightly positive.
- The chart is GitHub(H) newcomers, Table VIII: 0.01, 0.22, 0.03, 0.02 for the four title and description metrics.</a:t>
            </a:r>
          </a:p>
        </p:txBody>
      </p:sp>
      <p:sp>
        <p:nvSpPr>
          <p:cNvPr id="4" name="Slide Number Placeholder 3">
            <a:extLst>
              <a:ext uri="{FF2B5EF4-FFF2-40B4-BE49-F238E27FC236}">
                <a16:creationId xmlns:a16="http://schemas.microsoft.com/office/drawing/2014/main" id="{C37A2E60-BF7C-027D-965A-0DF42CDA616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79222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What does 0.999 mean in practice? The odds ratio for title length is per word.
[click] Take a five-word title, [click] and a fifteen-word title for the same patch.
[click] Suppose the short one had a 50% chance of being accepted.
[click] Then the long one has 49.75%.
[click] That is just 0.999 multiplied by itself ten times. Ten extra words cost a quarter of a percentage point. Nobody should rewrite their titles over that.
IF ASKED
- Why start from 50%? It is only for illustration; the shift is similarly tiny from any starting point.
- What about rounding? Any odds ratio that rounds to 0.999 gives between 49.6% and 49.9%.
- Is title length log-transformed? No. Table V defines it as a word count, and only churn, insertions, deletions, and delay were log-transformed.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why is it significant at all?
[click] Picture a coin that lands heads 50.4% of the time. That is useless for cheating.
[click] But flip it 262,013 times, and a standard test calls it significantly unfair, with a p-value around 0.00004.
[click] 262,013 is exactly the number of newcomers in the busiest GitHub group in this paper.
[click] With samples this big, almost any difference comes out significant. Significant is not the same as important. These four results should be reported as no practical effect, not as negative associations.
IF ASKED
- The coin arithmetic: the standard error is 0.5 divided by the square root of 262,013, about 0.001. A 0.4-point bias is about 4.1 standard errors, two-sided p about 0.00004.
- Source for 262,013: Table VI, number of newcomers in GitHub(H).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sum up.
[click] No evidence for the long-term claim. A conclusion that experience can explain. And four significant results that are too small to matter.
[click] The first claim should be rewritten to what the data show: among contributors with an accepted patch, simple, documentation, and low-deletion changes go with lower acceptance. That is a statement about patches, not about who stays.
[click] The second should become: title and description length and readability show no practical effect.
[click] And some of the paper clearly holds. Good First Issues raise newcomers' acceptance odds 5.57 times in busy GitHub projects, and bug fixes help newcomers in seven of eight datasets.
Reframed as a study of which patches get accepted, this is a useful paper. As written, its title claim is untested. Thank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371600"/>
            <a:ext cx="5486400" cy="2194560"/>
          </a:xfrm>
          <a:prstGeom prst="rect">
            <a:avLst/>
          </a:prstGeom>
          <a:noFill/>
          <a:ln/>
        </p:spPr>
        <p:txBody>
          <a:bodyPr wrap="square" rtlCol="0"/>
          <a:lstStyle>
            <a:lvl1pPr marL="0" indent="0" algn="l">
              <a:buNone/>
              <a:defRPr lang="en-US" sz="3600" b="1" dirty="0">
                <a:solidFill>
                  <a:srgbClr val="2E3A46"/>
                </a:solidFill>
              </a:defRPr>
            </a:lvl1pPr>
          </a:lstStyle>
          <a:p>
            <a:pPr marL="0" indent="0" algn="l">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NTENC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0058400" cy="1463040"/>
          </a:xfrm>
          <a:prstGeom prst="rect">
            <a:avLst/>
          </a:prstGeom>
          <a:noFill/>
          <a:ln/>
        </p:spPr>
        <p:txBody>
          <a:bodyPr wrap="square" rtlCol="0"/>
          <a:lstStyle>
            <a:lvl1pPr marL="0" indent="0" algn="l">
              <a:buNone/>
              <a:defRPr lang="en-US" sz="2800" b="1" dirty="0">
                <a:solidFill>
                  <a:srgbClr val="2E3A46"/>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280160"/>
            <a:ext cx="5669280" cy="2194560"/>
          </a:xfrm>
          <a:prstGeom prst="rect">
            <a:avLst/>
          </a:prstGeom>
          <a:noFill/>
          <a:ln/>
        </p:spPr>
        <p:txBody>
          <a:bodyPr wrap="square" rtlCol="0"/>
          <a:lstStyle>
            <a:lvl1pPr marL="0" indent="0" algn="l">
              <a:buNone/>
              <a:defRPr lang="en-US" sz="3200" b="1" dirty="0">
                <a:solidFill>
                  <a:srgbClr val="2E3A46"/>
                </a:solidFill>
              </a:defRPr>
            </a:lvl1pPr>
          </a:lstStyle>
          <a:p>
            <a:pPr marL="0" indent="0" algn="l">
              <a:buNone/>
            </a:pPr>
            <a:endParaRPr lang="en-US" sz="3200" dirty="0"/>
          </a:p>
        </p:txBody>
      </p:sp>
    </p:spTree>
    <p:extLst>
      <p:ext uri="{BB962C8B-B14F-4D97-AF65-F5344CB8AC3E}">
        <p14:creationId xmlns:p14="http://schemas.microsoft.com/office/powerpoint/2010/main" val="10593164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1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465580"/>
            <a:ext cx="7620000" cy="2194560"/>
          </a:xfrm>
          <a:prstGeom prst="rect">
            <a:avLst/>
          </a:prstGeom>
          <a:noFill/>
          <a:ln/>
        </p:spPr>
        <p:txBody>
          <a:bodyPr wrap="square" lIns="0" tIns="0" rIns="0" bIns="0" rtlCol="0" anchor="t"/>
          <a:lstStyle/>
          <a:p>
            <a:r>
              <a:rPr lang="en-CA" i="1" dirty="0"/>
              <a:t>From First Patch to Long-Term Contributor:</a:t>
            </a:r>
            <a:br>
              <a:rPr lang="en-CA" i="1" dirty="0"/>
            </a:br>
            <a:r>
              <a:rPr lang="en-CA" i="1" dirty="0"/>
              <a:t>Evaluating Onboarding Recommendations</a:t>
            </a:r>
            <a:br>
              <a:rPr lang="en-CA" i="1" dirty="0"/>
            </a:br>
            <a:r>
              <a:rPr lang="en-CA" i="1" dirty="0"/>
              <a:t>for OSS Newcomers</a:t>
            </a:r>
          </a:p>
        </p:txBody>
      </p:sp>
      <p:pic>
        <p:nvPicPr>
          <p:cNvPr id="3" name="hero-door" descr="/private/tmp/claude-501/-Users-amberwang-Desktop-paper-review/4adec69b-c776-4638-9e73-445c6258dc5b/scratchpad/deck/assets/hero-door.png"/>
          <p:cNvPicPr>
            <a:picLocks noChangeAspect="1"/>
          </p:cNvPicPr>
          <p:nvPr/>
        </p:nvPicPr>
        <p:blipFill>
          <a:blip r:embed="rId3"/>
          <a:stretch>
            <a:fillRect/>
          </a:stretch>
        </p:blipFill>
        <p:spPr>
          <a:xfrm>
            <a:off x="7315200" y="2387034"/>
            <a:ext cx="4389119" cy="2822107"/>
          </a:xfrm>
          <a:prstGeom prst="rect">
            <a:avLst/>
          </a:prstGeom>
        </p:spPr>
      </p:pic>
      <p:sp>
        <p:nvSpPr>
          <p:cNvPr id="4" name="Turzo, Sultana, Bosu · IEEE Tr"/>
          <p:cNvSpPr txBox="1"/>
          <p:nvPr/>
        </p:nvSpPr>
        <p:spPr>
          <a:xfrm>
            <a:off x="426720" y="3063240"/>
            <a:ext cx="5669280" cy="365760"/>
          </a:xfrm>
          <a:prstGeom prst="rect">
            <a:avLst/>
          </a:prstGeom>
          <a:noFill/>
          <a:ln/>
        </p:spPr>
        <p:txBody>
          <a:bodyPr wrap="square" lIns="0" tIns="0" rIns="0" bIns="0" rtlCol="0" anchor="t"/>
          <a:lstStyle/>
          <a:p>
            <a:pPr marL="0" indent="0" algn="l">
              <a:buNone/>
            </a:pPr>
            <a:r>
              <a:rPr lang="en-US" sz="1400" dirty="0">
                <a:solidFill>
                  <a:srgbClr val="9AA5B1"/>
                </a:solidFill>
              </a:rPr>
              <a:t>Turzo, Sultana, Bosu · IEEE Transactions on Software Engineering 51(4), 2025</a:t>
            </a:r>
            <a:endParaRPr lang="en-US" sz="1400" dirty="0"/>
          </a:p>
        </p:txBody>
      </p:sp>
      <p:sp>
        <p:nvSpPr>
          <p:cNvPr id="5" name="Adversary presentation · after"/>
          <p:cNvSpPr txBox="1"/>
          <p:nvPr/>
        </p:nvSpPr>
        <p:spPr>
          <a:xfrm>
            <a:off x="457200" y="4160519"/>
            <a:ext cx="5669280" cy="1048621"/>
          </a:xfrm>
          <a:prstGeom prst="rect">
            <a:avLst/>
          </a:prstGeom>
          <a:noFill/>
          <a:ln/>
        </p:spPr>
        <p:txBody>
          <a:bodyPr wrap="square" lIns="0" tIns="0" rIns="0" bIns="0" rtlCol="0" anchor="t"/>
          <a:lstStyle/>
          <a:p>
            <a:pPr marL="0" indent="0" algn="l">
              <a:buNone/>
            </a:pPr>
            <a:r>
              <a:rPr lang="en-US" sz="1400" i="1" dirty="0">
                <a:solidFill>
                  <a:srgbClr val="9AA5B1"/>
                </a:solidFill>
              </a:rPr>
              <a:t>Adversary presentation </a:t>
            </a:r>
          </a:p>
          <a:p>
            <a:pPr marL="0" indent="0" algn="l">
              <a:buNone/>
            </a:pPr>
            <a:r>
              <a:rPr lang="en-US" sz="1400" i="1" dirty="0">
                <a:solidFill>
                  <a:srgbClr val="9AA5B1"/>
                </a:solidFill>
              </a:rPr>
              <a:t>Amber</a:t>
            </a:r>
            <a:r>
              <a:rPr lang="zh-CN" altLang="en-US" sz="1400" i="1" dirty="0">
                <a:solidFill>
                  <a:srgbClr val="9AA5B1"/>
                </a:solidFill>
              </a:rPr>
              <a:t> </a:t>
            </a:r>
            <a:r>
              <a:rPr lang="en-US" altLang="zh-CN" sz="1400" i="1" dirty="0">
                <a:solidFill>
                  <a:srgbClr val="9AA5B1"/>
                </a:solidFill>
              </a:rPr>
              <a:t>Wang</a:t>
            </a:r>
            <a:r>
              <a:rPr lang="zh-CN" altLang="en-US" sz="1400" i="1" dirty="0">
                <a:solidFill>
                  <a:srgbClr val="9AA5B1"/>
                </a:solidFill>
              </a:rPr>
              <a:t> </a:t>
            </a:r>
            <a:br>
              <a:rPr lang="en-CA" altLang="zh-CN" sz="1400" i="1" dirty="0">
                <a:solidFill>
                  <a:srgbClr val="9AA5B1"/>
                </a:solidFill>
              </a:rPr>
            </a:br>
            <a:r>
              <a:rPr lang="en-CA" altLang="zh-CN" sz="1400" i="1" dirty="0">
                <a:solidFill>
                  <a:srgbClr val="9AA5B1"/>
                </a:solidFill>
              </a:rPr>
              <a:t>CS</a:t>
            </a:r>
            <a:r>
              <a:rPr lang="en-US" altLang="zh-CN" sz="1400" i="1" dirty="0">
                <a:solidFill>
                  <a:srgbClr val="9AA5B1"/>
                </a:solidFill>
              </a:rPr>
              <a:t>846</a:t>
            </a:r>
            <a:r>
              <a:rPr lang="zh-CN" altLang="en-US" sz="1400" i="1" dirty="0">
                <a:solidFill>
                  <a:srgbClr val="9AA5B1"/>
                </a:solidFill>
              </a:rPr>
              <a:t> </a:t>
            </a:r>
            <a:r>
              <a:rPr lang="en-US" altLang="zh-CN" sz="1400" i="1" dirty="0">
                <a:solidFill>
                  <a:srgbClr val="9AA5B1"/>
                </a:solidFill>
              </a:rPr>
              <a:t>2026</a:t>
            </a:r>
            <a:r>
              <a:rPr lang="zh-CN" altLang="en-US" sz="1400" i="1" dirty="0">
                <a:solidFill>
                  <a:srgbClr val="9AA5B1"/>
                </a:solidFill>
              </a:rPr>
              <a:t> </a:t>
            </a:r>
            <a:r>
              <a:rPr lang="en-US" altLang="zh-CN" sz="1400" i="1" dirty="0">
                <a:solidFill>
                  <a:srgbClr val="9AA5B1"/>
                </a:solidFill>
              </a:rPr>
              <a:t>Winter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0058400" cy="1463040"/>
          </a:xfrm>
          <a:prstGeom prst="rect">
            <a:avLst/>
          </a:prstGeom>
          <a:noFill/>
          <a:ln/>
        </p:spPr>
        <p:txBody>
          <a:bodyPr wrap="square" lIns="0" tIns="0" rIns="0" bIns="0" rtlCol="0" anchor="t"/>
          <a:lstStyle/>
          <a:p>
            <a:pPr marL="0" indent="0" algn="l">
              <a:buNone/>
            </a:pPr>
            <a:r>
              <a:rPr lang="en-US" dirty="0"/>
              <a:t>P</a:t>
            </a:r>
            <a:r>
              <a:rPr lang="en-US" sz="2800" b="1" dirty="0">
                <a:solidFill>
                  <a:srgbClr val="2E3A46"/>
                </a:solidFill>
              </a:rPr>
              <a:t>roblems with the paper's claims</a:t>
            </a:r>
            <a:endParaRPr lang="en-US" sz="2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7586C-A740-D0D2-3D0E-98B361E5F23C}"/>
            </a:ext>
          </a:extLst>
        </p:cNvPr>
        <p:cNvGrpSpPr/>
        <p:nvPr/>
      </p:nvGrpSpPr>
      <p:grpSpPr>
        <a:xfrm>
          <a:off x="0" y="0"/>
          <a:ext cx="0" cy="0"/>
          <a:chOff x="0" y="0"/>
          <a:chExt cx="0" cy="0"/>
        </a:xfrm>
      </p:grpSpPr>
      <p:pic>
        <p:nvPicPr>
          <p:cNvPr id="3" name="thr-construct" descr="/Users/amberwang/Desktop/paper-review/assets/thr-construct.png">
            <a:extLst>
              <a:ext uri="{FF2B5EF4-FFF2-40B4-BE49-F238E27FC236}">
                <a16:creationId xmlns:a16="http://schemas.microsoft.com/office/drawing/2014/main" id="{4CFC4617-C7A5-D413-4734-CBE4042485A7}"/>
              </a:ext>
            </a:extLst>
          </p:cNvPr>
          <p:cNvPicPr>
            <a:picLocks noChangeAspect="1"/>
          </p:cNvPicPr>
          <p:nvPr/>
        </p:nvPicPr>
        <p:blipFill>
          <a:blip r:embed="rId3"/>
          <a:stretch>
            <a:fillRect/>
          </a:stretch>
        </p:blipFill>
        <p:spPr>
          <a:xfrm>
            <a:off x="10789920" y="323262"/>
            <a:ext cx="1005840" cy="907956"/>
          </a:xfrm>
          <a:prstGeom prst="rect">
            <a:avLst/>
          </a:prstGeom>
        </p:spPr>
      </p:pic>
      <p:sp>
        <p:nvSpPr>
          <p:cNvPr id="29" name="Slide Number Placeholder 0">
            <a:extLst>
              <a:ext uri="{FF2B5EF4-FFF2-40B4-BE49-F238E27FC236}">
                <a16:creationId xmlns:a16="http://schemas.microsoft.com/office/drawing/2014/main" id="{52889580-1522-C8FE-17F7-10EFEF1A4C12}"/>
              </a:ext>
            </a:extLst>
          </p:cNvPr>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3</a:t>
            </a:fld>
            <a:endParaRPr lang="en-US"/>
          </a:p>
        </p:txBody>
      </p:sp>
      <p:pic>
        <p:nvPicPr>
          <p:cNvPr id="20" name="Picture 19">
            <a:extLst>
              <a:ext uri="{FF2B5EF4-FFF2-40B4-BE49-F238E27FC236}">
                <a16:creationId xmlns:a16="http://schemas.microsoft.com/office/drawing/2014/main" id="{DE745C15-9F10-0DAC-3AEB-83EE64B257BC}"/>
              </a:ext>
            </a:extLst>
          </p:cNvPr>
          <p:cNvPicPr>
            <a:picLocks noChangeAspect="1"/>
          </p:cNvPicPr>
          <p:nvPr/>
        </p:nvPicPr>
        <p:blipFill>
          <a:blip r:embed="rId4"/>
          <a:stretch>
            <a:fillRect/>
          </a:stretch>
        </p:blipFill>
        <p:spPr>
          <a:xfrm>
            <a:off x="2826328" y="1701564"/>
            <a:ext cx="1284581" cy="1284581"/>
          </a:xfrm>
          <a:prstGeom prst="rect">
            <a:avLst/>
          </a:prstGeom>
        </p:spPr>
      </p:pic>
      <p:sp>
        <p:nvSpPr>
          <p:cNvPr id="23" name="TextBox 22">
            <a:extLst>
              <a:ext uri="{FF2B5EF4-FFF2-40B4-BE49-F238E27FC236}">
                <a16:creationId xmlns:a16="http://schemas.microsoft.com/office/drawing/2014/main" id="{D06EF97D-B4FE-C7AF-EE69-4874FCAE39BB}"/>
              </a:ext>
            </a:extLst>
          </p:cNvPr>
          <p:cNvSpPr txBox="1"/>
          <p:nvPr/>
        </p:nvSpPr>
        <p:spPr>
          <a:xfrm>
            <a:off x="2112665" y="3036993"/>
            <a:ext cx="2573653" cy="400110"/>
          </a:xfrm>
          <a:prstGeom prst="rect">
            <a:avLst/>
          </a:prstGeom>
          <a:noFill/>
        </p:spPr>
        <p:txBody>
          <a:bodyPr wrap="none" rtlCol="0">
            <a:spAutoFit/>
          </a:bodyPr>
          <a:lstStyle/>
          <a:p>
            <a:r>
              <a:rPr lang="en-US" sz="2000" dirty="0"/>
              <a:t>No accepted patch yet </a:t>
            </a:r>
          </a:p>
        </p:txBody>
      </p:sp>
      <p:pic>
        <p:nvPicPr>
          <p:cNvPr id="24" name="Picture 23">
            <a:extLst>
              <a:ext uri="{FF2B5EF4-FFF2-40B4-BE49-F238E27FC236}">
                <a16:creationId xmlns:a16="http://schemas.microsoft.com/office/drawing/2014/main" id="{CD42AA69-CEB7-E6E9-DE73-99F2B70162A2}"/>
              </a:ext>
            </a:extLst>
          </p:cNvPr>
          <p:cNvPicPr>
            <a:picLocks noChangeAspect="1"/>
          </p:cNvPicPr>
          <p:nvPr/>
        </p:nvPicPr>
        <p:blipFill>
          <a:blip r:embed="rId5"/>
          <a:stretch>
            <a:fillRect/>
          </a:stretch>
        </p:blipFill>
        <p:spPr>
          <a:xfrm>
            <a:off x="7787843" y="1780424"/>
            <a:ext cx="1205721" cy="1205721"/>
          </a:xfrm>
          <a:prstGeom prst="rect">
            <a:avLst/>
          </a:prstGeom>
        </p:spPr>
      </p:pic>
      <p:sp>
        <p:nvSpPr>
          <p:cNvPr id="25" name="TextBox 24">
            <a:extLst>
              <a:ext uri="{FF2B5EF4-FFF2-40B4-BE49-F238E27FC236}">
                <a16:creationId xmlns:a16="http://schemas.microsoft.com/office/drawing/2014/main" id="{A1E468F5-588F-C74B-4F68-3509D115CE3D}"/>
              </a:ext>
            </a:extLst>
          </p:cNvPr>
          <p:cNvSpPr txBox="1"/>
          <p:nvPr/>
        </p:nvSpPr>
        <p:spPr>
          <a:xfrm>
            <a:off x="7192580" y="3040101"/>
            <a:ext cx="2396248" cy="400110"/>
          </a:xfrm>
          <a:prstGeom prst="rect">
            <a:avLst/>
          </a:prstGeom>
          <a:noFill/>
        </p:spPr>
        <p:txBody>
          <a:bodyPr wrap="square" rtlCol="0">
            <a:spAutoFit/>
          </a:bodyPr>
          <a:lstStyle/>
          <a:p>
            <a:r>
              <a:rPr lang="en-US" sz="2000" dirty="0"/>
              <a:t>Have accepted patch </a:t>
            </a:r>
          </a:p>
        </p:txBody>
      </p:sp>
      <p:sp>
        <p:nvSpPr>
          <p:cNvPr id="2" name="Text 0">
            <a:extLst>
              <a:ext uri="{FF2B5EF4-FFF2-40B4-BE49-F238E27FC236}">
                <a16:creationId xmlns:a16="http://schemas.microsoft.com/office/drawing/2014/main" id="{89D00B58-E486-1120-4EDB-850BE3598BF2}"/>
              </a:ext>
            </a:extLst>
          </p:cNvPr>
          <p:cNvSpPr txBox="1">
            <a:spLocks/>
          </p:cNvSpPr>
          <p:nvPr/>
        </p:nvSpPr>
        <p:spPr>
          <a:xfrm>
            <a:off x="396240" y="218959"/>
            <a:ext cx="10058400" cy="535545"/>
          </a:xfrm>
          <a:prstGeom prst="rect">
            <a:avLst/>
          </a:prstGeom>
          <a:noFill/>
          <a:ln/>
        </p:spPr>
        <p:txBody>
          <a:bodyPr wrap="square" lIns="0" tIns="0" rIns="0" bIns="0" rtlCol="0" anchor="t"/>
          <a:lstStyle>
            <a:lvl1pPr marL="0" indent="0" algn="l" defTabSz="914400" rtl="0" eaLnBrk="1" latinLnBrk="0" hangingPunct="1">
              <a:spcBef>
                <a:spcPct val="0"/>
              </a:spcBef>
              <a:buNone/>
              <a:defRPr lang="en-US" sz="2800" b="1" kern="1200" dirty="0">
                <a:solidFill>
                  <a:srgbClr val="2E3A46"/>
                </a:solidFill>
                <a:latin typeface="+mj-lt"/>
                <a:ea typeface="+mj-ea"/>
                <a:cs typeface="+mj-cs"/>
              </a:defRPr>
            </a:lvl1pPr>
          </a:lstStyle>
          <a:p>
            <a:r>
              <a:rPr lang="en-CA" dirty="0"/>
              <a:t>Mixed Experience Group in non-newcomers </a:t>
            </a:r>
          </a:p>
        </p:txBody>
      </p:sp>
      <p:sp>
        <p:nvSpPr>
          <p:cNvPr id="10" name="Down Arrow 9">
            <a:extLst>
              <a:ext uri="{FF2B5EF4-FFF2-40B4-BE49-F238E27FC236}">
                <a16:creationId xmlns:a16="http://schemas.microsoft.com/office/drawing/2014/main" id="{E5A68528-A867-FCCA-6C7C-971A7FA9FFC2}"/>
              </a:ext>
            </a:extLst>
          </p:cNvPr>
          <p:cNvSpPr/>
          <p:nvPr/>
        </p:nvSpPr>
        <p:spPr>
          <a:xfrm>
            <a:off x="3143585" y="3489174"/>
            <a:ext cx="401782" cy="29094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Down Arrow 16">
            <a:extLst>
              <a:ext uri="{FF2B5EF4-FFF2-40B4-BE49-F238E27FC236}">
                <a16:creationId xmlns:a16="http://schemas.microsoft.com/office/drawing/2014/main" id="{B80DDA23-884F-6522-7FD5-B21904AD8A07}"/>
              </a:ext>
            </a:extLst>
          </p:cNvPr>
          <p:cNvSpPr/>
          <p:nvPr/>
        </p:nvSpPr>
        <p:spPr>
          <a:xfrm>
            <a:off x="8189813" y="3548123"/>
            <a:ext cx="401782" cy="290946"/>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3E01BA7-40A5-D4BE-B362-B0B9A94E685C}"/>
              </a:ext>
            </a:extLst>
          </p:cNvPr>
          <p:cNvSpPr txBox="1"/>
          <p:nvPr/>
        </p:nvSpPr>
        <p:spPr>
          <a:xfrm>
            <a:off x="2753865" y="3892467"/>
            <a:ext cx="1291251" cy="400110"/>
          </a:xfrm>
          <a:prstGeom prst="rect">
            <a:avLst/>
          </a:prstGeom>
          <a:noFill/>
        </p:spPr>
        <p:txBody>
          <a:bodyPr wrap="none" rtlCol="0">
            <a:spAutoFit/>
          </a:bodyPr>
          <a:lstStyle/>
          <a:p>
            <a:r>
              <a:rPr lang="en-US" sz="2000" dirty="0"/>
              <a:t>newcomer</a:t>
            </a:r>
          </a:p>
        </p:txBody>
      </p:sp>
      <p:sp>
        <p:nvSpPr>
          <p:cNvPr id="19" name="TextBox 18">
            <a:extLst>
              <a:ext uri="{FF2B5EF4-FFF2-40B4-BE49-F238E27FC236}">
                <a16:creationId xmlns:a16="http://schemas.microsoft.com/office/drawing/2014/main" id="{C63A9807-D745-E5B8-1CA5-6FC846B7C377}"/>
              </a:ext>
            </a:extLst>
          </p:cNvPr>
          <p:cNvSpPr txBox="1"/>
          <p:nvPr/>
        </p:nvSpPr>
        <p:spPr>
          <a:xfrm>
            <a:off x="6522020" y="3946981"/>
            <a:ext cx="4267900" cy="400110"/>
          </a:xfrm>
          <a:prstGeom prst="rect">
            <a:avLst/>
          </a:prstGeom>
          <a:noFill/>
        </p:spPr>
        <p:txBody>
          <a:bodyPr wrap="none" rtlCol="0">
            <a:spAutoFit/>
          </a:bodyPr>
          <a:lstStyle/>
          <a:p>
            <a:r>
              <a:rPr lang="en-US" sz="2000" dirty="0"/>
              <a:t>non-newcomer / long-term contributor</a:t>
            </a:r>
          </a:p>
        </p:txBody>
      </p:sp>
      <p:sp>
        <p:nvSpPr>
          <p:cNvPr id="37" name="Rounded Rectangle 36">
            <a:extLst>
              <a:ext uri="{FF2B5EF4-FFF2-40B4-BE49-F238E27FC236}">
                <a16:creationId xmlns:a16="http://schemas.microsoft.com/office/drawing/2014/main" id="{BBA012C4-3863-D643-413F-C82B4BCE81B3}"/>
              </a:ext>
            </a:extLst>
          </p:cNvPr>
          <p:cNvSpPr/>
          <p:nvPr/>
        </p:nvSpPr>
        <p:spPr>
          <a:xfrm>
            <a:off x="3143584" y="4738255"/>
            <a:ext cx="7429375" cy="1662545"/>
          </a:xfrm>
          <a:prstGeom prst="roundRect">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E05E2436-46A2-6D63-D016-69DB8C2E886B}"/>
              </a:ext>
            </a:extLst>
          </p:cNvPr>
          <p:cNvPicPr>
            <a:picLocks noChangeAspect="1"/>
          </p:cNvPicPr>
          <p:nvPr/>
        </p:nvPicPr>
        <p:blipFill>
          <a:blip r:embed="rId6"/>
          <a:stretch>
            <a:fillRect/>
          </a:stretch>
        </p:blipFill>
        <p:spPr>
          <a:xfrm>
            <a:off x="8265318" y="4788809"/>
            <a:ext cx="1898818" cy="1580967"/>
          </a:xfrm>
          <a:prstGeom prst="rect">
            <a:avLst/>
          </a:prstGeom>
        </p:spPr>
      </p:pic>
      <p:pic>
        <p:nvPicPr>
          <p:cNvPr id="44" name="Picture 43">
            <a:extLst>
              <a:ext uri="{FF2B5EF4-FFF2-40B4-BE49-F238E27FC236}">
                <a16:creationId xmlns:a16="http://schemas.microsoft.com/office/drawing/2014/main" id="{60015EE7-7ADC-3632-02E2-429313638BE7}"/>
              </a:ext>
            </a:extLst>
          </p:cNvPr>
          <p:cNvPicPr>
            <a:picLocks noChangeAspect="1"/>
          </p:cNvPicPr>
          <p:nvPr/>
        </p:nvPicPr>
        <p:blipFill>
          <a:blip r:embed="rId7"/>
          <a:stretch>
            <a:fillRect/>
          </a:stretch>
        </p:blipFill>
        <p:spPr>
          <a:xfrm>
            <a:off x="3500665" y="4788809"/>
            <a:ext cx="1781137" cy="1482984"/>
          </a:xfrm>
          <a:prstGeom prst="rect">
            <a:avLst/>
          </a:prstGeom>
        </p:spPr>
      </p:pic>
      <p:sp>
        <p:nvSpPr>
          <p:cNvPr id="45" name="Triangle 44">
            <a:extLst>
              <a:ext uri="{FF2B5EF4-FFF2-40B4-BE49-F238E27FC236}">
                <a16:creationId xmlns:a16="http://schemas.microsoft.com/office/drawing/2014/main" id="{843EB61A-AA44-404B-02C5-16BA92CBA4A5}"/>
              </a:ext>
            </a:extLst>
          </p:cNvPr>
          <p:cNvSpPr/>
          <p:nvPr/>
        </p:nvSpPr>
        <p:spPr>
          <a:xfrm>
            <a:off x="8390703" y="4452730"/>
            <a:ext cx="435245" cy="285525"/>
          </a:xfrm>
          <a:prstGeom prst="triangl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riangle 46">
            <a:extLst>
              <a:ext uri="{FF2B5EF4-FFF2-40B4-BE49-F238E27FC236}">
                <a16:creationId xmlns:a16="http://schemas.microsoft.com/office/drawing/2014/main" id="{1C9D0908-C511-F67E-2C99-9A91999EA46C}"/>
              </a:ext>
            </a:extLst>
          </p:cNvPr>
          <p:cNvSpPr/>
          <p:nvPr/>
        </p:nvSpPr>
        <p:spPr>
          <a:xfrm rot="10800000">
            <a:off x="8390703" y="4719807"/>
            <a:ext cx="435245" cy="285525"/>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49">
            <a:extLst>
              <a:ext uri="{FF2B5EF4-FFF2-40B4-BE49-F238E27FC236}">
                <a16:creationId xmlns:a16="http://schemas.microsoft.com/office/drawing/2014/main" id="{89846DC5-4A73-9617-32AF-3825092B78A5}"/>
              </a:ext>
            </a:extLst>
          </p:cNvPr>
          <p:cNvPicPr>
            <a:picLocks noChangeAspect="1"/>
          </p:cNvPicPr>
          <p:nvPr/>
        </p:nvPicPr>
        <p:blipFill>
          <a:blip r:embed="rId8"/>
          <a:stretch>
            <a:fillRect/>
          </a:stretch>
        </p:blipFill>
        <p:spPr>
          <a:xfrm>
            <a:off x="5798074" y="4686947"/>
            <a:ext cx="2058421" cy="1713853"/>
          </a:xfrm>
          <a:prstGeom prst="rect">
            <a:avLst/>
          </a:prstGeom>
        </p:spPr>
      </p:pic>
    </p:spTree>
    <p:extLst>
      <p:ext uri="{BB962C8B-B14F-4D97-AF65-F5344CB8AC3E}">
        <p14:creationId xmlns:p14="http://schemas.microsoft.com/office/powerpoint/2010/main" val="14080410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F652-9FD7-46B5-EDFA-AF72B05E1022}"/>
              </a:ext>
            </a:extLst>
          </p:cNvPr>
          <p:cNvSpPr>
            <a:spLocks noGrp="1"/>
          </p:cNvSpPr>
          <p:nvPr>
            <p:ph type="title" idx="100"/>
          </p:nvPr>
        </p:nvSpPr>
        <p:spPr/>
        <p:txBody>
          <a:bodyPr/>
          <a:lstStyle/>
          <a:p>
            <a:r>
              <a:rPr lang="en-US"/>
              <a:t>Evidence ( </a:t>
            </a:r>
            <a:endParaRPr lang="en-US" dirty="0"/>
          </a:p>
        </p:txBody>
      </p:sp>
    </p:spTree>
    <p:extLst>
      <p:ext uri="{BB962C8B-B14F-4D97-AF65-F5344CB8AC3E}">
        <p14:creationId xmlns:p14="http://schemas.microsoft.com/office/powerpoint/2010/main" val="3715354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0058400" cy="1463040"/>
          </a:xfrm>
          <a:prstGeom prst="rect">
            <a:avLst/>
          </a:prstGeom>
          <a:noFill/>
          <a:ln/>
        </p:spPr>
        <p:txBody>
          <a:bodyPr wrap="square" lIns="0" tIns="0" rIns="0" bIns="0" rtlCol="0" anchor="t"/>
          <a:lstStyle/>
          <a:p>
            <a:pPr marL="0" indent="0" algn="l">
              <a:buNone/>
            </a:pPr>
            <a:r>
              <a:rPr lang="en-US" sz="2800" b="1" dirty="0">
                <a:solidFill>
                  <a:srgbClr val="2E3A46"/>
                </a:solidFill>
              </a:rPr>
              <a:t>How the authors could do it differently? </a:t>
            </a:r>
            <a:endParaRPr lang="en-US" sz="2800" dirty="0"/>
          </a:p>
        </p:txBody>
      </p:sp>
      <p:pic>
        <p:nvPicPr>
          <p:cNvPr id="5" name="thr-internal" descr="/Users/amberwang/Desktop/paper-review/assets/thr-internal.png"/>
          <p:cNvPicPr>
            <a:picLocks noChangeAspect="1"/>
          </p:cNvPicPr>
          <p:nvPr/>
        </p:nvPicPr>
        <p:blipFill>
          <a:blip r:embed="rId3"/>
          <a:stretch>
            <a:fillRect/>
          </a:stretch>
        </p:blipFill>
        <p:spPr>
          <a:xfrm>
            <a:off x="10789920" y="423071"/>
            <a:ext cx="1005840" cy="708338"/>
          </a:xfrm>
          <a:prstGeom prst="rect">
            <a:avLst/>
          </a:prstGeom>
        </p:spPr>
      </p:pic>
      <p:sp>
        <p:nvSpPr>
          <p:cNvPr id="6" name="mark-thr-internal"/>
          <p:cNvSpPr txBox="1"/>
          <p:nvPr/>
        </p:nvSpPr>
        <p:spPr>
          <a:xfrm>
            <a:off x="11494008" y="153619"/>
            <a:ext cx="452628" cy="452628"/>
          </a:xfrm>
          <a:prstGeom prst="rect">
            <a:avLst/>
          </a:prstGeom>
          <a:noFill/>
          <a:ln/>
        </p:spPr>
        <p:txBody>
          <a:bodyPr wrap="square" lIns="0" tIns="0" rIns="0" bIns="0" rtlCol="0" anchor="ctr"/>
          <a:lstStyle/>
          <a:p>
            <a:pPr marL="0" indent="0" algn="ctr">
              <a:buNone/>
            </a:pPr>
            <a:r>
              <a:rPr lang="en-US" sz="2200" b="1" dirty="0">
                <a:solidFill>
                  <a:srgbClr val="E63946"/>
                </a:solidFill>
              </a:rPr>
              <a:t>✗</a:t>
            </a:r>
            <a:endParaRPr lang="en-US" sz="2200" dirty="0"/>
          </a:p>
        </p:txBody>
      </p:sp>
      <p:sp>
        <p:nvSpPr>
          <p:cNvPr id="8" name="s7-divider"/>
          <p:cNvSpPr/>
          <p:nvPr/>
        </p:nvSpPr>
        <p:spPr>
          <a:xfrm>
            <a:off x="6080760" y="1920240"/>
            <a:ext cx="0" cy="3474720"/>
          </a:xfrm>
          <a:prstGeom prst="line">
            <a:avLst/>
          </a:prstGeom>
          <a:noFill/>
          <a:ln w="9525">
            <a:solidFill>
              <a:srgbClr val="9AA5B1"/>
            </a:solidFill>
            <a:prstDash val="solid"/>
          </a:ln>
        </p:spPr>
        <p:txBody>
          <a:bodyPr/>
          <a:lstStyle/>
          <a:p>
            <a:endParaRPr lang="en-US"/>
          </a:p>
        </p:txBody>
      </p:sp>
      <p:pic>
        <p:nvPicPr>
          <p:cNvPr id="9" name="s7-flask-left" descr="/Users/amberwang/Desktop/paper-review/assets/pt-experiment.png"/>
          <p:cNvPicPr>
            <a:picLocks noChangeAspect="1"/>
          </p:cNvPicPr>
          <p:nvPr/>
        </p:nvPicPr>
        <p:blipFill>
          <a:blip r:embed="rId4"/>
          <a:stretch>
            <a:fillRect/>
          </a:stretch>
        </p:blipFill>
        <p:spPr>
          <a:xfrm>
            <a:off x="590896" y="1828800"/>
            <a:ext cx="281247" cy="411480"/>
          </a:xfrm>
          <a:prstGeom prst="rect">
            <a:avLst/>
          </a:prstGeom>
        </p:spPr>
      </p:pic>
      <p:sp>
        <p:nvSpPr>
          <p:cNvPr id="10" name="s7-text-Split by experienc"/>
          <p:cNvSpPr txBox="1"/>
          <p:nvPr/>
        </p:nvSpPr>
        <p:spPr>
          <a:xfrm>
            <a:off x="1005840" y="1874520"/>
            <a:ext cx="4846320" cy="365760"/>
          </a:xfrm>
          <a:prstGeom prst="rect">
            <a:avLst/>
          </a:prstGeom>
          <a:noFill/>
          <a:ln/>
        </p:spPr>
        <p:txBody>
          <a:bodyPr wrap="square" lIns="0" tIns="0" rIns="0" bIns="0" rtlCol="0" anchor="t"/>
          <a:lstStyle/>
          <a:p>
            <a:pPr marL="0" indent="0" algn="l">
              <a:buNone/>
            </a:pPr>
            <a:r>
              <a:rPr lang="en-US" sz="1700" b="1" dirty="0">
                <a:solidFill>
                  <a:srgbClr val="4A6FA5"/>
                </a:solidFill>
              </a:rPr>
              <a:t>Split by experience</a:t>
            </a:r>
            <a:endParaRPr lang="en-US" sz="1700" dirty="0"/>
          </a:p>
        </p:txBody>
      </p:sp>
      <p:sp>
        <p:nvSpPr>
          <p:cNvPr id="11" name="s7-bin-0"/>
          <p:cNvSpPr/>
          <p:nvPr/>
        </p:nvSpPr>
        <p:spPr>
          <a:xfrm>
            <a:off x="548640" y="2423160"/>
            <a:ext cx="1600200" cy="1828800"/>
          </a:xfrm>
          <a:prstGeom prst="roundRect">
            <a:avLst>
              <a:gd name="adj" fmla="val 4571"/>
            </a:avLst>
          </a:prstGeom>
          <a:solidFill>
            <a:srgbClr val="EEF3F8"/>
          </a:solidFill>
          <a:ln w="12700">
            <a:solidFill>
              <a:srgbClr val="9AA5B1"/>
            </a:solidFill>
            <a:prstDash val="solid"/>
          </a:ln>
        </p:spPr>
        <p:txBody>
          <a:bodyPr/>
          <a:lstStyle/>
          <a:p>
            <a:endParaRPr lang="en-US"/>
          </a:p>
        </p:txBody>
      </p:sp>
      <p:sp>
        <p:nvSpPr>
          <p:cNvPr id="13" name="s7-text-2–5 accepted patch"/>
          <p:cNvSpPr txBox="1"/>
          <p:nvPr/>
        </p:nvSpPr>
        <p:spPr>
          <a:xfrm>
            <a:off x="640080" y="3703320"/>
            <a:ext cx="1417320" cy="457200"/>
          </a:xfrm>
          <a:prstGeom prst="rect">
            <a:avLst/>
          </a:prstGeom>
          <a:noFill/>
          <a:ln/>
        </p:spPr>
        <p:txBody>
          <a:bodyPr wrap="square" lIns="0" tIns="0" rIns="0" bIns="0" rtlCol="0" anchor="t"/>
          <a:lstStyle/>
          <a:p>
            <a:pPr marL="0" indent="0" algn="ctr">
              <a:buNone/>
            </a:pPr>
            <a:r>
              <a:rPr lang="en-US" sz="1300" b="1" dirty="0">
                <a:solidFill>
                  <a:srgbClr val="2E3A46"/>
                </a:solidFill>
              </a:rPr>
              <a:t>2–5 accepted patches</a:t>
            </a:r>
            <a:endParaRPr lang="en-US" sz="1300" dirty="0"/>
          </a:p>
        </p:txBody>
      </p:sp>
      <p:sp>
        <p:nvSpPr>
          <p:cNvPr id="14" name="s7-bin-1"/>
          <p:cNvSpPr/>
          <p:nvPr/>
        </p:nvSpPr>
        <p:spPr>
          <a:xfrm>
            <a:off x="2286000" y="2423160"/>
            <a:ext cx="1600200" cy="1828800"/>
          </a:xfrm>
          <a:prstGeom prst="roundRect">
            <a:avLst>
              <a:gd name="adj" fmla="val 4571"/>
            </a:avLst>
          </a:prstGeom>
          <a:solidFill>
            <a:srgbClr val="EEF3F8"/>
          </a:solidFill>
          <a:ln w="12700">
            <a:solidFill>
              <a:srgbClr val="9AA5B1"/>
            </a:solidFill>
            <a:prstDash val="solid"/>
          </a:ln>
        </p:spPr>
        <p:txBody>
          <a:bodyPr/>
          <a:lstStyle/>
          <a:p>
            <a:endParaRPr lang="en-US"/>
          </a:p>
        </p:txBody>
      </p:sp>
      <p:sp>
        <p:nvSpPr>
          <p:cNvPr id="16" name="s7-text-6–20 accepted patc"/>
          <p:cNvSpPr txBox="1"/>
          <p:nvPr/>
        </p:nvSpPr>
        <p:spPr>
          <a:xfrm>
            <a:off x="2377440" y="3703320"/>
            <a:ext cx="1417320" cy="457200"/>
          </a:xfrm>
          <a:prstGeom prst="rect">
            <a:avLst/>
          </a:prstGeom>
          <a:noFill/>
          <a:ln/>
        </p:spPr>
        <p:txBody>
          <a:bodyPr wrap="square" lIns="0" tIns="0" rIns="0" bIns="0" rtlCol="0" anchor="t"/>
          <a:lstStyle/>
          <a:p>
            <a:pPr marL="0" indent="0" algn="ctr">
              <a:buNone/>
            </a:pPr>
            <a:r>
              <a:rPr lang="en-US" sz="1300" b="1" dirty="0">
                <a:solidFill>
                  <a:srgbClr val="2E3A46"/>
                </a:solidFill>
              </a:rPr>
              <a:t>6–20 accepted patches</a:t>
            </a:r>
            <a:endParaRPr lang="en-US" sz="1300" dirty="0"/>
          </a:p>
        </p:txBody>
      </p:sp>
      <p:sp>
        <p:nvSpPr>
          <p:cNvPr id="17" name="s7-bin-2"/>
          <p:cNvSpPr/>
          <p:nvPr/>
        </p:nvSpPr>
        <p:spPr>
          <a:xfrm>
            <a:off x="4023360" y="2423160"/>
            <a:ext cx="1600200" cy="1828800"/>
          </a:xfrm>
          <a:prstGeom prst="roundRect">
            <a:avLst>
              <a:gd name="adj" fmla="val 4571"/>
            </a:avLst>
          </a:prstGeom>
          <a:solidFill>
            <a:srgbClr val="EEF3F8"/>
          </a:solidFill>
          <a:ln w="12700">
            <a:solidFill>
              <a:srgbClr val="9AA5B1"/>
            </a:solidFill>
            <a:prstDash val="solid"/>
          </a:ln>
        </p:spPr>
        <p:txBody>
          <a:bodyPr/>
          <a:lstStyle/>
          <a:p>
            <a:endParaRPr lang="en-US"/>
          </a:p>
        </p:txBody>
      </p:sp>
      <p:sp>
        <p:nvSpPr>
          <p:cNvPr id="19" name="s7-text-core maintainers"/>
          <p:cNvSpPr txBox="1"/>
          <p:nvPr/>
        </p:nvSpPr>
        <p:spPr>
          <a:xfrm>
            <a:off x="4114800" y="3703320"/>
            <a:ext cx="1417320" cy="457200"/>
          </a:xfrm>
          <a:prstGeom prst="rect">
            <a:avLst/>
          </a:prstGeom>
          <a:noFill/>
          <a:ln/>
        </p:spPr>
        <p:txBody>
          <a:bodyPr wrap="square" lIns="0" tIns="0" rIns="0" bIns="0" rtlCol="0" anchor="t"/>
          <a:lstStyle/>
          <a:p>
            <a:pPr marL="0" indent="0" algn="ctr">
              <a:buNone/>
            </a:pPr>
            <a:r>
              <a:rPr lang="en-US" sz="1300" b="1" dirty="0">
                <a:solidFill>
                  <a:srgbClr val="2E3A46"/>
                </a:solidFill>
              </a:rPr>
              <a:t>core maintainers</a:t>
            </a:r>
            <a:endParaRPr lang="en-US" sz="1300" dirty="0"/>
          </a:p>
        </p:txBody>
      </p:sp>
      <p:pic>
        <p:nvPicPr>
          <p:cNvPr id="24" name="s7-flask-right" descr="/Users/amberwang/Desktop/paper-review/assets/pt-experiment.png"/>
          <p:cNvPicPr>
            <a:picLocks noChangeAspect="1"/>
          </p:cNvPicPr>
          <p:nvPr/>
        </p:nvPicPr>
        <p:blipFill>
          <a:blip r:embed="rId4"/>
          <a:stretch>
            <a:fillRect/>
          </a:stretch>
        </p:blipFill>
        <p:spPr>
          <a:xfrm>
            <a:off x="6397336" y="1828800"/>
            <a:ext cx="281247" cy="411480"/>
          </a:xfrm>
          <a:prstGeom prst="rect">
            <a:avLst/>
          </a:prstGeom>
        </p:spPr>
      </p:pic>
      <p:sp>
        <p:nvSpPr>
          <p:cNvPr id="25" name="s7-text-Follow the same pe"/>
          <p:cNvSpPr txBox="1"/>
          <p:nvPr/>
        </p:nvSpPr>
        <p:spPr>
          <a:xfrm>
            <a:off x="6812280" y="1874520"/>
            <a:ext cx="4754880" cy="365760"/>
          </a:xfrm>
          <a:prstGeom prst="rect">
            <a:avLst/>
          </a:prstGeom>
          <a:noFill/>
          <a:ln/>
        </p:spPr>
        <p:txBody>
          <a:bodyPr wrap="square" lIns="0" tIns="0" rIns="0" bIns="0" rtlCol="0" anchor="t"/>
          <a:lstStyle/>
          <a:p>
            <a:pPr marL="0" indent="0" algn="l">
              <a:buNone/>
            </a:pPr>
            <a:r>
              <a:rPr lang="en-US" sz="1700" b="1" dirty="0">
                <a:solidFill>
                  <a:srgbClr val="4A6FA5"/>
                </a:solidFill>
              </a:rPr>
              <a:t>Follow the same person</a:t>
            </a:r>
            <a:endParaRPr lang="en-US" sz="1700" dirty="0"/>
          </a:p>
        </p:txBody>
      </p:sp>
      <p:sp>
        <p:nvSpPr>
          <p:cNvPr id="27" name="s7-text-patches 2 to 10"/>
          <p:cNvSpPr txBox="1"/>
          <p:nvPr/>
        </p:nvSpPr>
        <p:spPr>
          <a:xfrm>
            <a:off x="7498080" y="2788920"/>
            <a:ext cx="2743200" cy="274320"/>
          </a:xfrm>
          <a:prstGeom prst="rect">
            <a:avLst/>
          </a:prstGeom>
          <a:noFill/>
          <a:ln/>
        </p:spPr>
        <p:txBody>
          <a:bodyPr wrap="square" lIns="0" tIns="0" rIns="0" bIns="0" rtlCol="0" anchor="t"/>
          <a:lstStyle/>
          <a:p>
            <a:pPr marL="0" indent="0" algn="l">
              <a:buNone/>
            </a:pPr>
            <a:r>
              <a:rPr lang="en-US" sz="1300" b="1" dirty="0">
                <a:solidFill>
                  <a:srgbClr val="8FAF9A"/>
                </a:solidFill>
              </a:rPr>
              <a:t>patches 2 to 10</a:t>
            </a:r>
            <a:endParaRPr lang="en-US" sz="1300" dirty="0"/>
          </a:p>
        </p:txBody>
      </p:sp>
      <p:sp>
        <p:nvSpPr>
          <p:cNvPr id="28" name="s7-tile-2"/>
          <p:cNvSpPr/>
          <p:nvPr/>
        </p:nvSpPr>
        <p:spPr>
          <a:xfrm>
            <a:off x="7498080" y="3154680"/>
            <a:ext cx="384048" cy="384048"/>
          </a:xfrm>
          <a:prstGeom prst="roundRect">
            <a:avLst>
              <a:gd name="adj" fmla="val 11905"/>
            </a:avLst>
          </a:prstGeom>
          <a:solidFill>
            <a:srgbClr val="CFE3F0"/>
          </a:solidFill>
          <a:ln/>
        </p:spPr>
        <p:txBody>
          <a:bodyPr/>
          <a:lstStyle/>
          <a:p>
            <a:endParaRPr lang="en-US"/>
          </a:p>
        </p:txBody>
      </p:sp>
      <p:sp>
        <p:nvSpPr>
          <p:cNvPr id="29" name="s7-tile-3"/>
          <p:cNvSpPr/>
          <p:nvPr/>
        </p:nvSpPr>
        <p:spPr>
          <a:xfrm>
            <a:off x="7955280" y="3154680"/>
            <a:ext cx="384048" cy="384048"/>
          </a:xfrm>
          <a:prstGeom prst="roundRect">
            <a:avLst>
              <a:gd name="adj" fmla="val 11905"/>
            </a:avLst>
          </a:prstGeom>
          <a:solidFill>
            <a:srgbClr val="4A6FA5"/>
          </a:solidFill>
          <a:ln/>
        </p:spPr>
        <p:txBody>
          <a:bodyPr/>
          <a:lstStyle/>
          <a:p>
            <a:endParaRPr lang="en-US"/>
          </a:p>
        </p:txBody>
      </p:sp>
      <p:sp>
        <p:nvSpPr>
          <p:cNvPr id="30" name="s7-tile-4"/>
          <p:cNvSpPr/>
          <p:nvPr/>
        </p:nvSpPr>
        <p:spPr>
          <a:xfrm>
            <a:off x="8412480" y="3154680"/>
            <a:ext cx="384048" cy="384048"/>
          </a:xfrm>
          <a:prstGeom prst="roundRect">
            <a:avLst>
              <a:gd name="adj" fmla="val 11905"/>
            </a:avLst>
          </a:prstGeom>
          <a:solidFill>
            <a:srgbClr val="CFE3F0"/>
          </a:solidFill>
          <a:ln/>
        </p:spPr>
        <p:txBody>
          <a:bodyPr/>
          <a:lstStyle/>
          <a:p>
            <a:endParaRPr lang="en-US"/>
          </a:p>
        </p:txBody>
      </p:sp>
      <p:sp>
        <p:nvSpPr>
          <p:cNvPr id="31" name="s7-tile-5"/>
          <p:cNvSpPr/>
          <p:nvPr/>
        </p:nvSpPr>
        <p:spPr>
          <a:xfrm>
            <a:off x="8869680" y="3154680"/>
            <a:ext cx="384048" cy="384048"/>
          </a:xfrm>
          <a:prstGeom prst="roundRect">
            <a:avLst>
              <a:gd name="adj" fmla="val 11905"/>
            </a:avLst>
          </a:prstGeom>
          <a:solidFill>
            <a:srgbClr val="4A6FA5"/>
          </a:solidFill>
          <a:ln/>
        </p:spPr>
        <p:txBody>
          <a:bodyPr/>
          <a:lstStyle/>
          <a:p>
            <a:endParaRPr lang="en-US"/>
          </a:p>
        </p:txBody>
      </p:sp>
      <p:sp>
        <p:nvSpPr>
          <p:cNvPr id="32" name="s7-tile-6"/>
          <p:cNvSpPr/>
          <p:nvPr/>
        </p:nvSpPr>
        <p:spPr>
          <a:xfrm>
            <a:off x="9326880" y="3154680"/>
            <a:ext cx="384048" cy="384048"/>
          </a:xfrm>
          <a:prstGeom prst="roundRect">
            <a:avLst>
              <a:gd name="adj" fmla="val 11905"/>
            </a:avLst>
          </a:prstGeom>
          <a:solidFill>
            <a:srgbClr val="CFE3F0"/>
          </a:solidFill>
          <a:ln/>
        </p:spPr>
        <p:txBody>
          <a:bodyPr/>
          <a:lstStyle/>
          <a:p>
            <a:endParaRPr lang="en-US"/>
          </a:p>
        </p:txBody>
      </p:sp>
      <p:sp>
        <p:nvSpPr>
          <p:cNvPr id="33" name="s7-tile-7"/>
          <p:cNvSpPr/>
          <p:nvPr/>
        </p:nvSpPr>
        <p:spPr>
          <a:xfrm>
            <a:off x="9784080" y="3154680"/>
            <a:ext cx="384048" cy="384048"/>
          </a:xfrm>
          <a:prstGeom prst="roundRect">
            <a:avLst>
              <a:gd name="adj" fmla="val 11905"/>
            </a:avLst>
          </a:prstGeom>
          <a:solidFill>
            <a:srgbClr val="4A6FA5"/>
          </a:solidFill>
          <a:ln/>
        </p:spPr>
        <p:txBody>
          <a:bodyPr/>
          <a:lstStyle/>
          <a:p>
            <a:endParaRPr lang="en-US"/>
          </a:p>
        </p:txBody>
      </p:sp>
      <p:sp>
        <p:nvSpPr>
          <p:cNvPr id="34" name="s7-tile-8"/>
          <p:cNvSpPr/>
          <p:nvPr/>
        </p:nvSpPr>
        <p:spPr>
          <a:xfrm>
            <a:off x="10241280" y="3154680"/>
            <a:ext cx="384048" cy="384048"/>
          </a:xfrm>
          <a:prstGeom prst="roundRect">
            <a:avLst>
              <a:gd name="adj" fmla="val 11905"/>
            </a:avLst>
          </a:prstGeom>
          <a:solidFill>
            <a:schemeClr val="tx2"/>
          </a:solidFill>
          <a:ln/>
        </p:spPr>
        <p:txBody>
          <a:bodyPr/>
          <a:lstStyle/>
          <a:p>
            <a:endParaRPr lang="en-US"/>
          </a:p>
        </p:txBody>
      </p:sp>
      <p:sp>
        <p:nvSpPr>
          <p:cNvPr id="35" name="s7-tile-9"/>
          <p:cNvSpPr/>
          <p:nvPr/>
        </p:nvSpPr>
        <p:spPr>
          <a:xfrm>
            <a:off x="10698480" y="3154680"/>
            <a:ext cx="384048" cy="384048"/>
          </a:xfrm>
          <a:prstGeom prst="roundRect">
            <a:avLst>
              <a:gd name="adj" fmla="val 11905"/>
            </a:avLst>
          </a:prstGeom>
          <a:solidFill>
            <a:srgbClr val="4A6FA5"/>
          </a:solidFill>
          <a:ln/>
        </p:spPr>
        <p:txBody>
          <a:bodyPr/>
          <a:lstStyle/>
          <a:p>
            <a:endParaRPr lang="en-US"/>
          </a:p>
        </p:txBody>
      </p:sp>
      <p:sp>
        <p:nvSpPr>
          <p:cNvPr id="36" name="s7-tile-10"/>
          <p:cNvSpPr/>
          <p:nvPr/>
        </p:nvSpPr>
        <p:spPr>
          <a:xfrm>
            <a:off x="11155680" y="3154680"/>
            <a:ext cx="384048" cy="384048"/>
          </a:xfrm>
          <a:prstGeom prst="roundRect">
            <a:avLst>
              <a:gd name="adj" fmla="val 11905"/>
            </a:avLst>
          </a:prstGeom>
          <a:solidFill>
            <a:srgbClr val="CFE3F0"/>
          </a:solidFill>
          <a:ln/>
        </p:spPr>
        <p:txBody>
          <a:bodyPr/>
          <a:lstStyle/>
          <a:p>
            <a:endParaRPr lang="en-US"/>
          </a:p>
        </p:txBody>
      </p:sp>
      <p:sp>
        <p:nvSpPr>
          <p:cNvPr id="37" name="s7-text-light = simple · d"/>
          <p:cNvSpPr txBox="1"/>
          <p:nvPr/>
        </p:nvSpPr>
        <p:spPr>
          <a:xfrm>
            <a:off x="7498080" y="3657600"/>
            <a:ext cx="4023360" cy="274320"/>
          </a:xfrm>
          <a:prstGeom prst="rect">
            <a:avLst/>
          </a:prstGeom>
          <a:noFill/>
          <a:ln/>
        </p:spPr>
        <p:txBody>
          <a:bodyPr wrap="square" lIns="0" tIns="0" rIns="0" bIns="0" rtlCol="0" anchor="t"/>
          <a:lstStyle/>
          <a:p>
            <a:pPr marL="0" indent="0" algn="l">
              <a:buNone/>
            </a:pPr>
            <a:r>
              <a:rPr lang="en-US" sz="1200" dirty="0">
                <a:solidFill>
                  <a:srgbClr val="9AA5B1"/>
                </a:solidFill>
              </a:rPr>
              <a:t>light = simple · dark = complex</a:t>
            </a:r>
            <a:endParaRPr lang="en-US" sz="1200" dirty="0"/>
          </a:p>
        </p:txBody>
      </p:sp>
      <p:sp>
        <p:nvSpPr>
          <p:cNvPr id="38"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5</a:t>
            </a:fld>
            <a:endParaRPr lang="en-US"/>
          </a:p>
        </p:txBody>
      </p:sp>
      <p:pic>
        <p:nvPicPr>
          <p:cNvPr id="39" name="Picture 38">
            <a:extLst>
              <a:ext uri="{FF2B5EF4-FFF2-40B4-BE49-F238E27FC236}">
                <a16:creationId xmlns:a16="http://schemas.microsoft.com/office/drawing/2014/main" id="{1686B4F1-5F77-B4DD-0D95-D88F95C96F7F}"/>
              </a:ext>
            </a:extLst>
          </p:cNvPr>
          <p:cNvPicPr>
            <a:picLocks noChangeAspect="1"/>
          </p:cNvPicPr>
          <p:nvPr/>
        </p:nvPicPr>
        <p:blipFill>
          <a:blip r:embed="rId5"/>
          <a:stretch>
            <a:fillRect/>
          </a:stretch>
        </p:blipFill>
        <p:spPr>
          <a:xfrm>
            <a:off x="4074283" y="2514600"/>
            <a:ext cx="1449983" cy="1207264"/>
          </a:xfrm>
          <a:prstGeom prst="rect">
            <a:avLst/>
          </a:prstGeom>
        </p:spPr>
      </p:pic>
      <p:pic>
        <p:nvPicPr>
          <p:cNvPr id="40" name="Picture 39">
            <a:extLst>
              <a:ext uri="{FF2B5EF4-FFF2-40B4-BE49-F238E27FC236}">
                <a16:creationId xmlns:a16="http://schemas.microsoft.com/office/drawing/2014/main" id="{DC6314ED-3B33-7F74-EF38-EEA309D61E79}"/>
              </a:ext>
            </a:extLst>
          </p:cNvPr>
          <p:cNvPicPr>
            <a:picLocks noChangeAspect="1"/>
          </p:cNvPicPr>
          <p:nvPr/>
        </p:nvPicPr>
        <p:blipFill>
          <a:blip r:embed="rId6"/>
          <a:stretch>
            <a:fillRect/>
          </a:stretch>
        </p:blipFill>
        <p:spPr>
          <a:xfrm>
            <a:off x="667096" y="2491439"/>
            <a:ext cx="1360119" cy="1132442"/>
          </a:xfrm>
          <a:prstGeom prst="rect">
            <a:avLst/>
          </a:prstGeom>
        </p:spPr>
      </p:pic>
      <p:pic>
        <p:nvPicPr>
          <p:cNvPr id="41" name="Picture 40">
            <a:extLst>
              <a:ext uri="{FF2B5EF4-FFF2-40B4-BE49-F238E27FC236}">
                <a16:creationId xmlns:a16="http://schemas.microsoft.com/office/drawing/2014/main" id="{C24F990A-98C8-03ED-B598-CCB3BA0F77E0}"/>
              </a:ext>
            </a:extLst>
          </p:cNvPr>
          <p:cNvPicPr>
            <a:picLocks noChangeAspect="1"/>
          </p:cNvPicPr>
          <p:nvPr/>
        </p:nvPicPr>
        <p:blipFill>
          <a:blip r:embed="rId7"/>
          <a:stretch>
            <a:fillRect/>
          </a:stretch>
        </p:blipFill>
        <p:spPr>
          <a:xfrm>
            <a:off x="2387494" y="2514600"/>
            <a:ext cx="1427710" cy="1188720"/>
          </a:xfrm>
          <a:prstGeom prst="rect">
            <a:avLst/>
          </a:prstGeom>
        </p:spPr>
      </p:pic>
      <p:pic>
        <p:nvPicPr>
          <p:cNvPr id="42" name="Picture 41">
            <a:extLst>
              <a:ext uri="{FF2B5EF4-FFF2-40B4-BE49-F238E27FC236}">
                <a16:creationId xmlns:a16="http://schemas.microsoft.com/office/drawing/2014/main" id="{20E7E296-C0E6-2773-84A0-C24300F8B487}"/>
              </a:ext>
            </a:extLst>
          </p:cNvPr>
          <p:cNvPicPr>
            <a:picLocks noChangeAspect="1"/>
          </p:cNvPicPr>
          <p:nvPr/>
        </p:nvPicPr>
        <p:blipFill>
          <a:blip r:embed="rId6"/>
          <a:stretch>
            <a:fillRect/>
          </a:stretch>
        </p:blipFill>
        <p:spPr>
          <a:xfrm>
            <a:off x="6137961" y="2712720"/>
            <a:ext cx="1360119" cy="113244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thr-construct" descr="/Users/amberwang/Desktop/paper-review/assets/thr-construct.png"/>
          <p:cNvPicPr>
            <a:picLocks noChangeAspect="1"/>
          </p:cNvPicPr>
          <p:nvPr/>
        </p:nvPicPr>
        <p:blipFill>
          <a:blip r:embed="rId3"/>
          <a:stretch>
            <a:fillRect/>
          </a:stretch>
        </p:blipFill>
        <p:spPr>
          <a:xfrm>
            <a:off x="10789920" y="323262"/>
            <a:ext cx="1005840" cy="907956"/>
          </a:xfrm>
          <a:prstGeom prst="rect">
            <a:avLst/>
          </a:prstGeom>
        </p:spPr>
      </p:pic>
      <p:sp>
        <p:nvSpPr>
          <p:cNvPr id="6" name="s3-card-R6"/>
          <p:cNvSpPr/>
          <p:nvPr/>
        </p:nvSpPr>
        <p:spPr>
          <a:xfrm>
            <a:off x="4260029" y="2944554"/>
            <a:ext cx="4003237" cy="2809208"/>
          </a:xfrm>
          <a:prstGeom prst="roundRect">
            <a:avLst>
              <a:gd name="adj" fmla="val 4324"/>
            </a:avLst>
          </a:prstGeom>
          <a:solidFill>
            <a:srgbClr val="EEF3F8"/>
          </a:solidFill>
          <a:ln w="12700">
            <a:solidFill>
              <a:srgbClr val="9AA5B1"/>
            </a:solidFill>
            <a:prstDash val="solid"/>
          </a:ln>
        </p:spPr>
        <p:txBody>
          <a:bodyPr/>
          <a:lstStyle/>
          <a:p>
            <a:endParaRPr lang="en-US"/>
          </a:p>
        </p:txBody>
      </p:sp>
      <p:pic>
        <p:nvPicPr>
          <p:cNvPr id="7" name="s3-patch-R6" descr="/Users/amberwang/Desktop/paper-review/assets/icon-patch.png"/>
          <p:cNvPicPr>
            <a:picLocks noChangeAspect="1"/>
          </p:cNvPicPr>
          <p:nvPr/>
        </p:nvPicPr>
        <p:blipFill>
          <a:blip r:embed="rId4"/>
          <a:stretch>
            <a:fillRect/>
          </a:stretch>
        </p:blipFill>
        <p:spPr>
          <a:xfrm>
            <a:off x="4488630" y="3136868"/>
            <a:ext cx="548640" cy="621211"/>
          </a:xfrm>
          <a:prstGeom prst="rect">
            <a:avLst/>
          </a:prstGeom>
        </p:spPr>
      </p:pic>
      <p:sp>
        <p:nvSpPr>
          <p:cNvPr id="8" name="s3-text-R6 · simple tasks"/>
          <p:cNvSpPr txBox="1"/>
          <p:nvPr/>
        </p:nvSpPr>
        <p:spPr>
          <a:xfrm>
            <a:off x="5174430" y="3218874"/>
            <a:ext cx="2468880" cy="411480"/>
          </a:xfrm>
          <a:prstGeom prst="rect">
            <a:avLst/>
          </a:prstGeom>
          <a:noFill/>
          <a:ln/>
        </p:spPr>
        <p:txBody>
          <a:bodyPr wrap="square" lIns="0" tIns="0" rIns="0" bIns="0" rtlCol="0" anchor="t"/>
          <a:lstStyle/>
          <a:p>
            <a:pPr marL="0" indent="0" algn="l">
              <a:buNone/>
            </a:pPr>
            <a:r>
              <a:rPr lang="en-US" sz="1800" b="1" dirty="0">
                <a:solidFill>
                  <a:srgbClr val="2E3A46"/>
                </a:solidFill>
              </a:rPr>
              <a:t>R6 · </a:t>
            </a:r>
            <a:r>
              <a:rPr lang="en-US" sz="1800" i="1" dirty="0">
                <a:solidFill>
                  <a:srgbClr val="2E3A46"/>
                </a:solidFill>
              </a:rPr>
              <a:t>low complexity tasks</a:t>
            </a:r>
            <a:endParaRPr lang="en-US" sz="1800" i="1" dirty="0"/>
          </a:p>
        </p:txBody>
      </p:sp>
      <p:pic>
        <p:nvPicPr>
          <p:cNvPr id="14" name="s3-patch-R7" descr="/Users/amberwang/Desktop/paper-review/assets/icon-patch.png"/>
          <p:cNvPicPr>
            <a:picLocks noChangeAspect="1"/>
          </p:cNvPicPr>
          <p:nvPr/>
        </p:nvPicPr>
        <p:blipFill>
          <a:blip r:embed="rId4"/>
          <a:stretch>
            <a:fillRect/>
          </a:stretch>
        </p:blipFill>
        <p:spPr>
          <a:xfrm>
            <a:off x="4488630" y="4017492"/>
            <a:ext cx="548640" cy="621211"/>
          </a:xfrm>
          <a:prstGeom prst="rect">
            <a:avLst/>
          </a:prstGeom>
        </p:spPr>
      </p:pic>
      <p:sp>
        <p:nvSpPr>
          <p:cNvPr id="15" name="s3-text-R7 · documentation"/>
          <p:cNvSpPr txBox="1"/>
          <p:nvPr/>
        </p:nvSpPr>
        <p:spPr>
          <a:xfrm>
            <a:off x="5174430" y="4099498"/>
            <a:ext cx="2468880" cy="411480"/>
          </a:xfrm>
          <a:prstGeom prst="rect">
            <a:avLst/>
          </a:prstGeom>
          <a:noFill/>
          <a:ln/>
        </p:spPr>
        <p:txBody>
          <a:bodyPr wrap="square" lIns="0" tIns="0" rIns="0" bIns="0" rtlCol="0" anchor="t"/>
          <a:lstStyle/>
          <a:p>
            <a:pPr marL="0" indent="0" algn="l">
              <a:buNone/>
            </a:pPr>
            <a:r>
              <a:rPr lang="en-US" sz="1800" b="1" dirty="0">
                <a:solidFill>
                  <a:srgbClr val="2E3A46"/>
                </a:solidFill>
              </a:rPr>
              <a:t>R7 · </a:t>
            </a:r>
            <a:r>
              <a:rPr lang="en-US" i="1" dirty="0"/>
              <a:t>documentation</a:t>
            </a:r>
          </a:p>
        </p:txBody>
      </p:sp>
      <p:pic>
        <p:nvPicPr>
          <p:cNvPr id="21" name="s3-patch-R9" descr="/Users/amberwang/Desktop/paper-review/assets/icon-patch.png"/>
          <p:cNvPicPr>
            <a:picLocks noChangeAspect="1"/>
          </p:cNvPicPr>
          <p:nvPr/>
        </p:nvPicPr>
        <p:blipFill>
          <a:blip r:embed="rId4"/>
          <a:stretch>
            <a:fillRect/>
          </a:stretch>
        </p:blipFill>
        <p:spPr>
          <a:xfrm>
            <a:off x="4488630" y="4895060"/>
            <a:ext cx="548640" cy="621211"/>
          </a:xfrm>
          <a:prstGeom prst="rect">
            <a:avLst/>
          </a:prstGeom>
        </p:spPr>
      </p:pic>
      <p:sp>
        <p:nvSpPr>
          <p:cNvPr id="22" name="s3-text-R9 · fewer deletio"/>
          <p:cNvSpPr txBox="1"/>
          <p:nvPr/>
        </p:nvSpPr>
        <p:spPr>
          <a:xfrm>
            <a:off x="5174430" y="4977066"/>
            <a:ext cx="2468880" cy="411480"/>
          </a:xfrm>
          <a:prstGeom prst="rect">
            <a:avLst/>
          </a:prstGeom>
          <a:noFill/>
          <a:ln/>
        </p:spPr>
        <p:txBody>
          <a:bodyPr wrap="square" lIns="0" tIns="0" rIns="0" bIns="0" rtlCol="0" anchor="t"/>
          <a:lstStyle/>
          <a:p>
            <a:r>
              <a:rPr lang="en-US" sz="1800" b="1" dirty="0">
                <a:solidFill>
                  <a:srgbClr val="2E3A46"/>
                </a:solidFill>
              </a:rPr>
              <a:t>R9 · </a:t>
            </a:r>
            <a:r>
              <a:rPr lang="en-CA" i="1" dirty="0"/>
              <a:t>fewer line deletions</a:t>
            </a:r>
            <a:endParaRPr lang="en-CA" dirty="0"/>
          </a:p>
        </p:txBody>
      </p:sp>
      <p:sp>
        <p:nvSpPr>
          <p:cNvPr id="29"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6</a:t>
            </a:fld>
            <a:endParaRPr lang="en-US"/>
          </a:p>
        </p:txBody>
      </p:sp>
      <p:sp>
        <p:nvSpPr>
          <p:cNvPr id="33" name="s3-text-Abstract">
            <a:extLst>
              <a:ext uri="{FF2B5EF4-FFF2-40B4-BE49-F238E27FC236}">
                <a16:creationId xmlns:a16="http://schemas.microsoft.com/office/drawing/2014/main" id="{66AF29F8-ABD8-2F51-0323-6C15F8F39BD0}"/>
              </a:ext>
            </a:extLst>
          </p:cNvPr>
          <p:cNvSpPr txBox="1"/>
          <p:nvPr/>
        </p:nvSpPr>
        <p:spPr>
          <a:xfrm>
            <a:off x="562356" y="951604"/>
            <a:ext cx="1828800" cy="274320"/>
          </a:xfrm>
          <a:prstGeom prst="rect">
            <a:avLst/>
          </a:prstGeom>
          <a:noFill/>
          <a:ln/>
        </p:spPr>
        <p:txBody>
          <a:bodyPr wrap="square" lIns="0" tIns="0" rIns="0" bIns="0" rtlCol="0" anchor="t"/>
          <a:lstStyle/>
          <a:p>
            <a:pPr marL="0" indent="0">
              <a:buNone/>
            </a:pPr>
            <a:r>
              <a:rPr lang="en-US" sz="2000" i="1" dirty="0">
                <a:solidFill>
                  <a:srgbClr val="9AA5B1"/>
                </a:solidFill>
              </a:rPr>
              <a:t>Abstract</a:t>
            </a:r>
            <a:endParaRPr lang="en-US" sz="2000" dirty="0"/>
          </a:p>
        </p:txBody>
      </p:sp>
      <p:sp>
        <p:nvSpPr>
          <p:cNvPr id="34" name="s3-text-✗">
            <a:extLst>
              <a:ext uri="{FF2B5EF4-FFF2-40B4-BE49-F238E27FC236}">
                <a16:creationId xmlns:a16="http://schemas.microsoft.com/office/drawing/2014/main" id="{5D629F17-4ED8-B31A-5C30-90D35440F9B6}"/>
              </a:ext>
            </a:extLst>
          </p:cNvPr>
          <p:cNvSpPr txBox="1"/>
          <p:nvPr/>
        </p:nvSpPr>
        <p:spPr>
          <a:xfrm>
            <a:off x="7492165" y="3218874"/>
            <a:ext cx="457200" cy="320040"/>
          </a:xfrm>
          <a:prstGeom prst="rect">
            <a:avLst/>
          </a:prstGeom>
          <a:noFill/>
          <a:ln/>
        </p:spPr>
        <p:txBody>
          <a:bodyPr wrap="square" lIns="0" tIns="0" rIns="0" bIns="0" rtlCol="0" anchor="ctr"/>
          <a:lstStyle/>
          <a:p>
            <a:pPr marL="0" indent="0" algn="ctr">
              <a:buNone/>
            </a:pPr>
            <a:r>
              <a:rPr lang="en-US" sz="2200" b="1" dirty="0">
                <a:solidFill>
                  <a:srgbClr val="E63946"/>
                </a:solidFill>
              </a:rPr>
              <a:t>✗</a:t>
            </a:r>
            <a:endParaRPr lang="en-US" sz="2200" dirty="0"/>
          </a:p>
        </p:txBody>
      </p:sp>
      <p:sp>
        <p:nvSpPr>
          <p:cNvPr id="35" name="s3-text-✗">
            <a:extLst>
              <a:ext uri="{FF2B5EF4-FFF2-40B4-BE49-F238E27FC236}">
                <a16:creationId xmlns:a16="http://schemas.microsoft.com/office/drawing/2014/main" id="{0AA4FD5A-6AD0-D5CE-8CB0-8326CE6E3659}"/>
              </a:ext>
            </a:extLst>
          </p:cNvPr>
          <p:cNvSpPr txBox="1"/>
          <p:nvPr/>
        </p:nvSpPr>
        <p:spPr>
          <a:xfrm>
            <a:off x="7034965" y="4096442"/>
            <a:ext cx="457200" cy="320040"/>
          </a:xfrm>
          <a:prstGeom prst="rect">
            <a:avLst/>
          </a:prstGeom>
          <a:noFill/>
          <a:ln/>
        </p:spPr>
        <p:txBody>
          <a:bodyPr wrap="square" lIns="0" tIns="0" rIns="0" bIns="0" rtlCol="0" anchor="ctr"/>
          <a:lstStyle/>
          <a:p>
            <a:pPr marL="0" indent="0" algn="ctr">
              <a:buNone/>
            </a:pPr>
            <a:r>
              <a:rPr lang="en-US" sz="2200" b="1" dirty="0">
                <a:solidFill>
                  <a:srgbClr val="E63946"/>
                </a:solidFill>
              </a:rPr>
              <a:t>✗</a:t>
            </a:r>
            <a:endParaRPr lang="en-US" sz="2200" dirty="0"/>
          </a:p>
        </p:txBody>
      </p:sp>
      <p:sp>
        <p:nvSpPr>
          <p:cNvPr id="36" name="s3-text-✗">
            <a:extLst>
              <a:ext uri="{FF2B5EF4-FFF2-40B4-BE49-F238E27FC236}">
                <a16:creationId xmlns:a16="http://schemas.microsoft.com/office/drawing/2014/main" id="{74A30865-197A-7E00-A9BE-47617B6625AA}"/>
              </a:ext>
            </a:extLst>
          </p:cNvPr>
          <p:cNvSpPr txBox="1"/>
          <p:nvPr/>
        </p:nvSpPr>
        <p:spPr>
          <a:xfrm>
            <a:off x="7414710" y="4960701"/>
            <a:ext cx="457200" cy="320040"/>
          </a:xfrm>
          <a:prstGeom prst="rect">
            <a:avLst/>
          </a:prstGeom>
          <a:noFill/>
          <a:ln/>
        </p:spPr>
        <p:txBody>
          <a:bodyPr wrap="square" lIns="0" tIns="0" rIns="0" bIns="0" rtlCol="0" anchor="ctr"/>
          <a:lstStyle/>
          <a:p>
            <a:pPr marL="0" indent="0" algn="ctr">
              <a:buNone/>
            </a:pPr>
            <a:r>
              <a:rPr lang="en-US" sz="2200" b="1" dirty="0">
                <a:solidFill>
                  <a:srgbClr val="E63946"/>
                </a:solidFill>
              </a:rPr>
              <a:t>✗</a:t>
            </a:r>
            <a:endParaRPr lang="en-US" sz="2200" dirty="0"/>
          </a:p>
        </p:txBody>
      </p:sp>
      <p:pic>
        <p:nvPicPr>
          <p:cNvPr id="41" name="Picture 40">
            <a:extLst>
              <a:ext uri="{FF2B5EF4-FFF2-40B4-BE49-F238E27FC236}">
                <a16:creationId xmlns:a16="http://schemas.microsoft.com/office/drawing/2014/main" id="{B6A37A80-2825-282D-6EA3-81F757553A51}"/>
              </a:ext>
            </a:extLst>
          </p:cNvPr>
          <p:cNvPicPr>
            <a:picLocks noChangeAspect="1"/>
          </p:cNvPicPr>
          <p:nvPr/>
        </p:nvPicPr>
        <p:blipFill>
          <a:blip r:embed="rId5"/>
          <a:stretch>
            <a:fillRect/>
          </a:stretch>
        </p:blipFill>
        <p:spPr>
          <a:xfrm>
            <a:off x="2135497" y="3789080"/>
            <a:ext cx="1504576" cy="1504576"/>
          </a:xfrm>
          <a:prstGeom prst="rect">
            <a:avLst/>
          </a:prstGeom>
        </p:spPr>
      </p:pic>
      <p:pic>
        <p:nvPicPr>
          <p:cNvPr id="42" name="Picture 41">
            <a:extLst>
              <a:ext uri="{FF2B5EF4-FFF2-40B4-BE49-F238E27FC236}">
                <a16:creationId xmlns:a16="http://schemas.microsoft.com/office/drawing/2014/main" id="{A84FA463-E570-8BA3-D73E-919D009EB9C0}"/>
              </a:ext>
            </a:extLst>
          </p:cNvPr>
          <p:cNvPicPr>
            <a:picLocks noChangeAspect="1"/>
          </p:cNvPicPr>
          <p:nvPr/>
        </p:nvPicPr>
        <p:blipFill>
          <a:blip r:embed="rId6"/>
          <a:stretch>
            <a:fillRect/>
          </a:stretch>
        </p:blipFill>
        <p:spPr>
          <a:xfrm>
            <a:off x="8883222" y="4027010"/>
            <a:ext cx="1272222" cy="1272222"/>
          </a:xfrm>
          <a:prstGeom prst="rect">
            <a:avLst/>
          </a:prstGeom>
        </p:spPr>
      </p:pic>
      <p:sp>
        <p:nvSpPr>
          <p:cNvPr id="43" name="s4-quote-marked">
            <a:extLst>
              <a:ext uri="{FF2B5EF4-FFF2-40B4-BE49-F238E27FC236}">
                <a16:creationId xmlns:a16="http://schemas.microsoft.com/office/drawing/2014/main" id="{ADE4DBC1-E775-3742-B741-CEDCF8D2D2A0}"/>
              </a:ext>
            </a:extLst>
          </p:cNvPr>
          <p:cNvSpPr/>
          <p:nvPr/>
        </p:nvSpPr>
        <p:spPr>
          <a:xfrm>
            <a:off x="562356" y="1363001"/>
            <a:ext cx="11064240" cy="1325880"/>
          </a:xfrm>
          <a:prstGeom prst="roundRect">
            <a:avLst>
              <a:gd name="adj" fmla="val 5517"/>
            </a:avLst>
          </a:prstGeom>
          <a:solidFill>
            <a:srgbClr val="FFFFFF"/>
          </a:solidFill>
          <a:ln w="15875">
            <a:solidFill>
              <a:srgbClr val="4A6FA5"/>
            </a:solidFill>
          </a:ln>
        </p:spPr>
        <p:txBody>
          <a:bodyPr wrap="square" lIns="3175" tIns="3175" rIns="3175" bIns="3175" rtlCol="0" anchor="ctr"/>
          <a:lstStyle/>
          <a:p>
            <a:pPr marL="0" indent="0" algn="l">
              <a:buNone/>
            </a:pPr>
            <a:r>
              <a:rPr lang="en-US" sz="2000" dirty="0">
                <a:solidFill>
                  <a:srgbClr val="2E3A46"/>
                </a:solidFill>
              </a:rPr>
              <a:t>“Our results also found </a:t>
            </a:r>
            <a:r>
              <a:rPr lang="en-US" sz="2000" b="1" dirty="0">
                <a:solidFill>
                  <a:srgbClr val="4A6FA5"/>
                </a:solidFill>
                <a:highlight>
                  <a:srgbClr val="CFE3F0"/>
                </a:highlight>
              </a:rPr>
              <a:t>three newcomer-specific recommendations</a:t>
            </a:r>
            <a:r>
              <a:rPr lang="en-US" sz="2000" dirty="0">
                <a:solidFill>
                  <a:srgbClr val="2E3A46"/>
                </a:solidFill>
              </a:rPr>
              <a:t>, which OSS joiners should </a:t>
            </a:r>
            <a:r>
              <a:rPr lang="en-US" sz="2000" b="1" dirty="0">
                <a:solidFill>
                  <a:srgbClr val="E63946"/>
                </a:solidFill>
                <a:highlight>
                  <a:srgbClr val="FBE3E5"/>
                </a:highlight>
              </a:rPr>
              <a:t>abandon</a:t>
            </a:r>
            <a:r>
              <a:rPr lang="en-US" sz="2000" dirty="0">
                <a:solidFill>
                  <a:srgbClr val="2E3A46"/>
                </a:solidFill>
              </a:rPr>
              <a:t> </a:t>
            </a:r>
            <a:r>
              <a:rPr lang="en-US" sz="2000" b="1" dirty="0">
                <a:solidFill>
                  <a:srgbClr val="4A6FA5"/>
                </a:solidFill>
                <a:highlight>
                  <a:srgbClr val="CFE3F0"/>
                </a:highlight>
              </a:rPr>
              <a:t>at non-newcomer status</a:t>
            </a:r>
            <a:r>
              <a:rPr lang="en-US" sz="2000" dirty="0">
                <a:solidFill>
                  <a:srgbClr val="2E3A46"/>
                </a:solidFill>
              </a:rPr>
              <a:t> to increase their odds of becoming </a:t>
            </a:r>
            <a:r>
              <a:rPr lang="en-US" sz="2000" b="1" dirty="0">
                <a:solidFill>
                  <a:srgbClr val="E63946"/>
                </a:solidFill>
                <a:highlight>
                  <a:srgbClr val="FBE3E5"/>
                </a:highlight>
              </a:rPr>
              <a:t>long-term contributors</a:t>
            </a:r>
            <a:r>
              <a:rPr lang="en-US" sz="2000" dirty="0">
                <a:solidFill>
                  <a:srgbClr val="2E3A46"/>
                </a:solidFill>
              </a:rPr>
              <a:t>.”</a:t>
            </a:r>
            <a:endParaRPr lang="en-US" sz="2000" dirty="0"/>
          </a:p>
        </p:txBody>
      </p:sp>
      <p:cxnSp>
        <p:nvCxnSpPr>
          <p:cNvPr id="46" name="Straight Arrow Connector 45">
            <a:extLst>
              <a:ext uri="{FF2B5EF4-FFF2-40B4-BE49-F238E27FC236}">
                <a16:creationId xmlns:a16="http://schemas.microsoft.com/office/drawing/2014/main" id="{415CEF7E-D6B8-5F46-92EB-901832BCB9B2}"/>
              </a:ext>
            </a:extLst>
          </p:cNvPr>
          <p:cNvCxnSpPr/>
          <p:nvPr/>
        </p:nvCxnSpPr>
        <p:spPr>
          <a:xfrm>
            <a:off x="1918719" y="6161703"/>
            <a:ext cx="8208085"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1C68A6E-3E2C-35DE-DC1A-7EB5F666A4AC}"/>
              </a:ext>
            </a:extLst>
          </p:cNvPr>
          <p:cNvSpPr txBox="1"/>
          <p:nvPr/>
        </p:nvSpPr>
        <p:spPr>
          <a:xfrm>
            <a:off x="10337493" y="5961648"/>
            <a:ext cx="904853" cy="400110"/>
          </a:xfrm>
          <a:prstGeom prst="rect">
            <a:avLst/>
          </a:prstGeom>
          <a:noFill/>
        </p:spPr>
        <p:txBody>
          <a:bodyPr wrap="square">
            <a:spAutoFit/>
          </a:bodyPr>
          <a:lstStyle/>
          <a:p>
            <a:r>
              <a:rPr lang="en-US" sz="2000" dirty="0">
                <a:solidFill>
                  <a:schemeClr val="accent1"/>
                </a:solidFill>
              </a:rPr>
              <a:t>Time</a:t>
            </a:r>
            <a:endParaRPr lang="en-US" dirty="0">
              <a:solidFill>
                <a:schemeClr val="accent1"/>
              </a:solidFill>
            </a:endParaRPr>
          </a:p>
        </p:txBody>
      </p:sp>
      <p:sp>
        <p:nvSpPr>
          <p:cNvPr id="49" name="TextBox 48">
            <a:extLst>
              <a:ext uri="{FF2B5EF4-FFF2-40B4-BE49-F238E27FC236}">
                <a16:creationId xmlns:a16="http://schemas.microsoft.com/office/drawing/2014/main" id="{51F37405-1FDA-29D9-9E39-8C113535B8F4}"/>
              </a:ext>
            </a:extLst>
          </p:cNvPr>
          <p:cNvSpPr txBox="1"/>
          <p:nvPr/>
        </p:nvSpPr>
        <p:spPr>
          <a:xfrm>
            <a:off x="8474029" y="5357412"/>
            <a:ext cx="2315890" cy="369332"/>
          </a:xfrm>
          <a:prstGeom prst="rect">
            <a:avLst/>
          </a:prstGeom>
          <a:noFill/>
        </p:spPr>
        <p:txBody>
          <a:bodyPr wrap="none" rtlCol="0">
            <a:spAutoFit/>
          </a:bodyPr>
          <a:lstStyle/>
          <a:p>
            <a:r>
              <a:rPr lang="en-US" dirty="0"/>
              <a:t>Long-term contributor </a:t>
            </a:r>
          </a:p>
        </p:txBody>
      </p:sp>
      <p:sp>
        <p:nvSpPr>
          <p:cNvPr id="50" name="TextBox 49">
            <a:extLst>
              <a:ext uri="{FF2B5EF4-FFF2-40B4-BE49-F238E27FC236}">
                <a16:creationId xmlns:a16="http://schemas.microsoft.com/office/drawing/2014/main" id="{5B0E69D3-909A-E01E-A558-8C015C50EA85}"/>
              </a:ext>
            </a:extLst>
          </p:cNvPr>
          <p:cNvSpPr txBox="1"/>
          <p:nvPr/>
        </p:nvSpPr>
        <p:spPr>
          <a:xfrm>
            <a:off x="2052394" y="5349448"/>
            <a:ext cx="1181221" cy="369332"/>
          </a:xfrm>
          <a:prstGeom prst="rect">
            <a:avLst/>
          </a:prstGeom>
          <a:noFill/>
        </p:spPr>
        <p:txBody>
          <a:bodyPr wrap="none" rtlCol="0">
            <a:spAutoFit/>
          </a:bodyPr>
          <a:lstStyle/>
          <a:p>
            <a:r>
              <a:rPr lang="en-US" dirty="0"/>
              <a:t>newcomer</a:t>
            </a:r>
          </a:p>
        </p:txBody>
      </p:sp>
      <p:sp>
        <p:nvSpPr>
          <p:cNvPr id="53" name="Text 0">
            <a:extLst>
              <a:ext uri="{FF2B5EF4-FFF2-40B4-BE49-F238E27FC236}">
                <a16:creationId xmlns:a16="http://schemas.microsoft.com/office/drawing/2014/main" id="{D4F8E17A-444E-9B59-81E9-1476D81BBB2C}"/>
              </a:ext>
            </a:extLst>
          </p:cNvPr>
          <p:cNvSpPr>
            <a:spLocks noGrp="1"/>
          </p:cNvSpPr>
          <p:nvPr>
            <p:ph type="title" idx="100" hasCustomPrompt="1"/>
          </p:nvPr>
        </p:nvSpPr>
        <p:spPr>
          <a:xfrm>
            <a:off x="457200" y="274320"/>
            <a:ext cx="10058400" cy="535545"/>
          </a:xfrm>
          <a:prstGeom prst="rect">
            <a:avLst/>
          </a:prstGeom>
          <a:noFill/>
          <a:ln/>
        </p:spPr>
        <p:txBody>
          <a:bodyPr wrap="square" lIns="0" tIns="0" rIns="0" bIns="0" rtlCol="0" anchor="t"/>
          <a:lstStyle/>
          <a:p>
            <a:pPr marL="0" indent="0" algn="l">
              <a:buNone/>
            </a:pPr>
            <a:r>
              <a:rPr lang="en-US" sz="2800" dirty="0"/>
              <a:t>“Long term” Claim with No Evidence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099AC-60A1-9051-62F9-CE9CC3384C77}"/>
            </a:ext>
          </a:extLst>
        </p:cNvPr>
        <p:cNvGrpSpPr/>
        <p:nvPr/>
      </p:nvGrpSpPr>
      <p:grpSpPr>
        <a:xfrm>
          <a:off x="0" y="0"/>
          <a:ext cx="0" cy="0"/>
          <a:chOff x="0" y="0"/>
          <a:chExt cx="0" cy="0"/>
        </a:xfrm>
      </p:grpSpPr>
      <p:pic>
        <p:nvPicPr>
          <p:cNvPr id="3" name="thr-construct" descr="/Users/amberwang/Desktop/paper-review/assets/thr-construct.png">
            <a:extLst>
              <a:ext uri="{FF2B5EF4-FFF2-40B4-BE49-F238E27FC236}">
                <a16:creationId xmlns:a16="http://schemas.microsoft.com/office/drawing/2014/main" id="{D6773D82-9E9A-795B-73D2-905C9D39170B}"/>
              </a:ext>
            </a:extLst>
          </p:cNvPr>
          <p:cNvPicPr>
            <a:picLocks noChangeAspect="1"/>
          </p:cNvPicPr>
          <p:nvPr/>
        </p:nvPicPr>
        <p:blipFill>
          <a:blip r:embed="rId3"/>
          <a:stretch>
            <a:fillRect/>
          </a:stretch>
        </p:blipFill>
        <p:spPr>
          <a:xfrm>
            <a:off x="10789920" y="323262"/>
            <a:ext cx="1005840" cy="907956"/>
          </a:xfrm>
          <a:prstGeom prst="rect">
            <a:avLst/>
          </a:prstGeom>
        </p:spPr>
      </p:pic>
      <p:sp>
        <p:nvSpPr>
          <p:cNvPr id="6" name="s3-card-R6">
            <a:extLst>
              <a:ext uri="{FF2B5EF4-FFF2-40B4-BE49-F238E27FC236}">
                <a16:creationId xmlns:a16="http://schemas.microsoft.com/office/drawing/2014/main" id="{F2EC57F2-5AD3-81CF-6502-7FE24B6D101C}"/>
              </a:ext>
            </a:extLst>
          </p:cNvPr>
          <p:cNvSpPr/>
          <p:nvPr/>
        </p:nvSpPr>
        <p:spPr>
          <a:xfrm>
            <a:off x="5078037" y="845043"/>
            <a:ext cx="2584524" cy="1758075"/>
          </a:xfrm>
          <a:prstGeom prst="roundRect">
            <a:avLst>
              <a:gd name="adj" fmla="val 4324"/>
            </a:avLst>
          </a:prstGeom>
          <a:solidFill>
            <a:srgbClr val="EEF3F8"/>
          </a:solidFill>
          <a:ln w="12700">
            <a:solidFill>
              <a:srgbClr val="9AA5B1"/>
            </a:solidFill>
            <a:prstDash val="solid"/>
          </a:ln>
        </p:spPr>
        <p:txBody>
          <a:bodyPr/>
          <a:lstStyle/>
          <a:p>
            <a:endParaRPr lang="en-US" sz="1100"/>
          </a:p>
        </p:txBody>
      </p:sp>
      <p:pic>
        <p:nvPicPr>
          <p:cNvPr id="7" name="s3-patch-R6" descr="/Users/amberwang/Desktop/paper-review/assets/icon-patch.png">
            <a:extLst>
              <a:ext uri="{FF2B5EF4-FFF2-40B4-BE49-F238E27FC236}">
                <a16:creationId xmlns:a16="http://schemas.microsoft.com/office/drawing/2014/main" id="{09389DAD-1062-B72F-035D-C4218FB97218}"/>
              </a:ext>
            </a:extLst>
          </p:cNvPr>
          <p:cNvPicPr>
            <a:picLocks noChangeAspect="1"/>
          </p:cNvPicPr>
          <p:nvPr/>
        </p:nvPicPr>
        <p:blipFill>
          <a:blip r:embed="rId4"/>
          <a:stretch>
            <a:fillRect/>
          </a:stretch>
        </p:blipFill>
        <p:spPr>
          <a:xfrm>
            <a:off x="5154415" y="1062615"/>
            <a:ext cx="263879" cy="298784"/>
          </a:xfrm>
          <a:prstGeom prst="rect">
            <a:avLst/>
          </a:prstGeom>
        </p:spPr>
      </p:pic>
      <p:sp>
        <p:nvSpPr>
          <p:cNvPr id="8" name="s3-text-R6 · simple tasks">
            <a:extLst>
              <a:ext uri="{FF2B5EF4-FFF2-40B4-BE49-F238E27FC236}">
                <a16:creationId xmlns:a16="http://schemas.microsoft.com/office/drawing/2014/main" id="{1F11EF5C-242D-7AA1-49E1-F8839F0D532F}"/>
              </a:ext>
            </a:extLst>
          </p:cNvPr>
          <p:cNvSpPr txBox="1"/>
          <p:nvPr/>
        </p:nvSpPr>
        <p:spPr>
          <a:xfrm>
            <a:off x="5539230" y="1118164"/>
            <a:ext cx="1856726" cy="285650"/>
          </a:xfrm>
          <a:prstGeom prst="rect">
            <a:avLst/>
          </a:prstGeom>
          <a:noFill/>
          <a:ln/>
        </p:spPr>
        <p:txBody>
          <a:bodyPr wrap="square" lIns="0" tIns="0" rIns="0" bIns="0" rtlCol="0" anchor="t"/>
          <a:lstStyle/>
          <a:p>
            <a:pPr marL="0" indent="0" algn="l">
              <a:buNone/>
            </a:pPr>
            <a:r>
              <a:rPr lang="en-US" sz="1400" b="1" dirty="0">
                <a:solidFill>
                  <a:srgbClr val="2E3A46"/>
                </a:solidFill>
              </a:rPr>
              <a:t>R6 · </a:t>
            </a:r>
            <a:r>
              <a:rPr lang="en-US" sz="1400" i="1" dirty="0">
                <a:solidFill>
                  <a:srgbClr val="2E3A46"/>
                </a:solidFill>
              </a:rPr>
              <a:t>low complexity tasks</a:t>
            </a:r>
            <a:endParaRPr lang="en-US" sz="1400" i="1" dirty="0"/>
          </a:p>
        </p:txBody>
      </p:sp>
      <p:pic>
        <p:nvPicPr>
          <p:cNvPr id="14" name="s3-patch-R7" descr="/Users/amberwang/Desktop/paper-review/assets/icon-patch.png">
            <a:extLst>
              <a:ext uri="{FF2B5EF4-FFF2-40B4-BE49-F238E27FC236}">
                <a16:creationId xmlns:a16="http://schemas.microsoft.com/office/drawing/2014/main" id="{D657DF28-336A-20D5-467C-4D132232B39B}"/>
              </a:ext>
            </a:extLst>
          </p:cNvPr>
          <p:cNvPicPr>
            <a:picLocks noChangeAspect="1"/>
          </p:cNvPicPr>
          <p:nvPr/>
        </p:nvPicPr>
        <p:blipFill>
          <a:blip r:embed="rId4"/>
          <a:stretch>
            <a:fillRect/>
          </a:stretch>
        </p:blipFill>
        <p:spPr>
          <a:xfrm>
            <a:off x="5154415" y="1575230"/>
            <a:ext cx="263879" cy="298784"/>
          </a:xfrm>
          <a:prstGeom prst="rect">
            <a:avLst/>
          </a:prstGeom>
        </p:spPr>
      </p:pic>
      <p:sp>
        <p:nvSpPr>
          <p:cNvPr id="15" name="s3-text-R7 · documentation">
            <a:extLst>
              <a:ext uri="{FF2B5EF4-FFF2-40B4-BE49-F238E27FC236}">
                <a16:creationId xmlns:a16="http://schemas.microsoft.com/office/drawing/2014/main" id="{93D6C26D-E8B2-F887-51B4-5EE5F126F792}"/>
              </a:ext>
            </a:extLst>
          </p:cNvPr>
          <p:cNvSpPr txBox="1"/>
          <p:nvPr/>
        </p:nvSpPr>
        <p:spPr>
          <a:xfrm>
            <a:off x="5539230" y="1630779"/>
            <a:ext cx="1856726" cy="285650"/>
          </a:xfrm>
          <a:prstGeom prst="rect">
            <a:avLst/>
          </a:prstGeom>
          <a:noFill/>
          <a:ln/>
        </p:spPr>
        <p:txBody>
          <a:bodyPr wrap="square" lIns="0" tIns="0" rIns="0" bIns="0" rtlCol="0" anchor="t"/>
          <a:lstStyle/>
          <a:p>
            <a:pPr marL="0" indent="0" algn="l">
              <a:buNone/>
            </a:pPr>
            <a:r>
              <a:rPr lang="en-US" sz="1400" b="1" dirty="0">
                <a:solidFill>
                  <a:srgbClr val="2E3A46"/>
                </a:solidFill>
              </a:rPr>
              <a:t>R7 · </a:t>
            </a:r>
            <a:r>
              <a:rPr lang="en-US" sz="1400" i="1" dirty="0"/>
              <a:t>documentation</a:t>
            </a:r>
          </a:p>
        </p:txBody>
      </p:sp>
      <p:pic>
        <p:nvPicPr>
          <p:cNvPr id="21" name="s3-patch-R9" descr="/Users/amberwang/Desktop/paper-review/assets/icon-patch.png">
            <a:extLst>
              <a:ext uri="{FF2B5EF4-FFF2-40B4-BE49-F238E27FC236}">
                <a16:creationId xmlns:a16="http://schemas.microsoft.com/office/drawing/2014/main" id="{BF5C5439-5885-EECF-11BB-B3F38139980F}"/>
              </a:ext>
            </a:extLst>
          </p:cNvPr>
          <p:cNvPicPr>
            <a:picLocks noChangeAspect="1"/>
          </p:cNvPicPr>
          <p:nvPr/>
        </p:nvPicPr>
        <p:blipFill>
          <a:blip r:embed="rId4"/>
          <a:stretch>
            <a:fillRect/>
          </a:stretch>
        </p:blipFill>
        <p:spPr>
          <a:xfrm>
            <a:off x="5154415" y="2098433"/>
            <a:ext cx="263879" cy="298784"/>
          </a:xfrm>
          <a:prstGeom prst="rect">
            <a:avLst/>
          </a:prstGeom>
        </p:spPr>
      </p:pic>
      <p:sp>
        <p:nvSpPr>
          <p:cNvPr id="22" name="s3-text-R9 · fewer deletio">
            <a:extLst>
              <a:ext uri="{FF2B5EF4-FFF2-40B4-BE49-F238E27FC236}">
                <a16:creationId xmlns:a16="http://schemas.microsoft.com/office/drawing/2014/main" id="{215B2AAF-0024-7C67-EE5F-33A73B9B16F1}"/>
              </a:ext>
            </a:extLst>
          </p:cNvPr>
          <p:cNvSpPr txBox="1"/>
          <p:nvPr/>
        </p:nvSpPr>
        <p:spPr>
          <a:xfrm>
            <a:off x="5539230" y="2153982"/>
            <a:ext cx="1856726" cy="285650"/>
          </a:xfrm>
          <a:prstGeom prst="rect">
            <a:avLst/>
          </a:prstGeom>
          <a:noFill/>
          <a:ln/>
        </p:spPr>
        <p:txBody>
          <a:bodyPr wrap="square" lIns="0" tIns="0" rIns="0" bIns="0" rtlCol="0" anchor="t"/>
          <a:lstStyle/>
          <a:p>
            <a:r>
              <a:rPr lang="en-US" sz="1400" b="1" dirty="0">
                <a:solidFill>
                  <a:srgbClr val="2E3A46"/>
                </a:solidFill>
              </a:rPr>
              <a:t>R9 · </a:t>
            </a:r>
            <a:r>
              <a:rPr lang="en-CA" sz="1400" i="1" dirty="0"/>
              <a:t>fewer line deletions</a:t>
            </a:r>
            <a:endParaRPr lang="en-CA" sz="1400" dirty="0"/>
          </a:p>
        </p:txBody>
      </p:sp>
      <p:sp>
        <p:nvSpPr>
          <p:cNvPr id="29" name="Slide Number Placeholder 0">
            <a:extLst>
              <a:ext uri="{FF2B5EF4-FFF2-40B4-BE49-F238E27FC236}">
                <a16:creationId xmlns:a16="http://schemas.microsoft.com/office/drawing/2014/main" id="{51F6E7FD-D442-9665-CF12-4209D4909D6A}"/>
              </a:ext>
            </a:extLst>
          </p:cNvPr>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7</a:t>
            </a:fld>
            <a:endParaRPr lang="en-US"/>
          </a:p>
        </p:txBody>
      </p:sp>
      <p:sp>
        <p:nvSpPr>
          <p:cNvPr id="33" name="s3-text-Abstract">
            <a:extLst>
              <a:ext uri="{FF2B5EF4-FFF2-40B4-BE49-F238E27FC236}">
                <a16:creationId xmlns:a16="http://schemas.microsoft.com/office/drawing/2014/main" id="{27A4F6C2-1C57-BD2D-6A9F-465AF6C2DABD}"/>
              </a:ext>
            </a:extLst>
          </p:cNvPr>
          <p:cNvSpPr txBox="1"/>
          <p:nvPr/>
        </p:nvSpPr>
        <p:spPr>
          <a:xfrm>
            <a:off x="1313575" y="1022933"/>
            <a:ext cx="3627302" cy="279614"/>
          </a:xfrm>
          <a:prstGeom prst="rect">
            <a:avLst/>
          </a:prstGeom>
          <a:noFill/>
          <a:ln/>
        </p:spPr>
        <p:txBody>
          <a:bodyPr wrap="square" lIns="0" tIns="0" rIns="0" bIns="0" rtlCol="0" anchor="t"/>
          <a:lstStyle/>
          <a:p>
            <a:pPr marL="0" indent="0">
              <a:buNone/>
            </a:pPr>
            <a:r>
              <a:rPr lang="en-US" sz="2000" i="1" dirty="0">
                <a:solidFill>
                  <a:srgbClr val="9AA5B1"/>
                </a:solidFill>
              </a:rPr>
              <a:t>What they claim:</a:t>
            </a:r>
            <a:endParaRPr lang="en-US" sz="2000" dirty="0"/>
          </a:p>
        </p:txBody>
      </p:sp>
      <p:sp>
        <p:nvSpPr>
          <p:cNvPr id="34" name="s3-text-✗">
            <a:extLst>
              <a:ext uri="{FF2B5EF4-FFF2-40B4-BE49-F238E27FC236}">
                <a16:creationId xmlns:a16="http://schemas.microsoft.com/office/drawing/2014/main" id="{B7BCA309-F270-BA8F-3DAC-19293CA2BC24}"/>
              </a:ext>
            </a:extLst>
          </p:cNvPr>
          <p:cNvSpPr txBox="1"/>
          <p:nvPr/>
        </p:nvSpPr>
        <p:spPr>
          <a:xfrm>
            <a:off x="7331681" y="1018156"/>
            <a:ext cx="309455" cy="385658"/>
          </a:xfrm>
          <a:prstGeom prst="rect">
            <a:avLst/>
          </a:prstGeom>
          <a:noFill/>
          <a:ln/>
        </p:spPr>
        <p:txBody>
          <a:bodyPr wrap="square" lIns="0" tIns="0" rIns="0" bIns="0" rtlCol="0" anchor="ctr"/>
          <a:lstStyle/>
          <a:p>
            <a:pPr marL="0" indent="0" algn="ctr">
              <a:buNone/>
            </a:pPr>
            <a:r>
              <a:rPr lang="en-US" sz="1100" b="1" dirty="0">
                <a:solidFill>
                  <a:srgbClr val="E63946"/>
                </a:solidFill>
              </a:rPr>
              <a:t>✗</a:t>
            </a:r>
            <a:endParaRPr lang="en-US" sz="1100" dirty="0"/>
          </a:p>
        </p:txBody>
      </p:sp>
      <p:pic>
        <p:nvPicPr>
          <p:cNvPr id="41" name="Picture 40">
            <a:extLst>
              <a:ext uri="{FF2B5EF4-FFF2-40B4-BE49-F238E27FC236}">
                <a16:creationId xmlns:a16="http://schemas.microsoft.com/office/drawing/2014/main" id="{4CBFB89C-99B2-528C-3CA2-E7F0E3BE81EC}"/>
              </a:ext>
            </a:extLst>
          </p:cNvPr>
          <p:cNvPicPr>
            <a:picLocks noChangeAspect="1"/>
          </p:cNvPicPr>
          <p:nvPr/>
        </p:nvPicPr>
        <p:blipFill>
          <a:blip r:embed="rId5"/>
          <a:stretch>
            <a:fillRect/>
          </a:stretch>
        </p:blipFill>
        <p:spPr>
          <a:xfrm>
            <a:off x="3883182" y="1348259"/>
            <a:ext cx="983638" cy="983638"/>
          </a:xfrm>
          <a:prstGeom prst="rect">
            <a:avLst/>
          </a:prstGeom>
        </p:spPr>
      </p:pic>
      <p:pic>
        <p:nvPicPr>
          <p:cNvPr id="42" name="Picture 41">
            <a:extLst>
              <a:ext uri="{FF2B5EF4-FFF2-40B4-BE49-F238E27FC236}">
                <a16:creationId xmlns:a16="http://schemas.microsoft.com/office/drawing/2014/main" id="{2D3D36F0-689C-E10D-F7CA-F2E672DD4785}"/>
              </a:ext>
            </a:extLst>
          </p:cNvPr>
          <p:cNvPicPr>
            <a:picLocks noChangeAspect="1"/>
          </p:cNvPicPr>
          <p:nvPr/>
        </p:nvPicPr>
        <p:blipFill>
          <a:blip r:embed="rId6"/>
          <a:stretch>
            <a:fillRect/>
          </a:stretch>
        </p:blipFill>
        <p:spPr>
          <a:xfrm>
            <a:off x="8241938" y="1371230"/>
            <a:ext cx="858515" cy="858515"/>
          </a:xfrm>
          <a:prstGeom prst="rect">
            <a:avLst/>
          </a:prstGeom>
        </p:spPr>
      </p:pic>
      <p:cxnSp>
        <p:nvCxnSpPr>
          <p:cNvPr id="46" name="Straight Arrow Connector 45">
            <a:extLst>
              <a:ext uri="{FF2B5EF4-FFF2-40B4-BE49-F238E27FC236}">
                <a16:creationId xmlns:a16="http://schemas.microsoft.com/office/drawing/2014/main" id="{FAEF096F-CE64-C5B9-8365-D9995196D272}"/>
              </a:ext>
            </a:extLst>
          </p:cNvPr>
          <p:cNvCxnSpPr>
            <a:cxnSpLocks/>
          </p:cNvCxnSpPr>
          <p:nvPr/>
        </p:nvCxnSpPr>
        <p:spPr>
          <a:xfrm flipV="1">
            <a:off x="3883182" y="2836844"/>
            <a:ext cx="5054696" cy="18879"/>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2949AAC-8428-1E42-E558-C13161BFCBCC}"/>
              </a:ext>
            </a:extLst>
          </p:cNvPr>
          <p:cNvSpPr txBox="1"/>
          <p:nvPr/>
        </p:nvSpPr>
        <p:spPr>
          <a:xfrm>
            <a:off x="8937878" y="2682955"/>
            <a:ext cx="904853" cy="307777"/>
          </a:xfrm>
          <a:prstGeom prst="rect">
            <a:avLst/>
          </a:prstGeom>
          <a:noFill/>
        </p:spPr>
        <p:txBody>
          <a:bodyPr wrap="square">
            <a:spAutoFit/>
          </a:bodyPr>
          <a:lstStyle/>
          <a:p>
            <a:r>
              <a:rPr lang="en-US" sz="1400" dirty="0">
                <a:solidFill>
                  <a:schemeClr val="accent1"/>
                </a:solidFill>
              </a:rPr>
              <a:t>Time</a:t>
            </a:r>
          </a:p>
        </p:txBody>
      </p:sp>
      <p:sp>
        <p:nvSpPr>
          <p:cNvPr id="4" name="s3-text-✗">
            <a:extLst>
              <a:ext uri="{FF2B5EF4-FFF2-40B4-BE49-F238E27FC236}">
                <a16:creationId xmlns:a16="http://schemas.microsoft.com/office/drawing/2014/main" id="{CAA46037-8B1F-2702-DF1E-288AE0996920}"/>
              </a:ext>
            </a:extLst>
          </p:cNvPr>
          <p:cNvSpPr txBox="1"/>
          <p:nvPr/>
        </p:nvSpPr>
        <p:spPr>
          <a:xfrm>
            <a:off x="6977122" y="1545553"/>
            <a:ext cx="309455" cy="385658"/>
          </a:xfrm>
          <a:prstGeom prst="rect">
            <a:avLst/>
          </a:prstGeom>
          <a:noFill/>
          <a:ln/>
        </p:spPr>
        <p:txBody>
          <a:bodyPr wrap="square" lIns="0" tIns="0" rIns="0" bIns="0" rtlCol="0" anchor="ctr"/>
          <a:lstStyle/>
          <a:p>
            <a:pPr marL="0" indent="0" algn="ctr">
              <a:buNone/>
            </a:pPr>
            <a:r>
              <a:rPr lang="en-US" sz="1100" b="1" dirty="0">
                <a:solidFill>
                  <a:srgbClr val="E63946"/>
                </a:solidFill>
              </a:rPr>
              <a:t>✗</a:t>
            </a:r>
            <a:endParaRPr lang="en-US" sz="1100" dirty="0"/>
          </a:p>
        </p:txBody>
      </p:sp>
      <p:sp>
        <p:nvSpPr>
          <p:cNvPr id="5" name="s3-text-✗">
            <a:extLst>
              <a:ext uri="{FF2B5EF4-FFF2-40B4-BE49-F238E27FC236}">
                <a16:creationId xmlns:a16="http://schemas.microsoft.com/office/drawing/2014/main" id="{E748215F-97F5-738D-F3B0-5F221FD24C99}"/>
              </a:ext>
            </a:extLst>
          </p:cNvPr>
          <p:cNvSpPr txBox="1"/>
          <p:nvPr/>
        </p:nvSpPr>
        <p:spPr>
          <a:xfrm>
            <a:off x="7207437" y="2066879"/>
            <a:ext cx="309455" cy="385658"/>
          </a:xfrm>
          <a:prstGeom prst="rect">
            <a:avLst/>
          </a:prstGeom>
          <a:noFill/>
          <a:ln/>
        </p:spPr>
        <p:txBody>
          <a:bodyPr wrap="square" lIns="0" tIns="0" rIns="0" bIns="0" rtlCol="0" anchor="ctr"/>
          <a:lstStyle/>
          <a:p>
            <a:pPr marL="0" indent="0" algn="ctr">
              <a:buNone/>
            </a:pPr>
            <a:r>
              <a:rPr lang="en-US" sz="1100" b="1" dirty="0">
                <a:solidFill>
                  <a:srgbClr val="E63946"/>
                </a:solidFill>
              </a:rPr>
              <a:t>✗</a:t>
            </a:r>
            <a:endParaRPr lang="en-US" sz="1100" dirty="0"/>
          </a:p>
        </p:txBody>
      </p:sp>
      <p:sp>
        <p:nvSpPr>
          <p:cNvPr id="12" name="s3-text-Abstract">
            <a:extLst>
              <a:ext uri="{FF2B5EF4-FFF2-40B4-BE49-F238E27FC236}">
                <a16:creationId xmlns:a16="http://schemas.microsoft.com/office/drawing/2014/main" id="{1B6BAE38-17C4-8685-8165-1D8B7D29B88E}"/>
              </a:ext>
            </a:extLst>
          </p:cNvPr>
          <p:cNvSpPr txBox="1"/>
          <p:nvPr/>
        </p:nvSpPr>
        <p:spPr>
          <a:xfrm>
            <a:off x="1271541" y="3501892"/>
            <a:ext cx="3627302" cy="279614"/>
          </a:xfrm>
          <a:prstGeom prst="rect">
            <a:avLst/>
          </a:prstGeom>
          <a:noFill/>
          <a:ln/>
        </p:spPr>
        <p:txBody>
          <a:bodyPr wrap="square" lIns="0" tIns="0" rIns="0" bIns="0" rtlCol="0" anchor="t"/>
          <a:lstStyle/>
          <a:p>
            <a:pPr marL="0" indent="0">
              <a:buNone/>
            </a:pPr>
            <a:r>
              <a:rPr lang="en-US" sz="2000" i="1" dirty="0">
                <a:solidFill>
                  <a:srgbClr val="9AA5B1"/>
                </a:solidFill>
              </a:rPr>
              <a:t>What they measure: </a:t>
            </a:r>
          </a:p>
          <a:p>
            <a:pPr marL="0" indent="0">
              <a:buNone/>
            </a:pPr>
            <a:endParaRPr lang="en-US" sz="2000" dirty="0"/>
          </a:p>
        </p:txBody>
      </p:sp>
      <p:sp>
        <p:nvSpPr>
          <p:cNvPr id="13" name="TextBox 12">
            <a:extLst>
              <a:ext uri="{FF2B5EF4-FFF2-40B4-BE49-F238E27FC236}">
                <a16:creationId xmlns:a16="http://schemas.microsoft.com/office/drawing/2014/main" id="{1A03CD5F-4E9E-1E30-8D9F-63F64AE2016B}"/>
              </a:ext>
            </a:extLst>
          </p:cNvPr>
          <p:cNvSpPr txBox="1"/>
          <p:nvPr/>
        </p:nvSpPr>
        <p:spPr>
          <a:xfrm>
            <a:off x="3666136" y="2370636"/>
            <a:ext cx="1071191" cy="338554"/>
          </a:xfrm>
          <a:prstGeom prst="rect">
            <a:avLst/>
          </a:prstGeom>
          <a:noFill/>
        </p:spPr>
        <p:txBody>
          <a:bodyPr wrap="none" rtlCol="0">
            <a:spAutoFit/>
          </a:bodyPr>
          <a:lstStyle/>
          <a:p>
            <a:r>
              <a:rPr lang="en-US" sz="1600" dirty="0"/>
              <a:t>newcomer</a:t>
            </a:r>
          </a:p>
        </p:txBody>
      </p:sp>
      <p:sp>
        <p:nvSpPr>
          <p:cNvPr id="16" name="TextBox 15">
            <a:extLst>
              <a:ext uri="{FF2B5EF4-FFF2-40B4-BE49-F238E27FC236}">
                <a16:creationId xmlns:a16="http://schemas.microsoft.com/office/drawing/2014/main" id="{96D5B269-4316-AEBA-5969-AD644EC37490}"/>
              </a:ext>
            </a:extLst>
          </p:cNvPr>
          <p:cNvSpPr txBox="1"/>
          <p:nvPr/>
        </p:nvSpPr>
        <p:spPr>
          <a:xfrm>
            <a:off x="7783497" y="2283260"/>
            <a:ext cx="2396248" cy="338554"/>
          </a:xfrm>
          <a:prstGeom prst="rect">
            <a:avLst/>
          </a:prstGeom>
          <a:noFill/>
        </p:spPr>
        <p:txBody>
          <a:bodyPr wrap="square" rtlCol="0">
            <a:spAutoFit/>
          </a:bodyPr>
          <a:lstStyle/>
          <a:p>
            <a:r>
              <a:rPr lang="en-US" sz="1600" dirty="0"/>
              <a:t>Long term contributor </a:t>
            </a:r>
          </a:p>
        </p:txBody>
      </p:sp>
      <p:pic>
        <p:nvPicPr>
          <p:cNvPr id="20" name="Picture 19">
            <a:extLst>
              <a:ext uri="{FF2B5EF4-FFF2-40B4-BE49-F238E27FC236}">
                <a16:creationId xmlns:a16="http://schemas.microsoft.com/office/drawing/2014/main" id="{75C440D7-CB72-25EE-ABAF-878AA2567A9D}"/>
              </a:ext>
            </a:extLst>
          </p:cNvPr>
          <p:cNvPicPr>
            <a:picLocks noChangeAspect="1"/>
          </p:cNvPicPr>
          <p:nvPr/>
        </p:nvPicPr>
        <p:blipFill>
          <a:blip r:embed="rId5"/>
          <a:stretch>
            <a:fillRect/>
          </a:stretch>
        </p:blipFill>
        <p:spPr>
          <a:xfrm>
            <a:off x="3575254" y="3985827"/>
            <a:ext cx="983638" cy="983638"/>
          </a:xfrm>
          <a:prstGeom prst="rect">
            <a:avLst/>
          </a:prstGeom>
        </p:spPr>
      </p:pic>
      <p:sp>
        <p:nvSpPr>
          <p:cNvPr id="23" name="TextBox 22">
            <a:extLst>
              <a:ext uri="{FF2B5EF4-FFF2-40B4-BE49-F238E27FC236}">
                <a16:creationId xmlns:a16="http://schemas.microsoft.com/office/drawing/2014/main" id="{CEAA08A8-DF27-3C59-1EE7-EEA65B40BA2C}"/>
              </a:ext>
            </a:extLst>
          </p:cNvPr>
          <p:cNvSpPr txBox="1"/>
          <p:nvPr/>
        </p:nvSpPr>
        <p:spPr>
          <a:xfrm>
            <a:off x="2961110" y="5021645"/>
            <a:ext cx="2093971" cy="338554"/>
          </a:xfrm>
          <a:prstGeom prst="rect">
            <a:avLst/>
          </a:prstGeom>
          <a:noFill/>
        </p:spPr>
        <p:txBody>
          <a:bodyPr wrap="none" rtlCol="0">
            <a:spAutoFit/>
          </a:bodyPr>
          <a:lstStyle/>
          <a:p>
            <a:r>
              <a:rPr lang="en-US" sz="1600" dirty="0"/>
              <a:t>No accepted patch yet </a:t>
            </a:r>
          </a:p>
        </p:txBody>
      </p:sp>
      <p:pic>
        <p:nvPicPr>
          <p:cNvPr id="24" name="Picture 23">
            <a:extLst>
              <a:ext uri="{FF2B5EF4-FFF2-40B4-BE49-F238E27FC236}">
                <a16:creationId xmlns:a16="http://schemas.microsoft.com/office/drawing/2014/main" id="{79F175AE-0696-8086-FA28-901DEC081670}"/>
              </a:ext>
            </a:extLst>
          </p:cNvPr>
          <p:cNvPicPr>
            <a:picLocks noChangeAspect="1"/>
          </p:cNvPicPr>
          <p:nvPr/>
        </p:nvPicPr>
        <p:blipFill>
          <a:blip r:embed="rId6"/>
          <a:stretch>
            <a:fillRect/>
          </a:stretch>
        </p:blipFill>
        <p:spPr>
          <a:xfrm>
            <a:off x="3357753" y="5509741"/>
            <a:ext cx="843978" cy="843978"/>
          </a:xfrm>
          <a:prstGeom prst="rect">
            <a:avLst/>
          </a:prstGeom>
        </p:spPr>
      </p:pic>
      <p:sp>
        <p:nvSpPr>
          <p:cNvPr id="25" name="TextBox 24">
            <a:extLst>
              <a:ext uri="{FF2B5EF4-FFF2-40B4-BE49-F238E27FC236}">
                <a16:creationId xmlns:a16="http://schemas.microsoft.com/office/drawing/2014/main" id="{15006B73-7DD6-5E7A-256B-4159568ABFE9}"/>
              </a:ext>
            </a:extLst>
          </p:cNvPr>
          <p:cNvSpPr txBox="1"/>
          <p:nvPr/>
        </p:nvSpPr>
        <p:spPr>
          <a:xfrm>
            <a:off x="2976581" y="6353719"/>
            <a:ext cx="2396248" cy="338554"/>
          </a:xfrm>
          <a:prstGeom prst="rect">
            <a:avLst/>
          </a:prstGeom>
          <a:noFill/>
        </p:spPr>
        <p:txBody>
          <a:bodyPr wrap="square" rtlCol="0">
            <a:spAutoFit/>
          </a:bodyPr>
          <a:lstStyle/>
          <a:p>
            <a:r>
              <a:rPr lang="en-US" sz="1600" dirty="0"/>
              <a:t>Have accepted patch </a:t>
            </a:r>
          </a:p>
        </p:txBody>
      </p:sp>
      <p:sp>
        <p:nvSpPr>
          <p:cNvPr id="27" name="s3-card-R6">
            <a:extLst>
              <a:ext uri="{FF2B5EF4-FFF2-40B4-BE49-F238E27FC236}">
                <a16:creationId xmlns:a16="http://schemas.microsoft.com/office/drawing/2014/main" id="{3FEDB86A-3912-C591-FDCC-A98B2DDAAE8A}"/>
              </a:ext>
            </a:extLst>
          </p:cNvPr>
          <p:cNvSpPr/>
          <p:nvPr/>
        </p:nvSpPr>
        <p:spPr>
          <a:xfrm>
            <a:off x="7055699" y="4155835"/>
            <a:ext cx="2584524" cy="1758075"/>
          </a:xfrm>
          <a:prstGeom prst="roundRect">
            <a:avLst>
              <a:gd name="adj" fmla="val 4324"/>
            </a:avLst>
          </a:prstGeom>
          <a:solidFill>
            <a:srgbClr val="EEF3F8"/>
          </a:solidFill>
          <a:ln w="12700">
            <a:solidFill>
              <a:srgbClr val="9AA5B1"/>
            </a:solidFill>
            <a:prstDash val="solid"/>
          </a:ln>
        </p:spPr>
        <p:txBody>
          <a:bodyPr/>
          <a:lstStyle/>
          <a:p>
            <a:endParaRPr lang="en-US" sz="1100"/>
          </a:p>
        </p:txBody>
      </p:sp>
      <p:pic>
        <p:nvPicPr>
          <p:cNvPr id="28" name="s3-patch-R6" descr="/Users/amberwang/Desktop/paper-review/assets/icon-patch.png">
            <a:extLst>
              <a:ext uri="{FF2B5EF4-FFF2-40B4-BE49-F238E27FC236}">
                <a16:creationId xmlns:a16="http://schemas.microsoft.com/office/drawing/2014/main" id="{F65B97A5-CD3D-7C85-D4ED-19906EA67CCA}"/>
              </a:ext>
            </a:extLst>
          </p:cNvPr>
          <p:cNvPicPr>
            <a:picLocks noChangeAspect="1"/>
          </p:cNvPicPr>
          <p:nvPr/>
        </p:nvPicPr>
        <p:blipFill>
          <a:blip r:embed="rId4"/>
          <a:stretch>
            <a:fillRect/>
          </a:stretch>
        </p:blipFill>
        <p:spPr>
          <a:xfrm>
            <a:off x="7132077" y="4373407"/>
            <a:ext cx="263879" cy="298784"/>
          </a:xfrm>
          <a:prstGeom prst="rect">
            <a:avLst/>
          </a:prstGeom>
        </p:spPr>
      </p:pic>
      <p:sp>
        <p:nvSpPr>
          <p:cNvPr id="30" name="s3-text-R6 · simple tasks">
            <a:extLst>
              <a:ext uri="{FF2B5EF4-FFF2-40B4-BE49-F238E27FC236}">
                <a16:creationId xmlns:a16="http://schemas.microsoft.com/office/drawing/2014/main" id="{AA93C701-0493-6F01-753C-F37AF5FE5518}"/>
              </a:ext>
            </a:extLst>
          </p:cNvPr>
          <p:cNvSpPr txBox="1"/>
          <p:nvPr/>
        </p:nvSpPr>
        <p:spPr>
          <a:xfrm>
            <a:off x="7516892" y="4428956"/>
            <a:ext cx="1856726" cy="285650"/>
          </a:xfrm>
          <a:prstGeom prst="rect">
            <a:avLst/>
          </a:prstGeom>
          <a:noFill/>
          <a:ln/>
        </p:spPr>
        <p:txBody>
          <a:bodyPr wrap="square" lIns="0" tIns="0" rIns="0" bIns="0" rtlCol="0" anchor="t"/>
          <a:lstStyle/>
          <a:p>
            <a:pPr marL="0" indent="0" algn="l">
              <a:buNone/>
            </a:pPr>
            <a:r>
              <a:rPr lang="en-US" sz="1400" b="1" dirty="0">
                <a:solidFill>
                  <a:srgbClr val="2E3A46"/>
                </a:solidFill>
              </a:rPr>
              <a:t>R6 · </a:t>
            </a:r>
            <a:r>
              <a:rPr lang="en-US" sz="1400" i="1" dirty="0">
                <a:solidFill>
                  <a:srgbClr val="2E3A46"/>
                </a:solidFill>
              </a:rPr>
              <a:t>low complexity tasks</a:t>
            </a:r>
            <a:endParaRPr lang="en-US" sz="1400" i="1" dirty="0"/>
          </a:p>
        </p:txBody>
      </p:sp>
      <p:pic>
        <p:nvPicPr>
          <p:cNvPr id="31" name="s3-patch-R7" descr="/Users/amberwang/Desktop/paper-review/assets/icon-patch.png">
            <a:extLst>
              <a:ext uri="{FF2B5EF4-FFF2-40B4-BE49-F238E27FC236}">
                <a16:creationId xmlns:a16="http://schemas.microsoft.com/office/drawing/2014/main" id="{52456CAE-0755-A40F-CEC1-5E1C0503744A}"/>
              </a:ext>
            </a:extLst>
          </p:cNvPr>
          <p:cNvPicPr>
            <a:picLocks noChangeAspect="1"/>
          </p:cNvPicPr>
          <p:nvPr/>
        </p:nvPicPr>
        <p:blipFill>
          <a:blip r:embed="rId4"/>
          <a:stretch>
            <a:fillRect/>
          </a:stretch>
        </p:blipFill>
        <p:spPr>
          <a:xfrm>
            <a:off x="7132077" y="4886022"/>
            <a:ext cx="263879" cy="298784"/>
          </a:xfrm>
          <a:prstGeom prst="rect">
            <a:avLst/>
          </a:prstGeom>
        </p:spPr>
      </p:pic>
      <p:sp>
        <p:nvSpPr>
          <p:cNvPr id="32" name="s3-text-R7 · documentation">
            <a:extLst>
              <a:ext uri="{FF2B5EF4-FFF2-40B4-BE49-F238E27FC236}">
                <a16:creationId xmlns:a16="http://schemas.microsoft.com/office/drawing/2014/main" id="{5292DE17-FCE4-EA3D-937F-0C9334F1CFAA}"/>
              </a:ext>
            </a:extLst>
          </p:cNvPr>
          <p:cNvSpPr txBox="1"/>
          <p:nvPr/>
        </p:nvSpPr>
        <p:spPr>
          <a:xfrm>
            <a:off x="7516892" y="4941571"/>
            <a:ext cx="1856726" cy="285650"/>
          </a:xfrm>
          <a:prstGeom prst="rect">
            <a:avLst/>
          </a:prstGeom>
          <a:noFill/>
          <a:ln/>
        </p:spPr>
        <p:txBody>
          <a:bodyPr wrap="square" lIns="0" tIns="0" rIns="0" bIns="0" rtlCol="0" anchor="t"/>
          <a:lstStyle/>
          <a:p>
            <a:pPr marL="0" indent="0" algn="l">
              <a:buNone/>
            </a:pPr>
            <a:r>
              <a:rPr lang="en-US" sz="1400" b="1" dirty="0">
                <a:solidFill>
                  <a:srgbClr val="2E3A46"/>
                </a:solidFill>
              </a:rPr>
              <a:t>R7 · </a:t>
            </a:r>
            <a:r>
              <a:rPr lang="en-US" sz="1400" i="1" dirty="0"/>
              <a:t>documentation</a:t>
            </a:r>
          </a:p>
        </p:txBody>
      </p:sp>
      <p:pic>
        <p:nvPicPr>
          <p:cNvPr id="38" name="s3-patch-R9" descr="/Users/amberwang/Desktop/paper-review/assets/icon-patch.png">
            <a:extLst>
              <a:ext uri="{FF2B5EF4-FFF2-40B4-BE49-F238E27FC236}">
                <a16:creationId xmlns:a16="http://schemas.microsoft.com/office/drawing/2014/main" id="{F93A304E-CF21-BAD9-4CAA-CDF69A4DFDEF}"/>
              </a:ext>
            </a:extLst>
          </p:cNvPr>
          <p:cNvPicPr>
            <a:picLocks noChangeAspect="1"/>
          </p:cNvPicPr>
          <p:nvPr/>
        </p:nvPicPr>
        <p:blipFill>
          <a:blip r:embed="rId4"/>
          <a:stretch>
            <a:fillRect/>
          </a:stretch>
        </p:blipFill>
        <p:spPr>
          <a:xfrm>
            <a:off x="7132077" y="5409225"/>
            <a:ext cx="263879" cy="298784"/>
          </a:xfrm>
          <a:prstGeom prst="rect">
            <a:avLst/>
          </a:prstGeom>
        </p:spPr>
      </p:pic>
      <p:sp>
        <p:nvSpPr>
          <p:cNvPr id="39" name="s3-text-R9 · fewer deletio">
            <a:extLst>
              <a:ext uri="{FF2B5EF4-FFF2-40B4-BE49-F238E27FC236}">
                <a16:creationId xmlns:a16="http://schemas.microsoft.com/office/drawing/2014/main" id="{B2F4BDBD-BAE9-7A52-BE9E-A0CCB1A0BCDE}"/>
              </a:ext>
            </a:extLst>
          </p:cNvPr>
          <p:cNvSpPr txBox="1"/>
          <p:nvPr/>
        </p:nvSpPr>
        <p:spPr>
          <a:xfrm>
            <a:off x="7516892" y="5464774"/>
            <a:ext cx="1856726" cy="285650"/>
          </a:xfrm>
          <a:prstGeom prst="rect">
            <a:avLst/>
          </a:prstGeom>
          <a:noFill/>
          <a:ln/>
        </p:spPr>
        <p:txBody>
          <a:bodyPr wrap="square" lIns="0" tIns="0" rIns="0" bIns="0" rtlCol="0" anchor="t"/>
          <a:lstStyle/>
          <a:p>
            <a:r>
              <a:rPr lang="en-US" sz="1400" b="1" dirty="0">
                <a:solidFill>
                  <a:srgbClr val="2E3A46"/>
                </a:solidFill>
              </a:rPr>
              <a:t>R9 · </a:t>
            </a:r>
            <a:r>
              <a:rPr lang="en-CA" sz="1400" i="1" dirty="0"/>
              <a:t>fewer line deletions</a:t>
            </a:r>
            <a:endParaRPr lang="en-CA" sz="1400" dirty="0"/>
          </a:p>
        </p:txBody>
      </p:sp>
      <p:cxnSp>
        <p:nvCxnSpPr>
          <p:cNvPr id="49" name="Straight Arrow Connector 48">
            <a:extLst>
              <a:ext uri="{FF2B5EF4-FFF2-40B4-BE49-F238E27FC236}">
                <a16:creationId xmlns:a16="http://schemas.microsoft.com/office/drawing/2014/main" id="{0D8B8C49-7A1E-DF63-A870-3A231D9CEC6E}"/>
              </a:ext>
            </a:extLst>
          </p:cNvPr>
          <p:cNvCxnSpPr>
            <a:cxnSpLocks/>
          </p:cNvCxnSpPr>
          <p:nvPr/>
        </p:nvCxnSpPr>
        <p:spPr>
          <a:xfrm flipV="1">
            <a:off x="4558892" y="4538942"/>
            <a:ext cx="2496807" cy="751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D2A487E-A38C-63E0-3133-F84E46C7C15C}"/>
              </a:ext>
            </a:extLst>
          </p:cNvPr>
          <p:cNvCxnSpPr>
            <a:cxnSpLocks/>
            <a:endCxn id="27" idx="1"/>
          </p:cNvCxnSpPr>
          <p:nvPr/>
        </p:nvCxnSpPr>
        <p:spPr>
          <a:xfrm>
            <a:off x="4558892" y="4626230"/>
            <a:ext cx="2496807" cy="408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B8958F4-1182-C514-7AEB-174F4C3C17D4}"/>
              </a:ext>
            </a:extLst>
          </p:cNvPr>
          <p:cNvCxnSpPr>
            <a:cxnSpLocks/>
          </p:cNvCxnSpPr>
          <p:nvPr/>
        </p:nvCxnSpPr>
        <p:spPr>
          <a:xfrm>
            <a:off x="4558892" y="4614132"/>
            <a:ext cx="2496807" cy="9704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B8A0154-D06A-D15D-E6ED-81CD4E02A141}"/>
              </a:ext>
            </a:extLst>
          </p:cNvPr>
          <p:cNvCxnSpPr>
            <a:cxnSpLocks/>
          </p:cNvCxnSpPr>
          <p:nvPr/>
        </p:nvCxnSpPr>
        <p:spPr>
          <a:xfrm flipV="1">
            <a:off x="4635270" y="4577188"/>
            <a:ext cx="2420429" cy="13609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EAA2BF47-B993-DD07-81C5-6DB79201AFBC}"/>
              </a:ext>
            </a:extLst>
          </p:cNvPr>
          <p:cNvCxnSpPr>
            <a:cxnSpLocks/>
            <a:endCxn id="27" idx="1"/>
          </p:cNvCxnSpPr>
          <p:nvPr/>
        </p:nvCxnSpPr>
        <p:spPr>
          <a:xfrm flipV="1">
            <a:off x="4635270" y="5034873"/>
            <a:ext cx="2420429" cy="9159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25E0BCE-6227-A2DF-724F-88397521522A}"/>
              </a:ext>
            </a:extLst>
          </p:cNvPr>
          <p:cNvCxnSpPr>
            <a:cxnSpLocks/>
          </p:cNvCxnSpPr>
          <p:nvPr/>
        </p:nvCxnSpPr>
        <p:spPr>
          <a:xfrm flipV="1">
            <a:off x="4635270" y="5600418"/>
            <a:ext cx="2375871" cy="361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CFDEB965-A60A-D571-5BA8-A1C70981CA5B}"/>
              </a:ext>
            </a:extLst>
          </p:cNvPr>
          <p:cNvSpPr txBox="1"/>
          <p:nvPr/>
        </p:nvSpPr>
        <p:spPr>
          <a:xfrm>
            <a:off x="5140940" y="4950603"/>
            <a:ext cx="1620444" cy="338554"/>
          </a:xfrm>
          <a:prstGeom prst="rect">
            <a:avLst/>
          </a:prstGeom>
          <a:solidFill>
            <a:schemeClr val="accent4">
              <a:lumMod val="20000"/>
              <a:lumOff val="80000"/>
            </a:schemeClr>
          </a:solidFill>
        </p:spPr>
        <p:txBody>
          <a:bodyPr wrap="square" rtlCol="0">
            <a:spAutoFit/>
          </a:bodyPr>
          <a:lstStyle/>
          <a:p>
            <a:r>
              <a:rPr lang="en-US" sz="1600" dirty="0"/>
              <a:t>Acceptance rate?</a:t>
            </a:r>
          </a:p>
        </p:txBody>
      </p:sp>
      <p:sp>
        <p:nvSpPr>
          <p:cNvPr id="69" name="Frame 68">
            <a:extLst>
              <a:ext uri="{FF2B5EF4-FFF2-40B4-BE49-F238E27FC236}">
                <a16:creationId xmlns:a16="http://schemas.microsoft.com/office/drawing/2014/main" id="{4FAAD75F-29F7-F828-3C74-15E85C4360AF}"/>
              </a:ext>
            </a:extLst>
          </p:cNvPr>
          <p:cNvSpPr/>
          <p:nvPr/>
        </p:nvSpPr>
        <p:spPr>
          <a:xfrm>
            <a:off x="7783497" y="2317212"/>
            <a:ext cx="981002" cy="338554"/>
          </a:xfrm>
          <a:prstGeom prst="fram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ext 0">
            <a:extLst>
              <a:ext uri="{FF2B5EF4-FFF2-40B4-BE49-F238E27FC236}">
                <a16:creationId xmlns:a16="http://schemas.microsoft.com/office/drawing/2014/main" id="{65B18AAA-737C-4FF7-DD29-8CC10824AA1F}"/>
              </a:ext>
            </a:extLst>
          </p:cNvPr>
          <p:cNvSpPr txBox="1">
            <a:spLocks/>
          </p:cNvSpPr>
          <p:nvPr/>
        </p:nvSpPr>
        <p:spPr>
          <a:xfrm>
            <a:off x="396240" y="218959"/>
            <a:ext cx="10058400" cy="535545"/>
          </a:xfrm>
          <a:prstGeom prst="rect">
            <a:avLst/>
          </a:prstGeom>
          <a:noFill/>
          <a:ln/>
        </p:spPr>
        <p:txBody>
          <a:bodyPr wrap="square" lIns="0" tIns="0" rIns="0" bIns="0" rtlCol="0" anchor="t"/>
          <a:lstStyle>
            <a:lvl1pPr marL="0" indent="0" algn="l" defTabSz="914400" rtl="0" eaLnBrk="1" latinLnBrk="0" hangingPunct="1">
              <a:spcBef>
                <a:spcPct val="0"/>
              </a:spcBef>
              <a:buNone/>
              <a:defRPr lang="en-US" sz="2800" b="1" kern="1200" dirty="0">
                <a:solidFill>
                  <a:srgbClr val="2E3A46"/>
                </a:solidFill>
                <a:latin typeface="+mj-lt"/>
                <a:ea typeface="+mj-ea"/>
                <a:cs typeface="+mj-cs"/>
              </a:defRPr>
            </a:lvl1pPr>
          </a:lstStyle>
          <a:p>
            <a:r>
              <a:rPr lang="en-CA" dirty="0"/>
              <a:t>“Long term” Claim with No Evidence   </a:t>
            </a:r>
          </a:p>
        </p:txBody>
      </p:sp>
      <p:sp>
        <p:nvSpPr>
          <p:cNvPr id="11" name="Frame 10">
            <a:extLst>
              <a:ext uri="{FF2B5EF4-FFF2-40B4-BE49-F238E27FC236}">
                <a16:creationId xmlns:a16="http://schemas.microsoft.com/office/drawing/2014/main" id="{0E9AF080-DA83-DF10-E53A-2EBCA065E280}"/>
              </a:ext>
            </a:extLst>
          </p:cNvPr>
          <p:cNvSpPr/>
          <p:nvPr/>
        </p:nvSpPr>
        <p:spPr>
          <a:xfrm>
            <a:off x="5154414" y="4950603"/>
            <a:ext cx="1651527" cy="338554"/>
          </a:xfrm>
          <a:prstGeom prst="fram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65431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8</a:t>
            </a:fld>
            <a:endParaRPr lang="en-US"/>
          </a:p>
        </p:txBody>
      </p:sp>
      <p:sp>
        <p:nvSpPr>
          <p:cNvPr id="24" name="Title 23">
            <a:extLst>
              <a:ext uri="{FF2B5EF4-FFF2-40B4-BE49-F238E27FC236}">
                <a16:creationId xmlns:a16="http://schemas.microsoft.com/office/drawing/2014/main" id="{F4BD38FC-1656-C81B-D1BE-CFE62D61D819}"/>
              </a:ext>
            </a:extLst>
          </p:cNvPr>
          <p:cNvSpPr>
            <a:spLocks noGrp="1"/>
          </p:cNvSpPr>
          <p:nvPr>
            <p:ph type="title" idx="100"/>
          </p:nvPr>
        </p:nvSpPr>
        <p:spPr/>
        <p:txBody>
          <a:bodyPr/>
          <a:lstStyle/>
          <a:p>
            <a:r>
              <a:rPr lang="en-CA" dirty="0"/>
              <a:t>Overstate the practical importance </a:t>
            </a: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63EF3-5071-D435-0CC9-75DA4D688B77}"/>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A2DC1B96-A3B1-4E1A-72FF-E12A36452A15}"/>
              </a:ext>
            </a:extLst>
          </p:cNvPr>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9</a:t>
            </a:fld>
            <a:endParaRPr lang="en-US"/>
          </a:p>
        </p:txBody>
      </p:sp>
      <p:sp>
        <p:nvSpPr>
          <p:cNvPr id="24" name="Title 23">
            <a:extLst>
              <a:ext uri="{FF2B5EF4-FFF2-40B4-BE49-F238E27FC236}">
                <a16:creationId xmlns:a16="http://schemas.microsoft.com/office/drawing/2014/main" id="{1D210F63-F13F-483A-AD14-82C279D1352E}"/>
              </a:ext>
            </a:extLst>
          </p:cNvPr>
          <p:cNvSpPr>
            <a:spLocks noGrp="1"/>
          </p:cNvSpPr>
          <p:nvPr>
            <p:ph type="title" idx="100"/>
          </p:nvPr>
        </p:nvSpPr>
        <p:spPr/>
        <p:txBody>
          <a:bodyPr/>
          <a:lstStyle/>
          <a:p>
            <a:r>
              <a:rPr lang="en-CA" dirty="0"/>
              <a:t>Overstate the practical importance </a:t>
            </a:r>
            <a:endParaRPr lang="en-US" dirty="0"/>
          </a:p>
        </p:txBody>
      </p:sp>
    </p:spTree>
    <p:extLst>
      <p:ext uri="{BB962C8B-B14F-4D97-AF65-F5344CB8AC3E}">
        <p14:creationId xmlns:p14="http://schemas.microsoft.com/office/powerpoint/2010/main" val="38038719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8E4E5-7E05-F90B-BA4F-BC7FA07837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96EA637-27C4-191C-9D95-B33CE86C1672}"/>
              </a:ext>
            </a:extLst>
          </p:cNvPr>
          <p:cNvSpPr>
            <a:spLocks noGrp="1"/>
          </p:cNvSpPr>
          <p:nvPr>
            <p:ph type="title" idx="100" hasCustomPrompt="1"/>
          </p:nvPr>
        </p:nvSpPr>
        <p:spPr>
          <a:xfrm>
            <a:off x="457200" y="274320"/>
            <a:ext cx="10058400" cy="1463040"/>
          </a:xfrm>
          <a:prstGeom prst="rect">
            <a:avLst/>
          </a:prstGeom>
          <a:noFill/>
          <a:ln/>
        </p:spPr>
        <p:txBody>
          <a:bodyPr wrap="square" lIns="0" tIns="0" rIns="0" bIns="0" rtlCol="0" anchor="t"/>
          <a:lstStyle/>
          <a:p>
            <a:pPr marL="0" indent="0" algn="l">
              <a:buNone/>
            </a:pPr>
            <a:r>
              <a:rPr lang="en-US" sz="2800" b="1" dirty="0">
                <a:solidFill>
                  <a:srgbClr val="2E3A46"/>
                </a:solidFill>
              </a:rPr>
              <a:t>The abstract reports four recommendations with “significant negative associations”, and every one rests on an odds ratio of 0.999 or 1.001</a:t>
            </a:r>
            <a:endParaRPr lang="en-US" sz="2800" dirty="0"/>
          </a:p>
        </p:txBody>
      </p:sp>
      <p:pic>
        <p:nvPicPr>
          <p:cNvPr id="3" name="thr-construct" descr="/Users/amberwang/Desktop/paper-review/assets/thr-construct.png">
            <a:extLst>
              <a:ext uri="{FF2B5EF4-FFF2-40B4-BE49-F238E27FC236}">
                <a16:creationId xmlns:a16="http://schemas.microsoft.com/office/drawing/2014/main" id="{B2797BB6-B8BF-5331-1D4D-193DDEC4F6AE}"/>
              </a:ext>
            </a:extLst>
          </p:cNvPr>
          <p:cNvPicPr>
            <a:picLocks noChangeAspect="1"/>
          </p:cNvPicPr>
          <p:nvPr/>
        </p:nvPicPr>
        <p:blipFill>
          <a:blip r:embed="rId3"/>
          <a:stretch>
            <a:fillRect/>
          </a:stretch>
        </p:blipFill>
        <p:spPr>
          <a:xfrm>
            <a:off x="5020056" y="6013791"/>
            <a:ext cx="502920" cy="453978"/>
          </a:xfrm>
          <a:prstGeom prst="rect">
            <a:avLst/>
          </a:prstGeom>
        </p:spPr>
      </p:pic>
      <p:sp>
        <p:nvSpPr>
          <p:cNvPr id="4" name="mark-thr-construct">
            <a:extLst>
              <a:ext uri="{FF2B5EF4-FFF2-40B4-BE49-F238E27FC236}">
                <a16:creationId xmlns:a16="http://schemas.microsoft.com/office/drawing/2014/main" id="{5BC53ABF-E4DB-F971-5ACF-2064106CC430}"/>
              </a:ext>
            </a:extLst>
          </p:cNvPr>
          <p:cNvSpPr txBox="1"/>
          <p:nvPr/>
        </p:nvSpPr>
        <p:spPr>
          <a:xfrm>
            <a:off x="5372100" y="5928970"/>
            <a:ext cx="226314" cy="226314"/>
          </a:xfrm>
          <a:prstGeom prst="rect">
            <a:avLst/>
          </a:prstGeom>
          <a:noFill/>
          <a:ln/>
        </p:spPr>
        <p:txBody>
          <a:bodyPr wrap="square" lIns="0" tIns="0" rIns="0" bIns="0" rtlCol="0" anchor="ctr"/>
          <a:lstStyle/>
          <a:p>
            <a:pPr marL="0" indent="0" algn="ctr">
              <a:buNone/>
            </a:pPr>
            <a:r>
              <a:rPr lang="en-US" sz="1200" b="1" dirty="0">
                <a:solidFill>
                  <a:srgbClr val="E63946"/>
                </a:solidFill>
              </a:rPr>
              <a:t>✗</a:t>
            </a:r>
            <a:endParaRPr lang="en-US" sz="1200" dirty="0"/>
          </a:p>
        </p:txBody>
      </p:sp>
      <p:pic>
        <p:nvPicPr>
          <p:cNvPr id="5" name="thr-internal" descr="/Users/amberwang/Desktop/paper-review/assets/thr-internal.png">
            <a:extLst>
              <a:ext uri="{FF2B5EF4-FFF2-40B4-BE49-F238E27FC236}">
                <a16:creationId xmlns:a16="http://schemas.microsoft.com/office/drawing/2014/main" id="{4D3D3631-0BD0-CCB9-0940-CC6D262CC1BA}"/>
              </a:ext>
            </a:extLst>
          </p:cNvPr>
          <p:cNvPicPr>
            <a:picLocks noChangeAspect="1"/>
          </p:cNvPicPr>
          <p:nvPr/>
        </p:nvPicPr>
        <p:blipFill>
          <a:blip r:embed="rId4"/>
          <a:stretch>
            <a:fillRect/>
          </a:stretch>
        </p:blipFill>
        <p:spPr>
          <a:xfrm>
            <a:off x="5843016" y="6063695"/>
            <a:ext cx="502920" cy="354169"/>
          </a:xfrm>
          <a:prstGeom prst="rect">
            <a:avLst/>
          </a:prstGeom>
        </p:spPr>
      </p:pic>
      <p:sp>
        <p:nvSpPr>
          <p:cNvPr id="6" name="mark-thr-internal">
            <a:extLst>
              <a:ext uri="{FF2B5EF4-FFF2-40B4-BE49-F238E27FC236}">
                <a16:creationId xmlns:a16="http://schemas.microsoft.com/office/drawing/2014/main" id="{69269078-AF8E-4E8D-C4E4-0248187EA24C}"/>
              </a:ext>
            </a:extLst>
          </p:cNvPr>
          <p:cNvSpPr txBox="1"/>
          <p:nvPr/>
        </p:nvSpPr>
        <p:spPr>
          <a:xfrm>
            <a:off x="6195060" y="5928970"/>
            <a:ext cx="226314" cy="226314"/>
          </a:xfrm>
          <a:prstGeom prst="rect">
            <a:avLst/>
          </a:prstGeom>
          <a:noFill/>
          <a:ln/>
        </p:spPr>
        <p:txBody>
          <a:bodyPr wrap="square" lIns="0" tIns="0" rIns="0" bIns="0" rtlCol="0" anchor="ctr"/>
          <a:lstStyle/>
          <a:p>
            <a:pPr marL="0" indent="0" algn="ctr">
              <a:buNone/>
            </a:pPr>
            <a:r>
              <a:rPr lang="en-US" sz="1200" b="1" dirty="0">
                <a:solidFill>
                  <a:srgbClr val="E63946"/>
                </a:solidFill>
              </a:rPr>
              <a:t>✗</a:t>
            </a:r>
            <a:endParaRPr lang="en-US" sz="1200" dirty="0"/>
          </a:p>
        </p:txBody>
      </p:sp>
      <p:pic>
        <p:nvPicPr>
          <p:cNvPr id="7" name="thr-conclusion" descr="/Users/amberwang/Desktop/paper-review/assets/thr-conclusion.png">
            <a:extLst>
              <a:ext uri="{FF2B5EF4-FFF2-40B4-BE49-F238E27FC236}">
                <a16:creationId xmlns:a16="http://schemas.microsoft.com/office/drawing/2014/main" id="{FB679A4E-F15F-0C84-5CC5-98FEF9FCB77A}"/>
              </a:ext>
            </a:extLst>
          </p:cNvPr>
          <p:cNvPicPr>
            <a:picLocks noChangeAspect="1"/>
          </p:cNvPicPr>
          <p:nvPr/>
        </p:nvPicPr>
        <p:blipFill>
          <a:blip r:embed="rId5"/>
          <a:stretch>
            <a:fillRect/>
          </a:stretch>
        </p:blipFill>
        <p:spPr>
          <a:xfrm>
            <a:off x="10799409" y="274320"/>
            <a:ext cx="986862" cy="1005840"/>
          </a:xfrm>
          <a:prstGeom prst="rect">
            <a:avLst/>
          </a:prstGeom>
        </p:spPr>
      </p:pic>
      <p:sp>
        <p:nvSpPr>
          <p:cNvPr id="8" name="s8-quote">
            <a:extLst>
              <a:ext uri="{FF2B5EF4-FFF2-40B4-BE49-F238E27FC236}">
                <a16:creationId xmlns:a16="http://schemas.microsoft.com/office/drawing/2014/main" id="{3E08F279-BC89-FC2D-4690-987D43747039}"/>
              </a:ext>
            </a:extLst>
          </p:cNvPr>
          <p:cNvSpPr/>
          <p:nvPr/>
        </p:nvSpPr>
        <p:spPr>
          <a:xfrm>
            <a:off x="548640" y="1828800"/>
            <a:ext cx="5760720" cy="1005840"/>
          </a:xfrm>
          <a:prstGeom prst="wedgeRoundRectCallout">
            <a:avLst/>
          </a:prstGeom>
          <a:solidFill>
            <a:srgbClr val="CFE3F0"/>
          </a:solidFill>
          <a:ln w="12700">
            <a:solidFill>
              <a:srgbClr val="4A6FA5"/>
            </a:solidFill>
          </a:ln>
        </p:spPr>
        <p:txBody>
          <a:bodyPr wrap="square" lIns="2286" tIns="2286" rIns="2286" bIns="2286" rtlCol="0" anchor="ctr"/>
          <a:lstStyle/>
          <a:p>
            <a:pPr marL="0" indent="0" algn="l">
              <a:buNone/>
            </a:pPr>
            <a:r>
              <a:rPr lang="en-US" sz="1600" i="1" dirty="0">
                <a:solidFill>
                  <a:srgbClr val="2E3A46"/>
                </a:solidFill>
              </a:rPr>
              <a:t>“Four recommendations are context-dependent, and four indicate significant negative associations for most projects.”</a:t>
            </a:r>
            <a:endParaRPr lang="en-US" sz="1600" dirty="0"/>
          </a:p>
        </p:txBody>
      </p:sp>
      <p:sp>
        <p:nvSpPr>
          <p:cNvPr id="9" name="s8-text-Abstract">
            <a:extLst>
              <a:ext uri="{FF2B5EF4-FFF2-40B4-BE49-F238E27FC236}">
                <a16:creationId xmlns:a16="http://schemas.microsoft.com/office/drawing/2014/main" id="{87E153B2-386C-9303-7EFB-8084644424D6}"/>
              </a:ext>
            </a:extLst>
          </p:cNvPr>
          <p:cNvSpPr txBox="1"/>
          <p:nvPr/>
        </p:nvSpPr>
        <p:spPr>
          <a:xfrm>
            <a:off x="4480560" y="2971800"/>
            <a:ext cx="1828800" cy="274320"/>
          </a:xfrm>
          <a:prstGeom prst="rect">
            <a:avLst/>
          </a:prstGeom>
          <a:noFill/>
          <a:ln/>
        </p:spPr>
        <p:txBody>
          <a:bodyPr wrap="square" lIns="0" tIns="0" rIns="0" bIns="0" rtlCol="0" anchor="t"/>
          <a:lstStyle/>
          <a:p>
            <a:pPr marL="0" indent="0" algn="r">
              <a:buNone/>
            </a:pPr>
            <a:r>
              <a:rPr lang="en-US" sz="1200" i="1" dirty="0">
                <a:solidFill>
                  <a:srgbClr val="9AA5B1"/>
                </a:solidFill>
              </a:rPr>
              <a:t>Abstract</a:t>
            </a:r>
            <a:endParaRPr lang="en-US" sz="1200" dirty="0"/>
          </a:p>
        </p:txBody>
      </p:sp>
      <p:sp>
        <p:nvSpPr>
          <p:cNvPr id="10" name="s8-chip-0">
            <a:extLst>
              <a:ext uri="{FF2B5EF4-FFF2-40B4-BE49-F238E27FC236}">
                <a16:creationId xmlns:a16="http://schemas.microsoft.com/office/drawing/2014/main" id="{A5A9D836-B337-B8D2-35CC-1FD807F144AA}"/>
              </a:ext>
            </a:extLst>
          </p:cNvPr>
          <p:cNvSpPr/>
          <p:nvPr/>
        </p:nvSpPr>
        <p:spPr>
          <a:xfrm>
            <a:off x="548640" y="3383280"/>
            <a:ext cx="2788920" cy="960120"/>
          </a:xfrm>
          <a:prstGeom prst="roundRect">
            <a:avLst>
              <a:gd name="adj" fmla="val 7619"/>
            </a:avLst>
          </a:prstGeom>
          <a:solidFill>
            <a:srgbClr val="EEF3F8"/>
          </a:solidFill>
          <a:ln w="12700">
            <a:solidFill>
              <a:srgbClr val="9AA5B1"/>
            </a:solidFill>
            <a:prstDash val="solid"/>
          </a:ln>
        </p:spPr>
        <p:txBody>
          <a:bodyPr/>
          <a:lstStyle/>
          <a:p>
            <a:endParaRPr lang="en-US"/>
          </a:p>
        </p:txBody>
      </p:sp>
      <p:sp>
        <p:nvSpPr>
          <p:cNvPr id="11" name="s8-text-R10 · title length">
            <a:extLst>
              <a:ext uri="{FF2B5EF4-FFF2-40B4-BE49-F238E27FC236}">
                <a16:creationId xmlns:a16="http://schemas.microsoft.com/office/drawing/2014/main" id="{E6A14245-E114-6C7A-21CD-DD6D3F4EAF0A}"/>
              </a:ext>
            </a:extLst>
          </p:cNvPr>
          <p:cNvSpPr txBox="1"/>
          <p:nvPr/>
        </p:nvSpPr>
        <p:spPr>
          <a:xfrm>
            <a:off x="713232" y="3474720"/>
            <a:ext cx="2514600" cy="274320"/>
          </a:xfrm>
          <a:prstGeom prst="rect">
            <a:avLst/>
          </a:prstGeom>
          <a:noFill/>
          <a:ln/>
        </p:spPr>
        <p:txBody>
          <a:bodyPr wrap="square" lIns="0" tIns="0" rIns="0" bIns="0" rtlCol="0" anchor="t"/>
          <a:lstStyle/>
          <a:p>
            <a:pPr marL="0" indent="0" algn="l">
              <a:buNone/>
            </a:pPr>
            <a:r>
              <a:rPr lang="en-US" sz="1300" b="1" dirty="0">
                <a:solidFill>
                  <a:srgbClr val="2E3A46"/>
                </a:solidFill>
              </a:rPr>
              <a:t>R10 · title length</a:t>
            </a:r>
            <a:endParaRPr lang="en-US" sz="1300" dirty="0"/>
          </a:p>
        </p:txBody>
      </p:sp>
      <p:sp>
        <p:nvSpPr>
          <p:cNvPr id="12" name="s8-text-0.999***">
            <a:extLst>
              <a:ext uri="{FF2B5EF4-FFF2-40B4-BE49-F238E27FC236}">
                <a16:creationId xmlns:a16="http://schemas.microsoft.com/office/drawing/2014/main" id="{F42AE464-F28E-97CF-D89D-673358CFDC4F}"/>
              </a:ext>
            </a:extLst>
          </p:cNvPr>
          <p:cNvSpPr txBox="1"/>
          <p:nvPr/>
        </p:nvSpPr>
        <p:spPr>
          <a:xfrm>
            <a:off x="713232" y="3767328"/>
            <a:ext cx="2514600" cy="502920"/>
          </a:xfrm>
          <a:prstGeom prst="rect">
            <a:avLst/>
          </a:prstGeom>
          <a:noFill/>
          <a:ln/>
        </p:spPr>
        <p:txBody>
          <a:bodyPr wrap="square" lIns="0" tIns="0" rIns="0" bIns="0" rtlCol="0" anchor="t"/>
          <a:lstStyle/>
          <a:p>
            <a:pPr marL="0" indent="0" algn="l">
              <a:buNone/>
            </a:pPr>
            <a:r>
              <a:rPr lang="en-US" sz="2600" b="1" dirty="0">
                <a:solidFill>
                  <a:srgbClr val="E63946"/>
                </a:solidFill>
              </a:rPr>
              <a:t>0.999***</a:t>
            </a:r>
            <a:endParaRPr lang="en-US" sz="2600" dirty="0"/>
          </a:p>
        </p:txBody>
      </p:sp>
      <p:sp>
        <p:nvSpPr>
          <p:cNvPr id="13" name="s8-chip-1">
            <a:extLst>
              <a:ext uri="{FF2B5EF4-FFF2-40B4-BE49-F238E27FC236}">
                <a16:creationId xmlns:a16="http://schemas.microsoft.com/office/drawing/2014/main" id="{DE1FC46E-02A2-2C3E-9E65-F2C10F801519}"/>
              </a:ext>
            </a:extLst>
          </p:cNvPr>
          <p:cNvSpPr/>
          <p:nvPr/>
        </p:nvSpPr>
        <p:spPr>
          <a:xfrm>
            <a:off x="3520440" y="3383280"/>
            <a:ext cx="2788920" cy="960120"/>
          </a:xfrm>
          <a:prstGeom prst="roundRect">
            <a:avLst>
              <a:gd name="adj" fmla="val 7619"/>
            </a:avLst>
          </a:prstGeom>
          <a:solidFill>
            <a:srgbClr val="EEF3F8"/>
          </a:solidFill>
          <a:ln w="12700">
            <a:solidFill>
              <a:srgbClr val="9AA5B1"/>
            </a:solidFill>
            <a:prstDash val="solid"/>
          </a:ln>
        </p:spPr>
        <p:txBody>
          <a:bodyPr/>
          <a:lstStyle/>
          <a:p>
            <a:endParaRPr lang="en-US"/>
          </a:p>
        </p:txBody>
      </p:sp>
      <p:sp>
        <p:nvSpPr>
          <p:cNvPr id="14" name="s8-text-R11 · description ">
            <a:extLst>
              <a:ext uri="{FF2B5EF4-FFF2-40B4-BE49-F238E27FC236}">
                <a16:creationId xmlns:a16="http://schemas.microsoft.com/office/drawing/2014/main" id="{9496F07E-76F2-8FB9-6289-CEF6B85CA70F}"/>
              </a:ext>
            </a:extLst>
          </p:cNvPr>
          <p:cNvSpPr txBox="1"/>
          <p:nvPr/>
        </p:nvSpPr>
        <p:spPr>
          <a:xfrm>
            <a:off x="3685032" y="3474720"/>
            <a:ext cx="2514600" cy="274320"/>
          </a:xfrm>
          <a:prstGeom prst="rect">
            <a:avLst/>
          </a:prstGeom>
          <a:noFill/>
          <a:ln/>
        </p:spPr>
        <p:txBody>
          <a:bodyPr wrap="square" lIns="0" tIns="0" rIns="0" bIns="0" rtlCol="0" anchor="t"/>
          <a:lstStyle/>
          <a:p>
            <a:pPr marL="0" indent="0" algn="l">
              <a:buNone/>
            </a:pPr>
            <a:r>
              <a:rPr lang="en-US" sz="1300" b="1" dirty="0">
                <a:solidFill>
                  <a:srgbClr val="2E3A46"/>
                </a:solidFill>
              </a:rPr>
              <a:t>R11 · description length</a:t>
            </a:r>
            <a:endParaRPr lang="en-US" sz="1300" dirty="0"/>
          </a:p>
        </p:txBody>
      </p:sp>
      <p:sp>
        <p:nvSpPr>
          <p:cNvPr id="15" name="s8-text-0.999***">
            <a:extLst>
              <a:ext uri="{FF2B5EF4-FFF2-40B4-BE49-F238E27FC236}">
                <a16:creationId xmlns:a16="http://schemas.microsoft.com/office/drawing/2014/main" id="{0E4F76F6-6F41-8131-3A96-49AD957CD63E}"/>
              </a:ext>
            </a:extLst>
          </p:cNvPr>
          <p:cNvSpPr txBox="1"/>
          <p:nvPr/>
        </p:nvSpPr>
        <p:spPr>
          <a:xfrm>
            <a:off x="3685032" y="3767328"/>
            <a:ext cx="2514600" cy="502920"/>
          </a:xfrm>
          <a:prstGeom prst="rect">
            <a:avLst/>
          </a:prstGeom>
          <a:noFill/>
          <a:ln/>
        </p:spPr>
        <p:txBody>
          <a:bodyPr wrap="square" lIns="0" tIns="0" rIns="0" bIns="0" rtlCol="0" anchor="t"/>
          <a:lstStyle/>
          <a:p>
            <a:pPr marL="0" indent="0" algn="l">
              <a:buNone/>
            </a:pPr>
            <a:r>
              <a:rPr lang="en-US" sz="2600" b="1" dirty="0">
                <a:solidFill>
                  <a:srgbClr val="E63946"/>
                </a:solidFill>
              </a:rPr>
              <a:t>0.999***</a:t>
            </a:r>
            <a:endParaRPr lang="en-US" sz="2600" dirty="0"/>
          </a:p>
        </p:txBody>
      </p:sp>
      <p:sp>
        <p:nvSpPr>
          <p:cNvPr id="16" name="s8-chip-2">
            <a:extLst>
              <a:ext uri="{FF2B5EF4-FFF2-40B4-BE49-F238E27FC236}">
                <a16:creationId xmlns:a16="http://schemas.microsoft.com/office/drawing/2014/main" id="{B23D0D8F-13AE-45B0-7750-FCD4B4F79EC6}"/>
              </a:ext>
            </a:extLst>
          </p:cNvPr>
          <p:cNvSpPr/>
          <p:nvPr/>
        </p:nvSpPr>
        <p:spPr>
          <a:xfrm>
            <a:off x="548640" y="4480560"/>
            <a:ext cx="2788920" cy="960120"/>
          </a:xfrm>
          <a:prstGeom prst="roundRect">
            <a:avLst>
              <a:gd name="adj" fmla="val 7619"/>
            </a:avLst>
          </a:prstGeom>
          <a:solidFill>
            <a:srgbClr val="EEF3F8"/>
          </a:solidFill>
          <a:ln w="12700">
            <a:solidFill>
              <a:srgbClr val="9AA5B1"/>
            </a:solidFill>
            <a:prstDash val="solid"/>
          </a:ln>
        </p:spPr>
        <p:txBody>
          <a:bodyPr/>
          <a:lstStyle/>
          <a:p>
            <a:endParaRPr lang="en-US"/>
          </a:p>
        </p:txBody>
      </p:sp>
      <p:sp>
        <p:nvSpPr>
          <p:cNvPr id="17" name="s8-text-R12 · title readab">
            <a:extLst>
              <a:ext uri="{FF2B5EF4-FFF2-40B4-BE49-F238E27FC236}">
                <a16:creationId xmlns:a16="http://schemas.microsoft.com/office/drawing/2014/main" id="{4860F3E6-ED5B-7E60-BEEB-DD757FFC9D78}"/>
              </a:ext>
            </a:extLst>
          </p:cNvPr>
          <p:cNvSpPr txBox="1"/>
          <p:nvPr/>
        </p:nvSpPr>
        <p:spPr>
          <a:xfrm>
            <a:off x="713232" y="4572000"/>
            <a:ext cx="2514600" cy="274320"/>
          </a:xfrm>
          <a:prstGeom prst="rect">
            <a:avLst/>
          </a:prstGeom>
          <a:noFill/>
          <a:ln/>
        </p:spPr>
        <p:txBody>
          <a:bodyPr wrap="square" lIns="0" tIns="0" rIns="0" bIns="0" rtlCol="0" anchor="t"/>
          <a:lstStyle/>
          <a:p>
            <a:pPr marL="0" indent="0" algn="l">
              <a:buNone/>
            </a:pPr>
            <a:r>
              <a:rPr lang="en-US" sz="1300" b="1" dirty="0">
                <a:solidFill>
                  <a:srgbClr val="2E3A46"/>
                </a:solidFill>
              </a:rPr>
              <a:t>R12 · title readability</a:t>
            </a:r>
            <a:endParaRPr lang="en-US" sz="1300" dirty="0"/>
          </a:p>
        </p:txBody>
      </p:sp>
      <p:sp>
        <p:nvSpPr>
          <p:cNvPr id="18" name="s8-text-0.999***">
            <a:extLst>
              <a:ext uri="{FF2B5EF4-FFF2-40B4-BE49-F238E27FC236}">
                <a16:creationId xmlns:a16="http://schemas.microsoft.com/office/drawing/2014/main" id="{66C7A83B-9F8D-1B54-99F4-07E6AADAB4DB}"/>
              </a:ext>
            </a:extLst>
          </p:cNvPr>
          <p:cNvSpPr txBox="1"/>
          <p:nvPr/>
        </p:nvSpPr>
        <p:spPr>
          <a:xfrm>
            <a:off x="713232" y="4864608"/>
            <a:ext cx="2514600" cy="502920"/>
          </a:xfrm>
          <a:prstGeom prst="rect">
            <a:avLst/>
          </a:prstGeom>
          <a:noFill/>
          <a:ln/>
        </p:spPr>
        <p:txBody>
          <a:bodyPr wrap="square" lIns="0" tIns="0" rIns="0" bIns="0" rtlCol="0" anchor="t"/>
          <a:lstStyle/>
          <a:p>
            <a:pPr marL="0" indent="0" algn="l">
              <a:buNone/>
            </a:pPr>
            <a:r>
              <a:rPr lang="en-US" sz="2600" b="1" dirty="0">
                <a:solidFill>
                  <a:srgbClr val="E63946"/>
                </a:solidFill>
              </a:rPr>
              <a:t>0.999***</a:t>
            </a:r>
            <a:endParaRPr lang="en-US" sz="2600" dirty="0"/>
          </a:p>
        </p:txBody>
      </p:sp>
      <p:sp>
        <p:nvSpPr>
          <p:cNvPr id="19" name="s8-chip-3">
            <a:extLst>
              <a:ext uri="{FF2B5EF4-FFF2-40B4-BE49-F238E27FC236}">
                <a16:creationId xmlns:a16="http://schemas.microsoft.com/office/drawing/2014/main" id="{C84F8333-2870-E6B6-707F-2B007199A479}"/>
              </a:ext>
            </a:extLst>
          </p:cNvPr>
          <p:cNvSpPr/>
          <p:nvPr/>
        </p:nvSpPr>
        <p:spPr>
          <a:xfrm>
            <a:off x="3520440" y="4480560"/>
            <a:ext cx="2788920" cy="960120"/>
          </a:xfrm>
          <a:prstGeom prst="roundRect">
            <a:avLst>
              <a:gd name="adj" fmla="val 7619"/>
            </a:avLst>
          </a:prstGeom>
          <a:solidFill>
            <a:srgbClr val="EEF3F8"/>
          </a:solidFill>
          <a:ln w="12700">
            <a:solidFill>
              <a:srgbClr val="9AA5B1"/>
            </a:solidFill>
            <a:prstDash val="solid"/>
          </a:ln>
        </p:spPr>
        <p:txBody>
          <a:bodyPr/>
          <a:lstStyle/>
          <a:p>
            <a:endParaRPr lang="en-US"/>
          </a:p>
        </p:txBody>
      </p:sp>
      <p:sp>
        <p:nvSpPr>
          <p:cNvPr id="20" name="s8-text-R13 · description ">
            <a:extLst>
              <a:ext uri="{FF2B5EF4-FFF2-40B4-BE49-F238E27FC236}">
                <a16:creationId xmlns:a16="http://schemas.microsoft.com/office/drawing/2014/main" id="{FD867BD5-EDAD-5A0C-581F-AE7A0E30C136}"/>
              </a:ext>
            </a:extLst>
          </p:cNvPr>
          <p:cNvSpPr txBox="1"/>
          <p:nvPr/>
        </p:nvSpPr>
        <p:spPr>
          <a:xfrm>
            <a:off x="3685032" y="4572000"/>
            <a:ext cx="2514600" cy="274320"/>
          </a:xfrm>
          <a:prstGeom prst="rect">
            <a:avLst/>
          </a:prstGeom>
          <a:noFill/>
          <a:ln/>
        </p:spPr>
        <p:txBody>
          <a:bodyPr wrap="square" lIns="0" tIns="0" rIns="0" bIns="0" rtlCol="0" anchor="t"/>
          <a:lstStyle/>
          <a:p>
            <a:pPr marL="0" indent="0" algn="l">
              <a:buNone/>
            </a:pPr>
            <a:r>
              <a:rPr lang="en-US" sz="1300" b="1" dirty="0">
                <a:solidFill>
                  <a:srgbClr val="2E3A46"/>
                </a:solidFill>
              </a:rPr>
              <a:t>R13 · description readability</a:t>
            </a:r>
            <a:endParaRPr lang="en-US" sz="1300" dirty="0"/>
          </a:p>
        </p:txBody>
      </p:sp>
      <p:sp>
        <p:nvSpPr>
          <p:cNvPr id="21" name="s8-text-0.999***">
            <a:extLst>
              <a:ext uri="{FF2B5EF4-FFF2-40B4-BE49-F238E27FC236}">
                <a16:creationId xmlns:a16="http://schemas.microsoft.com/office/drawing/2014/main" id="{B06E6A26-11A6-BBFD-D3B9-EB9791358B54}"/>
              </a:ext>
            </a:extLst>
          </p:cNvPr>
          <p:cNvSpPr txBox="1"/>
          <p:nvPr/>
        </p:nvSpPr>
        <p:spPr>
          <a:xfrm>
            <a:off x="3685032" y="4864608"/>
            <a:ext cx="2514600" cy="502920"/>
          </a:xfrm>
          <a:prstGeom prst="rect">
            <a:avLst/>
          </a:prstGeom>
          <a:noFill/>
          <a:ln/>
        </p:spPr>
        <p:txBody>
          <a:bodyPr wrap="square" lIns="0" tIns="0" rIns="0" bIns="0" rtlCol="0" anchor="t"/>
          <a:lstStyle/>
          <a:p>
            <a:pPr marL="0" indent="0" algn="l">
              <a:buNone/>
            </a:pPr>
            <a:r>
              <a:rPr lang="en-US" sz="2600" b="1" dirty="0">
                <a:solidFill>
                  <a:srgbClr val="E63946"/>
                </a:solidFill>
              </a:rPr>
              <a:t>0.999***</a:t>
            </a:r>
            <a:endParaRPr lang="en-US" sz="2600" dirty="0"/>
          </a:p>
        </p:txBody>
      </p:sp>
      <p:graphicFrame>
        <p:nvGraphicFramePr>
          <p:cNvPr id="22" name="s8-chart-ep">
            <a:extLst>
              <a:ext uri="{FF2B5EF4-FFF2-40B4-BE49-F238E27FC236}">
                <a16:creationId xmlns:a16="http://schemas.microsoft.com/office/drawing/2014/main" id="{7D4AED87-133D-089F-57E5-85D05BA91DCC}"/>
              </a:ext>
            </a:extLst>
          </p:cNvPr>
          <p:cNvGraphicFramePr/>
          <p:nvPr/>
        </p:nvGraphicFramePr>
        <p:xfrm>
          <a:off x="6675120" y="1828800"/>
          <a:ext cx="4937760" cy="3657600"/>
        </p:xfrm>
        <a:graphic>
          <a:graphicData uri="http://schemas.openxmlformats.org/drawingml/2006/chart">
            <c:chart xmlns:c="http://schemas.openxmlformats.org/drawingml/2006/chart" xmlns:r="http://schemas.openxmlformats.org/officeDocument/2006/relationships" r:id="rId6"/>
          </a:graphicData>
        </a:graphic>
      </p:graphicFrame>
      <p:sp>
        <p:nvSpPr>
          <p:cNvPr id="25" name="Slide Number Placeholder 0">
            <a:extLst>
              <a:ext uri="{FF2B5EF4-FFF2-40B4-BE49-F238E27FC236}">
                <a16:creationId xmlns:a16="http://schemas.microsoft.com/office/drawing/2014/main" id="{8FBAE30C-AFB8-4DE0-AFE0-5C7F66DC0ED2}"/>
              </a:ext>
            </a:extLst>
          </p:cNvPr>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2422714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0058400" cy="1463040"/>
          </a:xfrm>
          <a:prstGeom prst="rect">
            <a:avLst/>
          </a:prstGeom>
          <a:noFill/>
          <a:ln/>
        </p:spPr>
        <p:txBody>
          <a:bodyPr wrap="square" lIns="0" tIns="0" rIns="0" bIns="0" rtlCol="0" anchor="t"/>
          <a:lstStyle/>
          <a:p>
            <a:pPr marL="0" indent="0" algn="l">
              <a:buNone/>
            </a:pPr>
            <a:r>
              <a:rPr lang="en-US" sz="2800" b="1" dirty="0">
                <a:solidFill>
                  <a:srgbClr val="2E3A46"/>
                </a:solidFill>
              </a:rPr>
              <a:t>An odds ratio of 0.999 per word means ten extra words in a title move a 50% chance of acceptance to 49.75%</a:t>
            </a:r>
            <a:endParaRPr lang="en-US" sz="2800" dirty="0"/>
          </a:p>
        </p:txBody>
      </p:sp>
      <p:pic>
        <p:nvPicPr>
          <p:cNvPr id="3" name="thr-construct" descr="/Users/amberwang/Desktop/paper-review/assets/thr-construct.png"/>
          <p:cNvPicPr>
            <a:picLocks noChangeAspect="1"/>
          </p:cNvPicPr>
          <p:nvPr/>
        </p:nvPicPr>
        <p:blipFill>
          <a:blip r:embed="rId3"/>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marL="0" indent="0" algn="ctr">
              <a:buNone/>
            </a:pPr>
            <a:r>
              <a:rPr lang="en-US" sz="1200" b="1" dirty="0">
                <a:solidFill>
                  <a:srgbClr val="E63946"/>
                </a:solidFill>
              </a:rPr>
              <a:t>✗</a:t>
            </a:r>
            <a:endParaRPr lang="en-US" sz="1200" dirty="0"/>
          </a:p>
        </p:txBody>
      </p:sp>
      <p:pic>
        <p:nvPicPr>
          <p:cNvPr id="5" name="thr-internal" descr="/Users/amberwang/Desktop/paper-review/assets/thr-internal.png"/>
          <p:cNvPicPr>
            <a:picLocks noChangeAspect="1"/>
          </p:cNvPicPr>
          <p:nvPr/>
        </p:nvPicPr>
        <p:blipFill>
          <a:blip r:embed="rId4"/>
          <a:stretch>
            <a:fillRect/>
          </a:stretch>
        </p:blipFill>
        <p:spPr>
          <a:xfrm>
            <a:off x="5843016" y="6063695"/>
            <a:ext cx="502920" cy="354169"/>
          </a:xfrm>
          <a:prstGeom prst="rect">
            <a:avLst/>
          </a:prstGeom>
        </p:spPr>
      </p:pic>
      <p:sp>
        <p:nvSpPr>
          <p:cNvPr id="6" name="mark-thr-internal"/>
          <p:cNvSpPr txBox="1"/>
          <p:nvPr/>
        </p:nvSpPr>
        <p:spPr>
          <a:xfrm>
            <a:off x="6195060" y="5928970"/>
            <a:ext cx="226314" cy="226314"/>
          </a:xfrm>
          <a:prstGeom prst="rect">
            <a:avLst/>
          </a:prstGeom>
          <a:noFill/>
          <a:ln/>
        </p:spPr>
        <p:txBody>
          <a:bodyPr wrap="square" lIns="0" tIns="0" rIns="0" bIns="0" rtlCol="0" anchor="ctr"/>
          <a:lstStyle/>
          <a:p>
            <a:pPr marL="0" indent="0" algn="ctr">
              <a:buNone/>
            </a:pPr>
            <a:r>
              <a:rPr lang="en-US" sz="1200" b="1" dirty="0">
                <a:solidFill>
                  <a:srgbClr val="E63946"/>
                </a:solidFill>
              </a:rPr>
              <a:t>✗</a:t>
            </a:r>
            <a:endParaRPr lang="en-US" sz="1200" dirty="0"/>
          </a:p>
        </p:txBody>
      </p:sp>
      <p:pic>
        <p:nvPicPr>
          <p:cNvPr id="7" name="thr-conclusion" descr="/Users/amberwang/Desktop/paper-review/assets/thr-conclusion.png"/>
          <p:cNvPicPr>
            <a:picLocks noChangeAspect="1"/>
          </p:cNvPicPr>
          <p:nvPr/>
        </p:nvPicPr>
        <p:blipFill>
          <a:blip r:embed="rId5"/>
          <a:stretch>
            <a:fillRect/>
          </a:stretch>
        </p:blipFill>
        <p:spPr>
          <a:xfrm>
            <a:off x="10799409" y="274320"/>
            <a:ext cx="986862" cy="1005840"/>
          </a:xfrm>
          <a:prstGeom prst="rect">
            <a:avLst/>
          </a:prstGeom>
        </p:spPr>
      </p:pic>
      <p:sp>
        <p:nvSpPr>
          <p:cNvPr id="8" name="s9-pr-short"/>
          <p:cNvSpPr/>
          <p:nvPr/>
        </p:nvSpPr>
        <p:spPr>
          <a:xfrm>
            <a:off x="548640" y="1920240"/>
            <a:ext cx="5852160" cy="914400"/>
          </a:xfrm>
          <a:prstGeom prst="roundRect">
            <a:avLst>
              <a:gd name="adj" fmla="val 8000"/>
            </a:avLst>
          </a:prstGeom>
          <a:solidFill>
            <a:srgbClr val="FFFFFF"/>
          </a:solidFill>
          <a:ln w="12700">
            <a:solidFill>
              <a:srgbClr val="9AA5B1"/>
            </a:solidFill>
            <a:prstDash val="solid"/>
          </a:ln>
        </p:spPr>
        <p:txBody>
          <a:bodyPr/>
          <a:lstStyle/>
          <a:p>
            <a:endParaRPr lang="en-US"/>
          </a:p>
        </p:txBody>
      </p:sp>
      <p:pic>
        <p:nvPicPr>
          <p:cNvPr id="9" name="s9-icon-patch" descr="/Users/amberwang/Desktop/paper-review/assets/icon-patch.png"/>
          <p:cNvPicPr>
            <a:picLocks noChangeAspect="1"/>
          </p:cNvPicPr>
          <p:nvPr/>
        </p:nvPicPr>
        <p:blipFill>
          <a:blip r:embed="rId6"/>
          <a:stretch>
            <a:fillRect/>
          </a:stretch>
        </p:blipFill>
        <p:spPr>
          <a:xfrm>
            <a:off x="685800" y="2062262"/>
            <a:ext cx="548640" cy="621211"/>
          </a:xfrm>
          <a:prstGeom prst="rect">
            <a:avLst/>
          </a:prstGeom>
        </p:spPr>
      </p:pic>
      <p:sp>
        <p:nvSpPr>
          <p:cNvPr id="10" name="s9-text-Fix broken link in"/>
          <p:cNvSpPr txBox="1"/>
          <p:nvPr/>
        </p:nvSpPr>
        <p:spPr>
          <a:xfrm>
            <a:off x="1371600" y="2057400"/>
            <a:ext cx="3931920" cy="640080"/>
          </a:xfrm>
          <a:prstGeom prst="rect">
            <a:avLst/>
          </a:prstGeom>
          <a:noFill/>
          <a:ln/>
        </p:spPr>
        <p:txBody>
          <a:bodyPr wrap="square" lIns="0" tIns="0" rIns="0" bIns="0" rtlCol="0" anchor="ctr"/>
          <a:lstStyle/>
          <a:p>
            <a:pPr marL="0" indent="0" algn="l">
              <a:buNone/>
            </a:pPr>
            <a:r>
              <a:rPr lang="en-US" sz="1800" b="1" dirty="0">
                <a:solidFill>
                  <a:srgbClr val="2E3A46"/>
                </a:solidFill>
              </a:rPr>
              <a:t>Fix broken link in README</a:t>
            </a:r>
            <a:endParaRPr lang="en-US" sz="1800" dirty="0"/>
          </a:p>
        </p:txBody>
      </p:sp>
      <p:sp>
        <p:nvSpPr>
          <p:cNvPr id="11" name="s9-text-5 words"/>
          <p:cNvSpPr txBox="1"/>
          <p:nvPr/>
        </p:nvSpPr>
        <p:spPr>
          <a:xfrm>
            <a:off x="5303520" y="2057400"/>
            <a:ext cx="960120" cy="640080"/>
          </a:xfrm>
          <a:prstGeom prst="rect">
            <a:avLst/>
          </a:prstGeom>
          <a:noFill/>
          <a:ln/>
        </p:spPr>
        <p:txBody>
          <a:bodyPr wrap="square" lIns="0" tIns="0" rIns="0" bIns="0" rtlCol="0" anchor="ctr"/>
          <a:lstStyle/>
          <a:p>
            <a:pPr marL="0" indent="0" algn="r">
              <a:buNone/>
            </a:pPr>
            <a:r>
              <a:rPr lang="en-US" sz="1400" dirty="0">
                <a:solidFill>
                  <a:srgbClr val="9AA5B1"/>
                </a:solidFill>
              </a:rPr>
              <a:t>5 words</a:t>
            </a:r>
            <a:endParaRPr lang="en-US" sz="1400" dirty="0"/>
          </a:p>
        </p:txBody>
      </p:sp>
      <p:sp>
        <p:nvSpPr>
          <p:cNvPr id="12" name="s9-pr-long"/>
          <p:cNvSpPr/>
          <p:nvPr/>
        </p:nvSpPr>
        <p:spPr>
          <a:xfrm>
            <a:off x="548640" y="3108960"/>
            <a:ext cx="5852160" cy="1280160"/>
          </a:xfrm>
          <a:prstGeom prst="roundRect">
            <a:avLst>
              <a:gd name="adj" fmla="val 5714"/>
            </a:avLst>
          </a:prstGeom>
          <a:solidFill>
            <a:srgbClr val="FFFFFF"/>
          </a:solidFill>
          <a:ln w="12700">
            <a:solidFill>
              <a:srgbClr val="9AA5B1"/>
            </a:solidFill>
            <a:prstDash val="solid"/>
          </a:ln>
        </p:spPr>
        <p:txBody>
          <a:bodyPr/>
          <a:lstStyle/>
          <a:p>
            <a:endParaRPr lang="en-US"/>
          </a:p>
        </p:txBody>
      </p:sp>
      <p:pic>
        <p:nvPicPr>
          <p:cNvPr id="13" name="s9-icon-patch" descr="/Users/amberwang/Desktop/paper-review/assets/icon-patch.png"/>
          <p:cNvPicPr>
            <a:picLocks noChangeAspect="1"/>
          </p:cNvPicPr>
          <p:nvPr/>
        </p:nvPicPr>
        <p:blipFill>
          <a:blip r:embed="rId6"/>
          <a:stretch>
            <a:fillRect/>
          </a:stretch>
        </p:blipFill>
        <p:spPr>
          <a:xfrm>
            <a:off x="685800" y="3415574"/>
            <a:ext cx="548640" cy="621211"/>
          </a:xfrm>
          <a:prstGeom prst="rect">
            <a:avLst/>
          </a:prstGeom>
        </p:spPr>
      </p:pic>
      <p:sp>
        <p:nvSpPr>
          <p:cNvPr id="14" name="s9-text-Fix broken link in"/>
          <p:cNvSpPr txBox="1"/>
          <p:nvPr/>
        </p:nvSpPr>
        <p:spPr>
          <a:xfrm>
            <a:off x="1371600" y="3200400"/>
            <a:ext cx="3931920" cy="1097280"/>
          </a:xfrm>
          <a:prstGeom prst="rect">
            <a:avLst/>
          </a:prstGeom>
          <a:noFill/>
          <a:ln/>
        </p:spPr>
        <p:txBody>
          <a:bodyPr wrap="square" lIns="0" tIns="0" rIns="0" bIns="0" rtlCol="0" anchor="ctr"/>
          <a:lstStyle/>
          <a:p>
            <a:pPr marL="0" indent="0" algn="l">
              <a:buNone/>
            </a:pPr>
            <a:r>
              <a:rPr lang="en-US" sz="1800" b="1" dirty="0">
                <a:solidFill>
                  <a:srgbClr val="2E3A46"/>
                </a:solidFill>
              </a:rPr>
              <a:t>Fix broken link in README that points to the old installation guide for Windows users</a:t>
            </a:r>
            <a:endParaRPr lang="en-US" sz="1800" dirty="0"/>
          </a:p>
        </p:txBody>
      </p:sp>
      <p:sp>
        <p:nvSpPr>
          <p:cNvPr id="15" name="s9-text-15 words"/>
          <p:cNvSpPr txBox="1"/>
          <p:nvPr/>
        </p:nvSpPr>
        <p:spPr>
          <a:xfrm>
            <a:off x="5303520" y="3200400"/>
            <a:ext cx="960120" cy="1097280"/>
          </a:xfrm>
          <a:prstGeom prst="rect">
            <a:avLst/>
          </a:prstGeom>
          <a:noFill/>
          <a:ln/>
        </p:spPr>
        <p:txBody>
          <a:bodyPr wrap="square" lIns="0" tIns="0" rIns="0" bIns="0" rtlCol="0" anchor="ctr"/>
          <a:lstStyle/>
          <a:p>
            <a:pPr marL="0" indent="0" algn="r">
              <a:buNone/>
            </a:pPr>
            <a:r>
              <a:rPr lang="en-US" sz="1400" dirty="0">
                <a:solidFill>
                  <a:srgbClr val="9AA5B1"/>
                </a:solidFill>
              </a:rPr>
              <a:t>15 words</a:t>
            </a:r>
            <a:endParaRPr lang="en-US" sz="1400" dirty="0"/>
          </a:p>
        </p:txBody>
      </p:sp>
      <p:sp>
        <p:nvSpPr>
          <p:cNvPr id="16" name="s9-stat-before"/>
          <p:cNvSpPr txBox="1"/>
          <p:nvPr/>
        </p:nvSpPr>
        <p:spPr>
          <a:xfrm>
            <a:off x="6675120" y="1920240"/>
            <a:ext cx="2103120" cy="914400"/>
          </a:xfrm>
          <a:prstGeom prst="rect">
            <a:avLst/>
          </a:prstGeom>
          <a:noFill/>
          <a:ln/>
        </p:spPr>
        <p:txBody>
          <a:bodyPr wrap="square" lIns="0" tIns="0" rIns="0" bIns="0" rtlCol="0" anchor="ctr"/>
          <a:lstStyle/>
          <a:p>
            <a:pPr marL="0" indent="0" algn="ctr">
              <a:buNone/>
            </a:pPr>
            <a:r>
              <a:rPr lang="en-US" sz="4800" b="1" dirty="0">
                <a:solidFill>
                  <a:srgbClr val="9AA5B1"/>
                </a:solidFill>
              </a:rPr>
              <a:t>50.0%</a:t>
            </a:r>
            <a:endParaRPr lang="en-US" sz="4800" dirty="0"/>
          </a:p>
        </p:txBody>
      </p:sp>
      <p:sp>
        <p:nvSpPr>
          <p:cNvPr id="17" name="s9-arrow"/>
          <p:cNvSpPr/>
          <p:nvPr/>
        </p:nvSpPr>
        <p:spPr>
          <a:xfrm>
            <a:off x="8823960" y="2221992"/>
            <a:ext cx="502920" cy="320040"/>
          </a:xfrm>
          <a:prstGeom prst="rightArrow">
            <a:avLst/>
          </a:prstGeom>
          <a:solidFill>
            <a:srgbClr val="4A6FA5"/>
          </a:solidFill>
          <a:ln w="12700">
            <a:solidFill>
              <a:srgbClr val="4A6FA5"/>
            </a:solidFill>
            <a:prstDash val="solid"/>
          </a:ln>
        </p:spPr>
        <p:txBody>
          <a:bodyPr/>
          <a:lstStyle/>
          <a:p>
            <a:endParaRPr lang="en-US"/>
          </a:p>
        </p:txBody>
      </p:sp>
      <p:sp>
        <p:nvSpPr>
          <p:cNvPr id="18" name="s9-stat-after"/>
          <p:cNvSpPr txBox="1"/>
          <p:nvPr/>
        </p:nvSpPr>
        <p:spPr>
          <a:xfrm>
            <a:off x="9418320" y="1920240"/>
            <a:ext cx="2286000" cy="914400"/>
          </a:xfrm>
          <a:prstGeom prst="rect">
            <a:avLst/>
          </a:prstGeom>
          <a:noFill/>
          <a:ln/>
        </p:spPr>
        <p:txBody>
          <a:bodyPr wrap="square" lIns="0" tIns="0" rIns="0" bIns="0" rtlCol="0" anchor="ctr"/>
          <a:lstStyle/>
          <a:p>
            <a:pPr marL="0" indent="0" algn="ctr">
              <a:buNone/>
            </a:pPr>
            <a:r>
              <a:rPr lang="en-US" sz="4800" b="1" dirty="0">
                <a:solidFill>
                  <a:srgbClr val="E63946"/>
                </a:solidFill>
              </a:rPr>
              <a:t>49.75%</a:t>
            </a:r>
            <a:endParaRPr lang="en-US" sz="4800" dirty="0"/>
          </a:p>
        </p:txBody>
      </p:sp>
      <p:sp>
        <p:nvSpPr>
          <p:cNvPr id="19" name="s9-text-chance of acceptan"/>
          <p:cNvSpPr txBox="1"/>
          <p:nvPr/>
        </p:nvSpPr>
        <p:spPr>
          <a:xfrm>
            <a:off x="6675120" y="2880360"/>
            <a:ext cx="5029200" cy="320040"/>
          </a:xfrm>
          <a:prstGeom prst="rect">
            <a:avLst/>
          </a:prstGeom>
          <a:noFill/>
          <a:ln/>
        </p:spPr>
        <p:txBody>
          <a:bodyPr wrap="square" lIns="0" tIns="0" rIns="0" bIns="0" rtlCol="0" anchor="t"/>
          <a:lstStyle/>
          <a:p>
            <a:pPr marL="0" indent="0" algn="ctr">
              <a:buNone/>
            </a:pPr>
            <a:r>
              <a:rPr lang="en-US" sz="1500" dirty="0">
                <a:solidFill>
                  <a:srgbClr val="2E3A46"/>
                </a:solidFill>
              </a:rPr>
              <a:t>chance of acceptance</a:t>
            </a:r>
            <a:endParaRPr lang="en-US" sz="1500" dirty="0"/>
          </a:p>
        </p:txBody>
      </p:sp>
      <p:sp>
        <p:nvSpPr>
          <p:cNvPr id="20" name="s9-working"/>
          <p:cNvSpPr/>
          <p:nvPr/>
        </p:nvSpPr>
        <p:spPr>
          <a:xfrm>
            <a:off x="6675120" y="3474720"/>
            <a:ext cx="5029200" cy="822960"/>
          </a:xfrm>
          <a:prstGeom prst="roundRect">
            <a:avLst>
              <a:gd name="adj" fmla="val 8889"/>
            </a:avLst>
          </a:prstGeom>
          <a:solidFill>
            <a:srgbClr val="EEF3F8"/>
          </a:solidFill>
          <a:ln/>
        </p:spPr>
        <p:txBody>
          <a:bodyPr/>
          <a:lstStyle/>
          <a:p>
            <a:endParaRPr lang="en-US"/>
          </a:p>
        </p:txBody>
      </p:sp>
      <p:sp>
        <p:nvSpPr>
          <p:cNvPr id="21" name="s9-text-odds × 0.999¹⁰ = 0"/>
          <p:cNvSpPr txBox="1"/>
          <p:nvPr/>
        </p:nvSpPr>
        <p:spPr>
          <a:xfrm>
            <a:off x="6858000" y="3520440"/>
            <a:ext cx="4663440" cy="731520"/>
          </a:xfrm>
          <a:prstGeom prst="rect">
            <a:avLst/>
          </a:prstGeom>
          <a:noFill/>
          <a:ln/>
        </p:spPr>
        <p:txBody>
          <a:bodyPr wrap="square" lIns="0" tIns="0" rIns="0" bIns="0" rtlCol="0" anchor="ctr"/>
          <a:lstStyle/>
          <a:p>
            <a:pPr marL="0" indent="0" algn="ctr">
              <a:buNone/>
            </a:pPr>
            <a:r>
              <a:rPr lang="en-US" sz="2200" b="1" dirty="0">
                <a:solidFill>
                  <a:srgbClr val="4A6FA5"/>
                </a:solidFill>
              </a:rPr>
              <a:t>odds × 0.999¹⁰ = 0.990</a:t>
            </a:r>
            <a:endParaRPr lang="en-US" sz="2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0058400" cy="1463040"/>
          </a:xfrm>
          <a:prstGeom prst="rect">
            <a:avLst/>
          </a:prstGeom>
          <a:noFill/>
          <a:ln/>
        </p:spPr>
        <p:txBody>
          <a:bodyPr wrap="square" lIns="0" tIns="0" rIns="0" bIns="0" rtlCol="0" anchor="t"/>
          <a:lstStyle/>
          <a:p>
            <a:pPr marL="0" indent="0" algn="l">
              <a:buNone/>
            </a:pPr>
            <a:r>
              <a:rPr lang="en-US" sz="2800" b="1" dirty="0">
                <a:solidFill>
                  <a:srgbClr val="2E3A46"/>
                </a:solidFill>
              </a:rPr>
              <a:t>It still passes p &lt; 0.001 because with 262,013 newcomers almost any difference does, just as a coin landing heads 50.4% of the time looks “unfair” after 262,013 flips</a:t>
            </a:r>
            <a:endParaRPr lang="en-US" sz="2800" dirty="0"/>
          </a:p>
        </p:txBody>
      </p:sp>
      <p:pic>
        <p:nvPicPr>
          <p:cNvPr id="3" name="thr-construct" descr="/Users/amberwang/Desktop/paper-review/assets/thr-construct.png"/>
          <p:cNvPicPr>
            <a:picLocks noChangeAspect="1"/>
          </p:cNvPicPr>
          <p:nvPr/>
        </p:nvPicPr>
        <p:blipFill>
          <a:blip r:embed="rId3"/>
          <a:stretch>
            <a:fillRect/>
          </a:stretch>
        </p:blipFill>
        <p:spPr>
          <a:xfrm>
            <a:off x="5020056" y="6013791"/>
            <a:ext cx="502920" cy="453978"/>
          </a:xfrm>
          <a:prstGeom prst="rect">
            <a:avLst/>
          </a:prstGeom>
        </p:spPr>
      </p:pic>
      <p:sp>
        <p:nvSpPr>
          <p:cNvPr id="4" name="mark-thr-construct"/>
          <p:cNvSpPr txBox="1"/>
          <p:nvPr/>
        </p:nvSpPr>
        <p:spPr>
          <a:xfrm>
            <a:off x="5372100" y="5928970"/>
            <a:ext cx="226314" cy="226314"/>
          </a:xfrm>
          <a:prstGeom prst="rect">
            <a:avLst/>
          </a:prstGeom>
          <a:noFill/>
          <a:ln/>
        </p:spPr>
        <p:txBody>
          <a:bodyPr wrap="square" lIns="0" tIns="0" rIns="0" bIns="0" rtlCol="0" anchor="ctr"/>
          <a:lstStyle/>
          <a:p>
            <a:pPr marL="0" indent="0" algn="ctr">
              <a:buNone/>
            </a:pPr>
            <a:r>
              <a:rPr lang="en-US" sz="1200" b="1" dirty="0">
                <a:solidFill>
                  <a:srgbClr val="E63946"/>
                </a:solidFill>
              </a:rPr>
              <a:t>✗</a:t>
            </a:r>
            <a:endParaRPr lang="en-US" sz="1200" dirty="0"/>
          </a:p>
        </p:txBody>
      </p:sp>
      <p:pic>
        <p:nvPicPr>
          <p:cNvPr id="5" name="thr-internal" descr="/Users/amberwang/Desktop/paper-review/assets/thr-internal.png"/>
          <p:cNvPicPr>
            <a:picLocks noChangeAspect="1"/>
          </p:cNvPicPr>
          <p:nvPr/>
        </p:nvPicPr>
        <p:blipFill>
          <a:blip r:embed="rId4"/>
          <a:stretch>
            <a:fillRect/>
          </a:stretch>
        </p:blipFill>
        <p:spPr>
          <a:xfrm>
            <a:off x="5843016" y="6063695"/>
            <a:ext cx="502920" cy="354169"/>
          </a:xfrm>
          <a:prstGeom prst="rect">
            <a:avLst/>
          </a:prstGeom>
        </p:spPr>
      </p:pic>
      <p:sp>
        <p:nvSpPr>
          <p:cNvPr id="6" name="mark-thr-internal"/>
          <p:cNvSpPr txBox="1"/>
          <p:nvPr/>
        </p:nvSpPr>
        <p:spPr>
          <a:xfrm>
            <a:off x="6195060" y="5928970"/>
            <a:ext cx="226314" cy="226314"/>
          </a:xfrm>
          <a:prstGeom prst="rect">
            <a:avLst/>
          </a:prstGeom>
          <a:noFill/>
          <a:ln/>
        </p:spPr>
        <p:txBody>
          <a:bodyPr wrap="square" lIns="0" tIns="0" rIns="0" bIns="0" rtlCol="0" anchor="ctr"/>
          <a:lstStyle/>
          <a:p>
            <a:pPr marL="0" indent="0" algn="ctr">
              <a:buNone/>
            </a:pPr>
            <a:r>
              <a:rPr lang="en-US" sz="1200" b="1" dirty="0">
                <a:solidFill>
                  <a:srgbClr val="E63946"/>
                </a:solidFill>
              </a:rPr>
              <a:t>✗</a:t>
            </a:r>
            <a:endParaRPr lang="en-US" sz="1200" dirty="0"/>
          </a:p>
        </p:txBody>
      </p:sp>
      <p:pic>
        <p:nvPicPr>
          <p:cNvPr id="7" name="thr-conclusion" descr="/Users/amberwang/Desktop/paper-review/assets/thr-conclusion.png"/>
          <p:cNvPicPr>
            <a:picLocks noChangeAspect="1"/>
          </p:cNvPicPr>
          <p:nvPr/>
        </p:nvPicPr>
        <p:blipFill>
          <a:blip r:embed="rId5"/>
          <a:stretch>
            <a:fillRect/>
          </a:stretch>
        </p:blipFill>
        <p:spPr>
          <a:xfrm>
            <a:off x="10799409" y="274320"/>
            <a:ext cx="986862" cy="1005840"/>
          </a:xfrm>
          <a:prstGeom prst="rect">
            <a:avLst/>
          </a:prstGeom>
        </p:spPr>
      </p:pic>
      <p:sp>
        <p:nvSpPr>
          <p:cNvPr id="8" name="mark-thr-conclusion"/>
          <p:cNvSpPr txBox="1"/>
          <p:nvPr/>
        </p:nvSpPr>
        <p:spPr>
          <a:xfrm>
            <a:off x="11494008" y="153619"/>
            <a:ext cx="452628" cy="452628"/>
          </a:xfrm>
          <a:prstGeom prst="rect">
            <a:avLst/>
          </a:prstGeom>
          <a:noFill/>
          <a:ln/>
        </p:spPr>
        <p:txBody>
          <a:bodyPr wrap="square" lIns="0" tIns="0" rIns="0" bIns="0" rtlCol="0" anchor="ctr"/>
          <a:lstStyle/>
          <a:p>
            <a:pPr marL="0" indent="0" algn="ctr">
              <a:buNone/>
            </a:pPr>
            <a:r>
              <a:rPr lang="en-US" sz="2200" b="1" dirty="0">
                <a:solidFill>
                  <a:srgbClr val="E63946"/>
                </a:solidFill>
              </a:rPr>
              <a:t>✗</a:t>
            </a:r>
            <a:endParaRPr lang="en-US" sz="2200" dirty="0"/>
          </a:p>
        </p:txBody>
      </p:sp>
      <p:sp>
        <p:nvSpPr>
          <p:cNvPr id="9" name="s10-coin-back"/>
          <p:cNvSpPr/>
          <p:nvPr/>
        </p:nvSpPr>
        <p:spPr>
          <a:xfrm>
            <a:off x="1417320" y="2103120"/>
            <a:ext cx="1600200" cy="1600200"/>
          </a:xfrm>
          <a:prstGeom prst="ellipse">
            <a:avLst/>
          </a:prstGeom>
          <a:solidFill>
            <a:srgbClr val="CFE3F0"/>
          </a:solidFill>
          <a:ln w="25400">
            <a:solidFill>
              <a:srgbClr val="4A6FA5"/>
            </a:solidFill>
            <a:prstDash val="solid"/>
          </a:ln>
        </p:spPr>
        <p:txBody>
          <a:bodyPr/>
          <a:lstStyle/>
          <a:p>
            <a:endParaRPr lang="en-US"/>
          </a:p>
        </p:txBody>
      </p:sp>
      <p:sp>
        <p:nvSpPr>
          <p:cNvPr id="10" name="s10-coin"/>
          <p:cNvSpPr/>
          <p:nvPr/>
        </p:nvSpPr>
        <p:spPr>
          <a:xfrm>
            <a:off x="1188720" y="1965960"/>
            <a:ext cx="1600200" cy="1600200"/>
          </a:xfrm>
          <a:prstGeom prst="ellipse">
            <a:avLst/>
          </a:prstGeom>
          <a:solidFill>
            <a:srgbClr val="FFFFFF"/>
          </a:solidFill>
          <a:ln w="38100">
            <a:solidFill>
              <a:srgbClr val="4A6FA5"/>
            </a:solidFill>
          </a:ln>
        </p:spPr>
        <p:txBody>
          <a:bodyPr wrap="square" rtlCol="0" anchor="ctr"/>
          <a:lstStyle/>
          <a:p>
            <a:pPr marL="0" indent="0" algn="ctr">
              <a:buNone/>
            </a:pPr>
            <a:r>
              <a:rPr lang="en-US" sz="5400" b="1" dirty="0">
                <a:solidFill>
                  <a:srgbClr val="4A6FA5"/>
                </a:solidFill>
              </a:rPr>
              <a:t>H</a:t>
            </a:r>
            <a:endParaRPr lang="en-US" sz="5400" dirty="0"/>
          </a:p>
        </p:txBody>
      </p:sp>
      <p:sp>
        <p:nvSpPr>
          <p:cNvPr id="11" name="s10-text-262,013 flips"/>
          <p:cNvSpPr txBox="1"/>
          <p:nvPr/>
        </p:nvSpPr>
        <p:spPr>
          <a:xfrm>
            <a:off x="548640" y="3886200"/>
            <a:ext cx="3108960" cy="365760"/>
          </a:xfrm>
          <a:prstGeom prst="rect">
            <a:avLst/>
          </a:prstGeom>
          <a:noFill/>
          <a:ln/>
        </p:spPr>
        <p:txBody>
          <a:bodyPr wrap="square" lIns="0" tIns="0" rIns="0" bIns="0" rtlCol="0" anchor="t"/>
          <a:lstStyle/>
          <a:p>
            <a:pPr marL="0" indent="0" algn="ctr">
              <a:buNone/>
            </a:pPr>
            <a:r>
              <a:rPr lang="en-US" sz="2000" b="1" dirty="0">
                <a:solidFill>
                  <a:srgbClr val="2E3A46"/>
                </a:solidFill>
              </a:rPr>
              <a:t>262,013 flips</a:t>
            </a:r>
            <a:endParaRPr lang="en-US" sz="2000" dirty="0"/>
          </a:p>
        </p:txBody>
      </p:sp>
      <p:sp>
        <p:nvSpPr>
          <p:cNvPr id="12" name="s10-text-50.4% heads"/>
          <p:cNvSpPr txBox="1"/>
          <p:nvPr/>
        </p:nvSpPr>
        <p:spPr>
          <a:xfrm>
            <a:off x="548640" y="4297680"/>
            <a:ext cx="3108960" cy="320040"/>
          </a:xfrm>
          <a:prstGeom prst="rect">
            <a:avLst/>
          </a:prstGeom>
          <a:noFill/>
          <a:ln/>
        </p:spPr>
        <p:txBody>
          <a:bodyPr wrap="square" lIns="0" tIns="0" rIns="0" bIns="0" rtlCol="0" anchor="t"/>
          <a:lstStyle/>
          <a:p>
            <a:pPr marL="0" indent="0" algn="ctr">
              <a:buNone/>
            </a:pPr>
            <a:r>
              <a:rPr lang="en-US" sz="1700" dirty="0">
                <a:solidFill>
                  <a:srgbClr val="2E3A46"/>
                </a:solidFill>
              </a:rPr>
              <a:t>50.4% heads</a:t>
            </a:r>
            <a:endParaRPr lang="en-US" sz="1700" dirty="0"/>
          </a:p>
        </p:txBody>
      </p:sp>
      <p:sp>
        <p:nvSpPr>
          <p:cNvPr id="13" name="s10-stat-p"/>
          <p:cNvSpPr txBox="1"/>
          <p:nvPr/>
        </p:nvSpPr>
        <p:spPr>
          <a:xfrm>
            <a:off x="3931920" y="2194560"/>
            <a:ext cx="3657600" cy="822960"/>
          </a:xfrm>
          <a:prstGeom prst="rect">
            <a:avLst/>
          </a:prstGeom>
          <a:noFill/>
          <a:ln/>
        </p:spPr>
        <p:txBody>
          <a:bodyPr wrap="square" lIns="0" tIns="0" rIns="0" bIns="0" rtlCol="0" anchor="ctr"/>
          <a:lstStyle/>
          <a:p>
            <a:pPr marL="0" indent="0" algn="ctr">
              <a:buNone/>
            </a:pPr>
            <a:r>
              <a:rPr lang="en-US" sz="4400" b="1" dirty="0">
                <a:solidFill>
                  <a:srgbClr val="E63946"/>
                </a:solidFill>
              </a:rPr>
              <a:t>p ≈ 0.00004</a:t>
            </a:r>
            <a:endParaRPr lang="en-US" sz="4400" dirty="0"/>
          </a:p>
        </p:txBody>
      </p:sp>
      <p:sp>
        <p:nvSpPr>
          <p:cNvPr id="14" name="s10-text-“significantly unf"/>
          <p:cNvSpPr txBox="1"/>
          <p:nvPr/>
        </p:nvSpPr>
        <p:spPr>
          <a:xfrm>
            <a:off x="3931920" y="3063240"/>
            <a:ext cx="3657600" cy="365760"/>
          </a:xfrm>
          <a:prstGeom prst="rect">
            <a:avLst/>
          </a:prstGeom>
          <a:noFill/>
          <a:ln/>
        </p:spPr>
        <p:txBody>
          <a:bodyPr wrap="square" lIns="0" tIns="0" rIns="0" bIns="0" rtlCol="0" anchor="t"/>
          <a:lstStyle/>
          <a:p>
            <a:pPr marL="0" indent="0" algn="ctr">
              <a:buNone/>
            </a:pPr>
            <a:r>
              <a:rPr lang="en-US" sz="1700" dirty="0">
                <a:solidFill>
                  <a:srgbClr val="2E3A46"/>
                </a:solidFill>
              </a:rPr>
              <a:t>“significantly unfair”</a:t>
            </a:r>
            <a:endParaRPr lang="en-US" sz="1700" dirty="0"/>
          </a:p>
        </p:txBody>
      </p:sp>
      <p:sp>
        <p:nvSpPr>
          <p:cNvPr id="15" name="s10-text-="/>
          <p:cNvSpPr txBox="1"/>
          <p:nvPr/>
        </p:nvSpPr>
        <p:spPr>
          <a:xfrm>
            <a:off x="7589520" y="2194560"/>
            <a:ext cx="548640" cy="822960"/>
          </a:xfrm>
          <a:prstGeom prst="rect">
            <a:avLst/>
          </a:prstGeom>
          <a:noFill/>
          <a:ln/>
        </p:spPr>
        <p:txBody>
          <a:bodyPr wrap="square" lIns="0" tIns="0" rIns="0" bIns="0" rtlCol="0" anchor="ctr"/>
          <a:lstStyle/>
          <a:p>
            <a:pPr marL="0" indent="0" algn="ctr">
              <a:buNone/>
            </a:pPr>
            <a:r>
              <a:rPr lang="en-US" sz="4400" b="1" dirty="0">
                <a:solidFill>
                  <a:srgbClr val="9AA5B1"/>
                </a:solidFill>
              </a:rPr>
              <a:t>=</a:t>
            </a:r>
            <a:endParaRPr lang="en-US" sz="4400" dirty="0"/>
          </a:p>
        </p:txBody>
      </p:sp>
      <p:sp>
        <p:nvSpPr>
          <p:cNvPr id="16" name="s10-stat-n"/>
          <p:cNvSpPr txBox="1"/>
          <p:nvPr/>
        </p:nvSpPr>
        <p:spPr>
          <a:xfrm>
            <a:off x="8138160" y="2194560"/>
            <a:ext cx="3474720" cy="822960"/>
          </a:xfrm>
          <a:prstGeom prst="rect">
            <a:avLst/>
          </a:prstGeom>
          <a:noFill/>
          <a:ln/>
        </p:spPr>
        <p:txBody>
          <a:bodyPr wrap="square" lIns="0" tIns="0" rIns="0" bIns="0" rtlCol="0" anchor="ctr"/>
          <a:lstStyle/>
          <a:p>
            <a:pPr marL="0" indent="0" algn="ctr">
              <a:buNone/>
            </a:pPr>
            <a:r>
              <a:rPr lang="en-US" sz="4400" b="1" dirty="0">
                <a:solidFill>
                  <a:srgbClr val="2E3A46"/>
                </a:solidFill>
              </a:rPr>
              <a:t>262,013</a:t>
            </a:r>
            <a:endParaRPr lang="en-US" sz="4400" dirty="0"/>
          </a:p>
        </p:txBody>
      </p:sp>
      <p:sp>
        <p:nvSpPr>
          <p:cNvPr id="17" name="s10-text-newcomers in GitHu"/>
          <p:cNvSpPr txBox="1"/>
          <p:nvPr/>
        </p:nvSpPr>
        <p:spPr>
          <a:xfrm>
            <a:off x="8138160" y="3063240"/>
            <a:ext cx="3474720" cy="365760"/>
          </a:xfrm>
          <a:prstGeom prst="rect">
            <a:avLst/>
          </a:prstGeom>
          <a:noFill/>
          <a:ln/>
        </p:spPr>
        <p:txBody>
          <a:bodyPr wrap="square" lIns="0" tIns="0" rIns="0" bIns="0" rtlCol="0" anchor="t"/>
          <a:lstStyle/>
          <a:p>
            <a:pPr marL="0" indent="0" algn="ctr">
              <a:buNone/>
            </a:pPr>
            <a:r>
              <a:rPr lang="en-US" sz="1700" dirty="0">
                <a:solidFill>
                  <a:srgbClr val="2E3A46"/>
                </a:solidFill>
              </a:rPr>
              <a:t>newcomers in GitHub(H)</a:t>
            </a:r>
            <a:endParaRPr lang="en-US" sz="1700" dirty="0"/>
          </a:p>
        </p:txBody>
      </p:sp>
      <p:sp>
        <p:nvSpPr>
          <p:cNvPr id="18" name="s10-takeaway"/>
          <p:cNvSpPr/>
          <p:nvPr/>
        </p:nvSpPr>
        <p:spPr>
          <a:xfrm>
            <a:off x="2194560" y="4663440"/>
            <a:ext cx="7772400" cy="731520"/>
          </a:xfrm>
          <a:prstGeom prst="roundRect">
            <a:avLst>
              <a:gd name="adj" fmla="val 12500"/>
            </a:avLst>
          </a:prstGeom>
          <a:solidFill>
            <a:srgbClr val="CFE3F0"/>
          </a:solidFill>
          <a:ln/>
        </p:spPr>
        <p:txBody>
          <a:bodyPr wrap="square" rtlCol="0" anchor="ctr"/>
          <a:lstStyle/>
          <a:p>
            <a:pPr marL="0" indent="0" algn="ctr">
              <a:buNone/>
            </a:pPr>
            <a:r>
              <a:rPr lang="en-US" sz="2400" b="1" dirty="0">
                <a:solidFill>
                  <a:srgbClr val="4A6FA5"/>
                </a:solidFill>
              </a:rPr>
              <a:t>significant is not the same as important</a:t>
            </a:r>
            <a:endParaRPr lang="en-US" sz="2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10058400" cy="1463040"/>
          </a:xfrm>
          <a:prstGeom prst="rect">
            <a:avLst/>
          </a:prstGeom>
          <a:noFill/>
          <a:ln/>
        </p:spPr>
        <p:txBody>
          <a:bodyPr wrap="square" lIns="0" tIns="0" rIns="0" bIns="0" rtlCol="0" anchor="t"/>
          <a:lstStyle/>
          <a:p>
            <a:pPr marL="0" indent="0" algn="l">
              <a:buNone/>
            </a:pPr>
            <a:r>
              <a:rPr lang="en-US" sz="2800" b="1" dirty="0">
                <a:solidFill>
                  <a:srgbClr val="2E3A46"/>
                </a:solidFill>
              </a:rPr>
              <a:t>The paper shows which patches get accepted, not which newcomers stay, so both claims should be rewritten before it is accepted</a:t>
            </a:r>
            <a:endParaRPr lang="en-US" sz="2800" dirty="0"/>
          </a:p>
        </p:txBody>
      </p:sp>
      <p:pic>
        <p:nvPicPr>
          <p:cNvPr id="3" name="thr-construct" descr="/Users/amberwang/Desktop/paper-review/assets/thr-construct.png"/>
          <p:cNvPicPr>
            <a:picLocks noChangeAspect="1"/>
          </p:cNvPicPr>
          <p:nvPr/>
        </p:nvPicPr>
        <p:blipFill>
          <a:blip r:embed="rId3"/>
          <a:stretch>
            <a:fillRect/>
          </a:stretch>
        </p:blipFill>
        <p:spPr>
          <a:xfrm>
            <a:off x="2253996" y="1973631"/>
            <a:ext cx="1097280" cy="990498"/>
          </a:xfrm>
          <a:prstGeom prst="rect">
            <a:avLst/>
          </a:prstGeom>
        </p:spPr>
      </p:pic>
      <p:sp>
        <p:nvSpPr>
          <p:cNvPr id="4" name="lbl-thr-construct"/>
          <p:cNvSpPr txBox="1"/>
          <p:nvPr/>
        </p:nvSpPr>
        <p:spPr>
          <a:xfrm>
            <a:off x="1202436" y="3154680"/>
            <a:ext cx="3200400" cy="365760"/>
          </a:xfrm>
          <a:prstGeom prst="rect">
            <a:avLst/>
          </a:prstGeom>
          <a:noFill/>
          <a:ln/>
        </p:spPr>
        <p:txBody>
          <a:bodyPr wrap="square" lIns="0" tIns="0" rIns="0" bIns="0" rtlCol="0" anchor="t"/>
          <a:lstStyle/>
          <a:p>
            <a:pPr marL="0" indent="0" algn="ctr">
              <a:buNone/>
            </a:pPr>
            <a:r>
              <a:rPr lang="en-US" sz="1500" b="1" dirty="0">
                <a:solidFill>
                  <a:srgbClr val="2E3A46"/>
                </a:solidFill>
              </a:rPr>
              <a:t>No evidence</a:t>
            </a:r>
            <a:endParaRPr lang="en-US" sz="1500" dirty="0"/>
          </a:p>
        </p:txBody>
      </p:sp>
      <p:sp>
        <p:nvSpPr>
          <p:cNvPr id="5" name="mark-thr-construct"/>
          <p:cNvSpPr txBox="1"/>
          <p:nvPr/>
        </p:nvSpPr>
        <p:spPr>
          <a:xfrm>
            <a:off x="3022092" y="1788566"/>
            <a:ext cx="493776" cy="493776"/>
          </a:xfrm>
          <a:prstGeom prst="rect">
            <a:avLst/>
          </a:prstGeom>
          <a:noFill/>
          <a:ln/>
        </p:spPr>
        <p:txBody>
          <a:bodyPr wrap="square" lIns="0" tIns="0" rIns="0" bIns="0" rtlCol="0" anchor="ctr"/>
          <a:lstStyle/>
          <a:p>
            <a:pPr marL="0" indent="0" algn="ctr">
              <a:buNone/>
            </a:pPr>
            <a:r>
              <a:rPr lang="en-US" sz="2400" b="1" dirty="0">
                <a:solidFill>
                  <a:srgbClr val="E63946"/>
                </a:solidFill>
              </a:rPr>
              <a:t>✗</a:t>
            </a:r>
            <a:endParaRPr lang="en-US" sz="2400" dirty="0"/>
          </a:p>
        </p:txBody>
      </p:sp>
      <p:pic>
        <p:nvPicPr>
          <p:cNvPr id="6" name="thr-internal" descr="/Users/amberwang/Desktop/paper-review/assets/thr-internal.png"/>
          <p:cNvPicPr>
            <a:picLocks noChangeAspect="1"/>
          </p:cNvPicPr>
          <p:nvPr/>
        </p:nvPicPr>
        <p:blipFill>
          <a:blip r:embed="rId4"/>
          <a:stretch>
            <a:fillRect/>
          </a:stretch>
        </p:blipFill>
        <p:spPr>
          <a:xfrm>
            <a:off x="5545836" y="2082514"/>
            <a:ext cx="1097280" cy="772732"/>
          </a:xfrm>
          <a:prstGeom prst="rect">
            <a:avLst/>
          </a:prstGeom>
        </p:spPr>
      </p:pic>
      <p:sp>
        <p:nvSpPr>
          <p:cNvPr id="7" name="lbl-thr-internal"/>
          <p:cNvSpPr txBox="1"/>
          <p:nvPr/>
        </p:nvSpPr>
        <p:spPr>
          <a:xfrm>
            <a:off x="4494276" y="3154680"/>
            <a:ext cx="3200400" cy="365760"/>
          </a:xfrm>
          <a:prstGeom prst="rect">
            <a:avLst/>
          </a:prstGeom>
          <a:noFill/>
          <a:ln/>
        </p:spPr>
        <p:txBody>
          <a:bodyPr wrap="square" lIns="0" tIns="0" rIns="0" bIns="0" rtlCol="0" anchor="t"/>
          <a:lstStyle/>
          <a:p>
            <a:pPr marL="0" indent="0" algn="ctr">
              <a:buNone/>
            </a:pPr>
            <a:r>
              <a:rPr lang="en-US" sz="1500" b="1" dirty="0">
                <a:solidFill>
                  <a:srgbClr val="2E3A46"/>
                </a:solidFill>
              </a:rPr>
              <a:t>Biased conclusion</a:t>
            </a:r>
            <a:endParaRPr lang="en-US" sz="1500" dirty="0"/>
          </a:p>
        </p:txBody>
      </p:sp>
      <p:sp>
        <p:nvSpPr>
          <p:cNvPr id="8" name="mark-thr-internal"/>
          <p:cNvSpPr txBox="1"/>
          <p:nvPr/>
        </p:nvSpPr>
        <p:spPr>
          <a:xfrm>
            <a:off x="6313932" y="1788566"/>
            <a:ext cx="493776" cy="493776"/>
          </a:xfrm>
          <a:prstGeom prst="rect">
            <a:avLst/>
          </a:prstGeom>
          <a:noFill/>
          <a:ln/>
        </p:spPr>
        <p:txBody>
          <a:bodyPr wrap="square" lIns="0" tIns="0" rIns="0" bIns="0" rtlCol="0" anchor="ctr"/>
          <a:lstStyle/>
          <a:p>
            <a:pPr marL="0" indent="0" algn="ctr">
              <a:buNone/>
            </a:pPr>
            <a:r>
              <a:rPr lang="en-US" sz="2400" b="1" dirty="0">
                <a:solidFill>
                  <a:srgbClr val="E63946"/>
                </a:solidFill>
              </a:rPr>
              <a:t>✗</a:t>
            </a:r>
            <a:endParaRPr lang="en-US" sz="2400" dirty="0"/>
          </a:p>
        </p:txBody>
      </p:sp>
      <p:pic>
        <p:nvPicPr>
          <p:cNvPr id="9" name="thr-conclusion" descr="/Users/amberwang/Desktop/paper-review/assets/thr-conclusion.png"/>
          <p:cNvPicPr>
            <a:picLocks noChangeAspect="1"/>
          </p:cNvPicPr>
          <p:nvPr/>
        </p:nvPicPr>
        <p:blipFill>
          <a:blip r:embed="rId5"/>
          <a:stretch>
            <a:fillRect/>
          </a:stretch>
        </p:blipFill>
        <p:spPr>
          <a:xfrm>
            <a:off x="8848028" y="1920240"/>
            <a:ext cx="1076577" cy="1097280"/>
          </a:xfrm>
          <a:prstGeom prst="rect">
            <a:avLst/>
          </a:prstGeom>
        </p:spPr>
      </p:pic>
      <p:sp>
        <p:nvSpPr>
          <p:cNvPr id="10" name="lbl-thr-conclusion"/>
          <p:cNvSpPr txBox="1"/>
          <p:nvPr/>
        </p:nvSpPr>
        <p:spPr>
          <a:xfrm>
            <a:off x="7786116" y="3154680"/>
            <a:ext cx="3200400" cy="365760"/>
          </a:xfrm>
          <a:prstGeom prst="rect">
            <a:avLst/>
          </a:prstGeom>
          <a:noFill/>
          <a:ln/>
        </p:spPr>
        <p:txBody>
          <a:bodyPr wrap="square" lIns="0" tIns="0" rIns="0" bIns="0" rtlCol="0" anchor="t"/>
          <a:lstStyle/>
          <a:p>
            <a:pPr marL="0" indent="0" algn="ctr">
              <a:buNone/>
            </a:pPr>
            <a:r>
              <a:rPr lang="en-US" sz="1500" b="1" dirty="0">
                <a:solidFill>
                  <a:srgbClr val="2E3A46"/>
                </a:solidFill>
              </a:rPr>
              <a:t>Significance from large samples</a:t>
            </a:r>
            <a:endParaRPr lang="en-US" sz="1500" dirty="0"/>
          </a:p>
        </p:txBody>
      </p:sp>
      <p:sp>
        <p:nvSpPr>
          <p:cNvPr id="11" name="mark-thr-conclusion"/>
          <p:cNvSpPr txBox="1"/>
          <p:nvPr/>
        </p:nvSpPr>
        <p:spPr>
          <a:xfrm>
            <a:off x="9605772" y="1788566"/>
            <a:ext cx="493776" cy="493776"/>
          </a:xfrm>
          <a:prstGeom prst="rect">
            <a:avLst/>
          </a:prstGeom>
          <a:noFill/>
          <a:ln/>
        </p:spPr>
        <p:txBody>
          <a:bodyPr wrap="square" lIns="0" tIns="0" rIns="0" bIns="0" rtlCol="0" anchor="ctr"/>
          <a:lstStyle/>
          <a:p>
            <a:pPr marL="0" indent="0" algn="ctr">
              <a:buNone/>
            </a:pPr>
            <a:r>
              <a:rPr lang="en-US" sz="2400" b="1" dirty="0">
                <a:solidFill>
                  <a:srgbClr val="E63946"/>
                </a:solidFill>
              </a:rPr>
              <a:t>✗</a:t>
            </a:r>
            <a:endParaRPr lang="en-US" sz="24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9AA5B1"/>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800">
        <p159:morph option="byObject"/>
      </p:transition>
    </mc:Choice>
    <mc:Fallback xmlns="">
      <p:transition spd="slow">
        <p:fade/>
      </p:transition>
    </mc:Fallback>
  </mc:AlternateContent>
</p:sld>
</file>

<file path=ppt/theme/theme1.xml><?xml version="1.0" encoding="utf-8"?>
<a:theme xmlns:a="http://schemas.openxmlformats.org/drawingml/2006/main" name="FirstPatch Adversary v2">
  <a:themeElements>
    <a:clrScheme name="FirstPatch Adversary v2">
      <a:dk1>
        <a:srgbClr val="2E3A46"/>
      </a:dk1>
      <a:lt1>
        <a:srgbClr val="FFFFFF"/>
      </a:lt1>
      <a:dk2>
        <a:srgbClr val="4A6FA5"/>
      </a:dk2>
      <a:lt2>
        <a:srgbClr val="CFE3F0"/>
      </a:lt2>
      <a:accent1>
        <a:srgbClr val="4A6FA5"/>
      </a:accent1>
      <a:accent2>
        <a:srgbClr val="8FAF9A"/>
      </a:accent2>
      <a:accent3>
        <a:srgbClr val="E63946"/>
      </a:accent3>
      <a:accent4>
        <a:srgbClr val="4CAF7A"/>
      </a:accent4>
      <a:accent5>
        <a:srgbClr val="9AA5B1"/>
      </a:accent5>
      <a:accent6>
        <a:srgbClr val="CFE3F0"/>
      </a:accent6>
      <a:hlink>
        <a:srgbClr val="4A6FA5"/>
      </a:hlink>
      <a:folHlink>
        <a:srgbClr val="8FAF9A"/>
      </a:folHlink>
    </a:clrScheme>
    <a:fontScheme name="FirstPatch Adversary v2">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568</TotalTime>
  <Words>2818</Words>
  <Application>Microsoft Macintosh PowerPoint</Application>
  <PresentationFormat>Widescreen</PresentationFormat>
  <Paragraphs>133</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FirstPatch Adversary v2</vt:lpstr>
      <vt:lpstr>From First Patch to Long-Term Contributor: Evaluating Onboarding Recommendations for OSS Newcomers</vt:lpstr>
      <vt:lpstr>Problems with the paper's claims</vt:lpstr>
      <vt:lpstr>PowerPoint Presentation</vt:lpstr>
      <vt:lpstr>Evidence ( </vt:lpstr>
      <vt:lpstr>How the authors could do it differently? </vt:lpstr>
      <vt:lpstr>“Long term” Claim with No Evidence   </vt:lpstr>
      <vt:lpstr>PowerPoint Presentation</vt:lpstr>
      <vt:lpstr>Overstate the practical importance </vt:lpstr>
      <vt:lpstr>Overstate the practical importance </vt:lpstr>
      <vt:lpstr>The abstract reports four recommendations with “significant negative associations”, and every one rests on an odds ratio of 0.999 or 1.001</vt:lpstr>
      <vt:lpstr>An odds ratio of 0.999 per word means ten extra words in a title move a 50% chance of acceptance to 49.75%</vt:lpstr>
      <vt:lpstr>It still passes p &lt; 0.001 because with 262,013 newcomers almost any difference does, just as a coin landing heads 50.4% of the time looks “unfair” after 262,013 flips</vt:lpstr>
      <vt:lpstr>The paper shows which patches get accepted, not which newcomers stay, so both claims should be rewritten before it is accepted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First Patch to Long-Term Contributor: the adversary's case (v2)</dc:title>
  <dc:subject>PptxGenJS Presentation</dc:subject>
  <dc:creator>Amber Wang</dc:creator>
  <cp:lastModifiedBy>Amber Wang</cp:lastModifiedBy>
  <cp:revision>4</cp:revision>
  <dcterms:created xsi:type="dcterms:W3CDTF">2026-10-21T04:36:54Z</dcterms:created>
  <dcterms:modified xsi:type="dcterms:W3CDTF">2026-10-21T14:09:34Z</dcterms:modified>
</cp:coreProperties>
</file>