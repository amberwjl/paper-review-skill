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dversary case" id="{cf8c63e3-4927-9cdd-ff14-3db182394bb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E3A46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2E3A46"/>
                </a:solidFill>
                <a:latin typeface="+mn-lt"/>
              </a:rPr>
              <a:t>Explained deviance EP(%) of iterations, newcomer models · Table VII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iterations EP(%)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3A4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Android</c:v>
                  </c:pt>
                  <c:pt idx="1">
                    <c:v>LibreOffice</c:v>
                  </c:pt>
                  <c:pt idx="2">
                    <c:v>oVirt</c:v>
                  </c:pt>
                  <c:pt idx="3">
                    <c:v>Typo3</c:v>
                  </c:pt>
                  <c:pt idx="4">
                    <c:v>Wikimedia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3.09</c:v>
                </c:pt>
                <c:pt idx="1">
                  <c:v>11.19</c:v>
                </c:pt>
                <c:pt idx="2">
                  <c:v>14.19</c:v>
                </c:pt>
                <c:pt idx="3">
                  <c:v>8.83</c:v>
                </c:pt>
                <c:pt idx="4">
                  <c:v>0.61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E3A4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E3A4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6350" cap="flat">
              <a:solidFill>
                <a:srgbClr val="E6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E3A46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2E3A46"/>
                </a:solidFill>
                <a:latin typeface="+mn-lt"/>
              </a:rPr>
              <a:t>EP(%), GitHub(H) newcomers · Table VIII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EP(%)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E3A4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title len.</c:v>
                  </c:pt>
                  <c:pt idx="1">
                    <c:v>desc. len.</c:v>
                  </c:pt>
                  <c:pt idx="2">
                    <c:v>title read.</c:v>
                  </c:pt>
                  <c:pt idx="3">
                    <c:v>desc. read.</c:v>
                  </c:pt>
                  <c:pt idx="4">
                    <c:v>log(insert)</c:v>
                  </c:pt>
                  <c:pt idx="5">
                    <c:v>doc file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0.01</c:v>
                </c:pt>
                <c:pt idx="1">
                  <c:v>0.01</c:v>
                </c:pt>
                <c:pt idx="2">
                  <c:v>0.03</c:v>
                </c:pt>
                <c:pt idx="3">
                  <c:v>0.02</c:v>
                </c:pt>
                <c:pt idx="4">
                  <c:v>2.92</c:v>
                </c:pt>
                <c:pt idx="5">
                  <c:v>1.82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E3A4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E3A4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</c:scaling>
        <c:delete val="0"/>
        <c:axPos val="l"/>
        <c:majorGridlines>
          <c:spPr>
            <a:ln w="6350" cap="flat">
              <a:solidFill>
                <a:srgbClr val="E6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title. Transition into slide 2: Fade.
Opening line: the champions showed you what the paper found; I am going to argue that what it claims is larger than what it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 SOURCE. The five icons are pictures named pt-holds, thr-construct, thr-internal, thr-conclusion, pt-experiment in the Selection Pane; the same pictures with the same names appear on slides 3-9, which is what lets Morph move them.
Animation: click 1 pt-holds Fade with label; click 2 the three threat icons Fly In from bottom in sequence (0.2 s delay) and the bracket Wipe from left; click 3 pt-experiment Fade.
Say: three threats, in the order the paper's own Section VI lists them, minus external validity, which is the paper's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Morph (pt-holds flies to the badge, the other four shrink into the strip).
Click 1 first callout Grow &amp; Turn; click 2 second; click 3 third; click 4 green check Fade onto the badge.
Say: credit first. These three numbers survive everything I am about to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Morph (thr-construct rises to the badge, pt-holds drops to the strip with its check).
Click 1 bubble + sapling Fade; click 2 is_accepted box Wipe from bottom; click 3 dashed box Fade, question mark Pulse; click 4 red arrow Wipe from left; click 5 red cross onto the badge.
Say: the newcomer definition (IV-A-4) ends at the first accepted patch; after that everyone is one control group and the dependent variable is still acceptance of a single patch. 'Long-term contributor' appears in the title, abstract and conclusion and in no variable.
Expected rebuttal: 'acceptance of later patches is a reasonable proxy.' Answer: then the paper should test the proxy, and it has the data to do so (slide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Morph (thr-internal rises, thr-construct drops with its cross).
Click 1 table Fade, then the CT cells Fill Color red one by one; click 2 jars Fade; click 3 characters Fly In from bottom over the jars; click 4 the three missing-covariate boxes Fade with the crosses Pulse. No cross on the badge yet; the point continues on slide 6.
Say: in Android, oVirt and Wikimedia the sponsor's employees are non-newcomers whose complex, non-documentation patches are accepted because they are trusted. Nothing in the model separates trust from task type.
Expected rebuttal: 'Section VI acknowledges non-newcomer diversity.' Answer: acknowledging a confound is not controlling for it; the models have no tenure, affiliation or author terms, no project fixed effects in the pooled GitHub strata, and no clustered standard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Morph; thr-internal stays in place as the badge, so only the content changes.
Click 1 timeline nodes Wipe from left in sequence; click 2 red arrow Wipe; click 3 chart bars Wipe from bottom one at a time; click 4 callout Grow &amp; Turn; click 5 red cross onto the badge.
Say: iterations is the top predictor in LibreOffice, oVirt and Typo3 (Android: bug fix; Wikimedia: promptness, also post-submission). 'Be patient' is advice derived from a variable the newcomer does not control.
If short on time, cut this slide; it weakens Key Takeaway 4, not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Morph (thr-conclusion rises, thr-internal drops with its cross).
Click 1 N callout Grow &amp; Turn; click 2 OR callout Grow &amp; Turn; click 3 chart Wipe from bottom (the four tiny bars barely appear, which is the point); click 4 Table XI row Fade then the grey line Wipe across it; click 5 red cross onto the badge.
Say: the paper's own EP column shows these are null effects; the abstract still counts them as 'four significant negative associations'. The honest reading, 'no effect', is more useful to newcomers.
Expected rebuttal: 'EP is reported.' Answer: reported, then not applied in the abstract or Table XI.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Morph (pt-experiment rises, thr-conclusion drops with its cross).
Click 1 newcomer + first patch + stamp Fade; click 2 patches 2–10 Wipe from left in sequence along the line; click 3 the tile fills alternate (Fill Color) to show the complexity contrast; click 4 sapling + question mark Fade and Pulse; click 5 a slate arrow Fade onto the badge (not a verdict mark).
Say: a within-person design removes the composition problem by construction, and a 12-month activity outcome measures what the title promises. The authors have the data; this is a revision, not a new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Morph (all five icons travel back to the agenda row; the strip disappears). The marks are separate shapes named mark-&lt;slug&gt; so they morph too.
Click 1 the three crosses Pulse together; click 2 original title Fade then its strike-through; click 3 reframed title Wipe from left; click 4 small hero Fade.
Close: this paper tells us which patches get accepted, not which newcomers become long-term contributors. Reframed, it is a useful paper; as titled, its central claim is untested.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280160"/>
            <a:ext cx="56692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3A46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996696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E3A46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7.png"/><Relationship Id="rId10" Type="http://schemas.openxmlformats.org/officeDocument/2006/relationships/image" Target="../media/image-8-7.png"/><Relationship Id="rId11" Type="http://schemas.openxmlformats.org/officeDocument/2006/relationships/image" Target="../media/image-8-7.png"/><Relationship Id="rId12" Type="http://schemas.openxmlformats.org/officeDocument/2006/relationships/image" Target="../media/image-8-7.png"/><Relationship Id="rId13" Type="http://schemas.openxmlformats.org/officeDocument/2006/relationships/image" Target="../media/image-8-7.png"/><Relationship Id="rId14" Type="http://schemas.openxmlformats.org/officeDocument/2006/relationships/image" Target="../media/image-8-7.png"/><Relationship Id="rId15" Type="http://schemas.openxmlformats.org/officeDocument/2006/relationships/image" Target="../media/image-8-7.png"/><Relationship Id="rId16" Type="http://schemas.openxmlformats.org/officeDocument/2006/relationships/image" Target="../media/image-8-7.png"/><Relationship Id="rId17" Type="http://schemas.openxmlformats.org/officeDocument/2006/relationships/image" Target="../media/image-8-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slideLayout" Target="../slideLayouts/slideLayout3.xml"/><Relationship Id="rId2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28016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A46"/>
                </a:solidFill>
              </a:rPr>
              <a:t>The adversary's case: the claims outrun the evidence</a:t>
            </a:r>
            <a:endParaRPr lang="en-US" sz="3200" dirty="0"/>
          </a:p>
        </p:txBody>
      </p:sp>
      <p:pic>
        <p:nvPicPr>
          <p:cNvPr id="3" name="hero-door" descr="/private/tmp/claude-501/-Users-amberwang-Desktop-paper-review/4adec69b-c776-4638-9e73-445c6258dc5b/scratchpad/deck/assets/hero-do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40300"/>
            <a:ext cx="5394960" cy="3468841"/>
          </a:xfrm>
          <a:prstGeom prst="rect">
            <a:avLst/>
          </a:prstGeom>
        </p:spPr>
      </p:pic>
      <p:sp>
        <p:nvSpPr>
          <p:cNvPr id="4" name="Turzo, Sultana, Bosu · IEEE Tr"/>
          <p:cNvSpPr txBox="1"/>
          <p:nvPr/>
        </p:nvSpPr>
        <p:spPr>
          <a:xfrm>
            <a:off x="457200" y="3749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5B1"/>
                </a:solidFill>
              </a:rPr>
              <a:t>Turzo, Sultana, Bosu · IEEE Transactions on Software Engineering 51(4), 2025</a:t>
            </a:r>
            <a:endParaRPr lang="en-US" sz="1400" dirty="0"/>
          </a:p>
        </p:txBody>
      </p:sp>
      <p:sp>
        <p:nvSpPr>
          <p:cNvPr id="5" name="Adversary presentation · after"/>
          <p:cNvSpPr txBox="1"/>
          <p:nvPr/>
        </p:nvSpPr>
        <p:spPr>
          <a:xfrm>
            <a:off x="457200" y="4160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AA5B1"/>
                </a:solidFill>
              </a:rPr>
              <a:t>Adversary presentation · after the champions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A46"/>
                </a:solidFill>
              </a:rPr>
              <a:t>I will grant what holds, raise three threats to validity, and name the experiment that would change my mind</a:t>
            </a:r>
            <a:endParaRPr lang="en-US" sz="2600" dirty="0"/>
          </a:p>
        </p:txBody>
      </p:sp>
      <p:pic>
        <p:nvPicPr>
          <p:cNvPr id="3" name="pt-holds" descr="/private/tmp/claude-501/-Users-amberwang-Desktop-paper-review/4adec69b-c776-4638-9e73-445c6258dc5b/scratchpad/deck/assets/pt-ho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673" y="2331720"/>
            <a:ext cx="1171366" cy="1371600"/>
          </a:xfrm>
          <a:prstGeom prst="rect">
            <a:avLst/>
          </a:prstGeom>
        </p:spPr>
      </p:pic>
      <p:sp>
        <p:nvSpPr>
          <p:cNvPr id="4" name="lbl-pt-holds"/>
          <p:cNvSpPr txBox="1"/>
          <p:nvPr/>
        </p:nvSpPr>
        <p:spPr>
          <a:xfrm>
            <a:off x="60807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What holds</a:t>
            </a:r>
            <a:endParaRPr lang="en-US" sz="1400" dirty="0"/>
          </a:p>
        </p:txBody>
      </p:sp>
      <p:pic>
        <p:nvPicPr>
          <p:cNvPr id="5" name="thr-construct" descr="/private/tmp/claude-501/-Users-amberwang-Desktop-paper-review/4adec69b-c776-4638-9e73-445c6258dc5b/scratchpad/deck/assets/thr-constru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16" y="2398459"/>
            <a:ext cx="1371600" cy="1238122"/>
          </a:xfrm>
          <a:prstGeom prst="rect">
            <a:avLst/>
          </a:prstGeom>
        </p:spPr>
      </p:pic>
      <p:sp>
        <p:nvSpPr>
          <p:cNvPr id="6" name="lbl-thr-construct"/>
          <p:cNvSpPr txBox="1"/>
          <p:nvPr/>
        </p:nvSpPr>
        <p:spPr>
          <a:xfrm>
            <a:off x="280263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Construct validity</a:t>
            </a:r>
            <a:endParaRPr lang="en-US" sz="1400" dirty="0"/>
          </a:p>
        </p:txBody>
      </p:sp>
      <p:pic>
        <p:nvPicPr>
          <p:cNvPr id="7" name="thr-internal" descr="/private/tmp/claude-501/-Users-amberwang-Desktop-paper-review/4adec69b-c776-4638-9e73-445c6258dc5b/scratchpad/deck/assets/thr-inter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2534562"/>
            <a:ext cx="1371600" cy="965915"/>
          </a:xfrm>
          <a:prstGeom prst="rect">
            <a:avLst/>
          </a:prstGeom>
        </p:spPr>
      </p:pic>
      <p:sp>
        <p:nvSpPr>
          <p:cNvPr id="8" name="lbl-thr-internal"/>
          <p:cNvSpPr txBox="1"/>
          <p:nvPr/>
        </p:nvSpPr>
        <p:spPr>
          <a:xfrm>
            <a:off x="499719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Internal validity</a:t>
            </a:r>
            <a:endParaRPr lang="en-US" sz="1400" dirty="0"/>
          </a:p>
        </p:txBody>
      </p:sp>
      <p:pic>
        <p:nvPicPr>
          <p:cNvPr id="9" name="thr-conclusion" descr="/private/tmp/claude-501/-Users-amberwang-Desktop-paper-review/4adec69b-c776-4638-9e73-445c6258dc5b/scratchpad/deck/assets/thr-conclu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176" y="2331720"/>
            <a:ext cx="1345721" cy="1371600"/>
          </a:xfrm>
          <a:prstGeom prst="rect">
            <a:avLst/>
          </a:prstGeom>
        </p:spPr>
      </p:pic>
      <p:sp>
        <p:nvSpPr>
          <p:cNvPr id="10" name="lbl-thr-conclusion"/>
          <p:cNvSpPr txBox="1"/>
          <p:nvPr/>
        </p:nvSpPr>
        <p:spPr>
          <a:xfrm>
            <a:off x="719175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Conclusion validity</a:t>
            </a:r>
            <a:endParaRPr lang="en-US" sz="1400" dirty="0"/>
          </a:p>
        </p:txBody>
      </p:sp>
      <p:pic>
        <p:nvPicPr>
          <p:cNvPr id="11" name="pt-experiment" descr="/private/tmp/claude-501/-Users-amberwang-Desktop-paper-review/4adec69b-c776-4638-9e73-445c6258dc5b/scratchpad/deck/assets/pt-experim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4851" y="2331720"/>
            <a:ext cx="937491" cy="1371600"/>
          </a:xfrm>
          <a:prstGeom prst="rect">
            <a:avLst/>
          </a:prstGeom>
        </p:spPr>
      </p:pic>
      <p:sp>
        <p:nvSpPr>
          <p:cNvPr id="12" name="lbl-pt-experiment"/>
          <p:cNvSpPr txBox="1"/>
          <p:nvPr/>
        </p:nvSpPr>
        <p:spPr>
          <a:xfrm>
            <a:off x="938631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What would change my mind</a:t>
            </a:r>
            <a:endParaRPr lang="en-US" sz="1400" dirty="0"/>
          </a:p>
        </p:txBody>
      </p:sp>
      <p:sp>
        <p:nvSpPr>
          <p:cNvPr id="13" name="bracket-label"/>
          <p:cNvSpPr txBox="1"/>
          <p:nvPr/>
        </p:nvSpPr>
        <p:spPr>
          <a:xfrm>
            <a:off x="3214116" y="1691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6FA5"/>
                </a:solidFill>
              </a:rPr>
              <a:t>threats to validity</a:t>
            </a:r>
            <a:endParaRPr lang="en-US" sz="1300" dirty="0"/>
          </a:p>
        </p:txBody>
      </p:sp>
      <p:sp>
        <p:nvSpPr>
          <p:cNvPr id="14" name="bracket-line"/>
          <p:cNvSpPr/>
          <p:nvPr/>
        </p:nvSpPr>
        <p:spPr>
          <a:xfrm>
            <a:off x="3214116" y="2103120"/>
            <a:ext cx="5760720" cy="0"/>
          </a:xfrm>
          <a:prstGeom prst="line">
            <a:avLst/>
          </a:prstGeom>
          <a:noFill/>
          <a:ln w="25400">
            <a:solidFill>
              <a:srgbClr val="CFE3F0"/>
            </a:solidFill>
            <a:prstDash val="solid"/>
          </a:ln>
        </p:spPr>
      </p:sp>
      <p:sp>
        <p:nvSpPr>
          <p:cNvPr id="15" name="bracket-l"/>
          <p:cNvSpPr/>
          <p:nvPr/>
        </p:nvSpPr>
        <p:spPr>
          <a:xfrm>
            <a:off x="3214116" y="2103120"/>
            <a:ext cx="0" cy="137160"/>
          </a:xfrm>
          <a:prstGeom prst="line">
            <a:avLst/>
          </a:prstGeom>
          <a:noFill/>
          <a:ln w="25400">
            <a:solidFill>
              <a:srgbClr val="CFE3F0"/>
            </a:solidFill>
            <a:prstDash val="solid"/>
          </a:ln>
        </p:spPr>
      </p:sp>
      <p:sp>
        <p:nvSpPr>
          <p:cNvPr id="16" name="bracket-r"/>
          <p:cNvSpPr/>
          <p:nvPr/>
        </p:nvSpPr>
        <p:spPr>
          <a:xfrm>
            <a:off x="8974836" y="2103120"/>
            <a:ext cx="0" cy="137160"/>
          </a:xfrm>
          <a:prstGeom prst="line">
            <a:avLst/>
          </a:prstGeom>
          <a:noFill/>
          <a:ln w="25400">
            <a:solidFill>
              <a:srgbClr val="CFE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A46"/>
                </a:solidFill>
              </a:rPr>
              <a:t>The scale is real, the GFI effect is real, and the finding that no recommendation generalises everywhere is the paper's best contribution</a:t>
            </a:r>
            <a:endParaRPr lang="en-US" sz="2600" dirty="0"/>
          </a:p>
        </p:txBody>
      </p:sp>
      <p:pic>
        <p:nvPicPr>
          <p:cNvPr id="3" name="pt-holds" descr="/private/tmp/claude-501/-Users-amberwang-Desktop-paper-review/4adec69b-c776-4638-9e73-445c6258dc5b/scratchpad/deck/assets/pt-ho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956" y="320040"/>
            <a:ext cx="898048" cy="1051560"/>
          </a:xfrm>
          <a:prstGeom prst="rect">
            <a:avLst/>
          </a:prstGeom>
        </p:spPr>
      </p:pic>
      <p:pic>
        <p:nvPicPr>
          <p:cNvPr id="4" name="thr-construct" descr="/private/tmp/claude-501/-Users-amberwang-Desktop-paper-review/4adec69b-c776-4638-9e73-445c6258dc5b/scratchpad/deck/assets/thr-construct.png">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020056" y="5968071"/>
            <a:ext cx="502920" cy="453978"/>
          </a:xfrm>
          <a:prstGeom prst="rect">
            <a:avLst/>
          </a:prstGeom>
        </p:spPr>
      </p:pic>
      <p:pic>
        <p:nvPicPr>
          <p:cNvPr id="5" name="thr-internal" descr="/private/tmp/claude-501/-Users-amberwang-Desktop-paper-review/4adec69b-c776-4638-9e73-445c6258dc5b/scratchpad/deck/assets/thr-internal.png">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5843016" y="6017975"/>
            <a:ext cx="502920" cy="354169"/>
          </a:xfrm>
          <a:prstGeom prst="rect">
            <a:avLst/>
          </a:prstGeom>
        </p:spPr>
      </p:pic>
      <p:pic>
        <p:nvPicPr>
          <p:cNvPr id="6" name="thr-conclusion" descr="/private/tmp/claude-501/-Users-amberwang-Desktop-paper-review/4adec69b-c776-4638-9e73-445c6258dc5b/scratchpad/deck/assets/thr-conclusion.png">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6670721" y="5943600"/>
            <a:ext cx="493431" cy="502920"/>
          </a:xfrm>
          <a:prstGeom prst="rect">
            <a:avLst/>
          </a:prstGeom>
        </p:spPr>
      </p:pic>
      <p:pic>
        <p:nvPicPr>
          <p:cNvPr id="7" name="pt-experiment" descr="/private/tmp/claude-501/-Users-amberwang-Desktop-paper-review/4adec69b-c776-4638-9e73-445c6258dc5b/scratchpad/deck/assets/pt-experiment.png">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7568523" y="5943600"/>
            <a:ext cx="343747" cy="502920"/>
          </a:xfrm>
          <a:prstGeom prst="rect">
            <a:avLst/>
          </a:prstGeom>
        </p:spPr>
      </p:pic>
      <p:sp>
        <p:nvSpPr>
          <p:cNvPr id="8" name="badge-label"/>
          <p:cNvSpPr txBox="1"/>
          <p:nvPr/>
        </p:nvSpPr>
        <p:spPr>
          <a:xfrm>
            <a:off x="1037844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</a:rPr>
              <a:t>What holds</a:t>
            </a:r>
            <a:endParaRPr lang="en-US" sz="1100" dirty="0"/>
          </a:p>
        </p:txBody>
      </p:sp>
      <p:pic>
        <p:nvPicPr>
          <p:cNvPr id="9" name="icon-bug" descr="/private/tmp/claude-501/-Users-amberwang-Desktop-paper-review/4adec69b-c776-4638-9e73-445c6258dc5b/scratchpad/deck/assets/icon-bu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20" y="1763261"/>
            <a:ext cx="1005840" cy="954037"/>
          </a:xfrm>
          <a:prstGeom prst="rect">
            <a:avLst/>
          </a:prstGeom>
        </p:spPr>
      </p:pic>
      <p:sp>
        <p:nvSpPr>
          <p:cNvPr id="10" name="stat 7 / 8"/>
          <p:cNvSpPr txBox="1"/>
          <p:nvPr/>
        </p:nvSpPr>
        <p:spPr>
          <a:xfrm>
            <a:off x="822960" y="28346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CAF7A"/>
                </a:solidFill>
              </a:rPr>
              <a:t>7 / 8</a:t>
            </a:r>
            <a:endParaRPr lang="en-US" sz="6400" dirty="0"/>
          </a:p>
        </p:txBody>
      </p:sp>
      <p:sp>
        <p:nvSpPr>
          <p:cNvPr id="11" name="datasets where bug fixes and f"/>
          <p:cNvSpPr txBox="1"/>
          <p:nvPr/>
        </p:nvSpPr>
        <p:spPr>
          <a:xfrm>
            <a:off x="822960" y="4023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datasets where bug fixes and fewer insertions raise newcomers' acceptance odds · Table XI</a:t>
            </a:r>
            <a:endParaRPr lang="en-US" sz="1200" dirty="0"/>
          </a:p>
        </p:txBody>
      </p:sp>
      <p:pic>
        <p:nvPicPr>
          <p:cNvPr id="12" name="icon-gfi-tag" descr="/private/tmp/claude-501/-Users-amberwang-Desktop-paper-review/4adec69b-c776-4638-9e73-445c6258dc5b/scratchpad/deck/assets/icon-gfi-ta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4221" y="1737360"/>
            <a:ext cx="933077" cy="1005840"/>
          </a:xfrm>
          <a:prstGeom prst="rect">
            <a:avLst/>
          </a:prstGeom>
        </p:spPr>
      </p:pic>
      <p:sp>
        <p:nvSpPr>
          <p:cNvPr id="13" name="stat 5.57×"/>
          <p:cNvSpPr txBox="1"/>
          <p:nvPr/>
        </p:nvSpPr>
        <p:spPr>
          <a:xfrm>
            <a:off x="4526280" y="28346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CAF7A"/>
                </a:solidFill>
              </a:rPr>
              <a:t>5.57×</a:t>
            </a:r>
            <a:endParaRPr lang="en-US" sz="6400" dirty="0"/>
          </a:p>
        </p:txBody>
      </p:sp>
      <p:sp>
        <p:nvSpPr>
          <p:cNvPr id="14" name="acceptance odds for a Good Fir"/>
          <p:cNvSpPr txBox="1"/>
          <p:nvPr/>
        </p:nvSpPr>
        <p:spPr>
          <a:xfrm>
            <a:off x="4526280" y="4023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acceptance odds for a Good First Issue, newcomers in busy GitHub projects · Table VIII</a:t>
            </a:r>
            <a:endParaRPr lang="en-US" sz="1200" dirty="0"/>
          </a:p>
        </p:txBody>
      </p:sp>
      <p:pic>
        <p:nvPicPr>
          <p:cNvPr id="15" name="icon-stamp-accepted" descr="/private/tmp/claude-501/-Users-amberwang-Desktop-paper-review/4adec69b-c776-4638-9e73-445c6258dc5b/scratchpad/deck/assets/icon-stamp-accept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1741658"/>
            <a:ext cx="1005840" cy="997243"/>
          </a:xfrm>
          <a:prstGeom prst="rect">
            <a:avLst/>
          </a:prstGeom>
        </p:spPr>
      </p:pic>
      <p:sp>
        <p:nvSpPr>
          <p:cNvPr id="16" name="stat 0 / 15"/>
          <p:cNvSpPr txBox="1"/>
          <p:nvPr/>
        </p:nvSpPr>
        <p:spPr>
          <a:xfrm>
            <a:off x="8229600" y="28346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A6FA5"/>
                </a:solidFill>
              </a:rPr>
              <a:t>0 / 15</a:t>
            </a:r>
            <a:endParaRPr lang="en-US" sz="6400" dirty="0"/>
          </a:p>
        </p:txBody>
      </p:sp>
      <p:sp>
        <p:nvSpPr>
          <p:cNvPr id="17" name="recommendations supported in a"/>
          <p:cNvSpPr txBox="1"/>
          <p:nvPr/>
        </p:nvSpPr>
        <p:spPr>
          <a:xfrm>
            <a:off x="8229600" y="4023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recommendations supported in all eight datasets · Table XI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A46"/>
                </a:solidFill>
              </a:rPr>
              <a:t>The title and abstract promise higher odds of becoming a long-term contributor, but the only outcome variable in the paper is whether one patch was accepted</a:t>
            </a:r>
            <a:endParaRPr lang="en-US" sz="2600" dirty="0"/>
          </a:p>
        </p:txBody>
      </p:sp>
      <p:pic>
        <p:nvPicPr>
          <p:cNvPr id="3" name="pt-holds" descr="/private/tmp/claude-501/-Users-amberwang-Desktop-paper-review/4adec69b-c776-4638-9e73-445c6258dc5b/scratchpad/deck/assets/pt-ho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3805" y="5943600"/>
            <a:ext cx="429501" cy="502920"/>
          </a:xfrm>
          <a:prstGeom prst="rect">
            <a:avLst/>
          </a:prstGeom>
        </p:spPr>
      </p:pic>
      <p:sp>
        <p:nvSpPr>
          <p:cNvPr id="4" name="mark-pt-holds"/>
          <p:cNvSpPr txBox="1"/>
          <p:nvPr/>
        </p:nvSpPr>
        <p:spPr>
          <a:xfrm>
            <a:off x="4508906" y="5853074"/>
            <a:ext cx="27660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7A"/>
                </a:solidFill>
              </a:rPr>
              <a:t>✓</a:t>
            </a:r>
            <a:endParaRPr lang="en-US" sz="1200" dirty="0"/>
          </a:p>
        </p:txBody>
      </p:sp>
      <p:pic>
        <p:nvPicPr>
          <p:cNvPr id="5" name="thr-construct" descr="/private/tmp/claude-501/-Users-amberwang-Desktop-paper-review/4adec69b-c776-4638-9e73-445c6258dc5b/scratchpad/deck/assets/thr-constru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71207"/>
            <a:ext cx="1051560" cy="949227"/>
          </a:xfrm>
          <a:prstGeom prst="rect">
            <a:avLst/>
          </a:prstGeom>
        </p:spPr>
      </p:pic>
      <p:pic>
        <p:nvPicPr>
          <p:cNvPr id="6" name="thr-internal" descr="/private/tmp/claude-501/-Users-amberwang-Desktop-paper-review/4adec69b-c776-4638-9e73-445c6258dc5b/scratchpad/deck/assets/thr-internal.png">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5843016" y="6017975"/>
            <a:ext cx="502920" cy="354169"/>
          </a:xfrm>
          <a:prstGeom prst="rect">
            <a:avLst/>
          </a:prstGeom>
        </p:spPr>
      </p:pic>
      <p:pic>
        <p:nvPicPr>
          <p:cNvPr id="7" name="thr-conclusion" descr="/private/tmp/claude-501/-Users-amberwang-Desktop-paper-review/4adec69b-c776-4638-9e73-445c6258dc5b/scratchpad/deck/assets/thr-conclusion.png">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6670721" y="5943600"/>
            <a:ext cx="493431" cy="502920"/>
          </a:xfrm>
          <a:prstGeom prst="rect">
            <a:avLst/>
          </a:prstGeom>
        </p:spPr>
      </p:pic>
      <p:pic>
        <p:nvPicPr>
          <p:cNvPr id="8" name="pt-experiment" descr="/private/tmp/claude-501/-Users-amberwang-Desktop-paper-review/4adec69b-c776-4638-9e73-445c6258dc5b/scratchpad/deck/assets/pt-experiment.png">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7568523" y="5943600"/>
            <a:ext cx="343747" cy="502920"/>
          </a:xfrm>
          <a:prstGeom prst="rect">
            <a:avLst/>
          </a:prstGeom>
        </p:spPr>
      </p:pic>
      <p:sp>
        <p:nvSpPr>
          <p:cNvPr id="9" name="badge-label"/>
          <p:cNvSpPr txBox="1"/>
          <p:nvPr/>
        </p:nvSpPr>
        <p:spPr>
          <a:xfrm>
            <a:off x="1037844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</a:rPr>
              <a:t>Construct validity</a:t>
            </a:r>
            <a:endParaRPr lang="en-US" sz="1100" dirty="0"/>
          </a:p>
        </p:txBody>
      </p:sp>
      <p:sp>
        <p:nvSpPr>
          <p:cNvPr id="10" name="quote-abstract"/>
          <p:cNvSpPr/>
          <p:nvPr/>
        </p:nvSpPr>
        <p:spPr>
          <a:xfrm>
            <a:off x="640080" y="1828800"/>
            <a:ext cx="5120640" cy="1554480"/>
          </a:xfrm>
          <a:prstGeom prst="rect">
            <a:avLst/>
          </a:prstGeom>
          <a:solidFill>
            <a:srgbClr val="CFE3F0"/>
          </a:solidFill>
          <a:ln w="12700">
            <a:solidFill>
              <a:srgbClr val="4A6FA5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E3A46"/>
                </a:solidFill>
              </a:rPr>
              <a:t>“abandon at non-newcomer status to increase their odds of becoming long-term contributors”</a:t>
            </a:r>
            <a:endParaRPr lang="en-US" sz="1600" dirty="0"/>
          </a:p>
        </p:txBody>
      </p:sp>
      <p:sp>
        <p:nvSpPr>
          <p:cNvPr id="11" name="Abstract, final sentence"/>
          <p:cNvSpPr txBox="1"/>
          <p:nvPr/>
        </p:nvSpPr>
        <p:spPr>
          <a:xfrm>
            <a:off x="8229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AA5B1"/>
                </a:solidFill>
              </a:rPr>
              <a:t>Abstract, final sentence</a:t>
            </a:r>
            <a:endParaRPr lang="en-US" sz="1100" dirty="0"/>
          </a:p>
        </p:txBody>
      </p:sp>
      <p:pic>
        <p:nvPicPr>
          <p:cNvPr id="12" name="icon-sapling" descr="/private/tmp/claude-501/-Users-amberwang-Desktop-paper-review/4adec69b-c776-4638-9e73-445c6258dc5b/scratchpad/deck/assets/icon-sapl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56" y="4114800"/>
            <a:ext cx="865809" cy="914400"/>
          </a:xfrm>
          <a:prstGeom prst="rect">
            <a:avLst/>
          </a:prstGeom>
        </p:spPr>
      </p:pic>
      <p:sp>
        <p:nvSpPr>
          <p:cNvPr id="13" name="long-term contributor"/>
          <p:cNvSpPr txBox="1"/>
          <p:nvPr/>
        </p:nvSpPr>
        <p:spPr>
          <a:xfrm>
            <a:off x="182880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long-term contributor</a:t>
            </a:r>
            <a:endParaRPr lang="en-US" sz="1300" dirty="0"/>
          </a:p>
        </p:txBody>
      </p:sp>
      <p:sp>
        <p:nvSpPr>
          <p:cNvPr id="14" name="box-retention"/>
          <p:cNvSpPr/>
          <p:nvPr/>
        </p:nvSpPr>
        <p:spPr>
          <a:xfrm>
            <a:off x="7315200" y="182880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9AA5B1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</a:rPr>
              <a:t>retention · tenure · continued contribution        ?</a:t>
            </a:r>
            <a:endParaRPr lang="en-US" sz="1400" dirty="0"/>
          </a:p>
        </p:txBody>
      </p:sp>
      <p:sp>
        <p:nvSpPr>
          <p:cNvPr id="15" name="not measured anywhere in the p"/>
          <p:cNvSpPr txBox="1"/>
          <p:nvPr/>
        </p:nvSpPr>
        <p:spPr>
          <a:xfrm>
            <a:off x="731520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5B1"/>
                </a:solidFill>
              </a:rPr>
              <a:t>not measured anywhere in the paper</a:t>
            </a:r>
            <a:endParaRPr lang="en-US" sz="1100" dirty="0"/>
          </a:p>
        </p:txBody>
      </p:sp>
      <p:sp>
        <p:nvSpPr>
          <p:cNvPr id="16" name="box-accepted"/>
          <p:cNvSpPr/>
          <p:nvPr/>
        </p:nvSpPr>
        <p:spPr>
          <a:xfrm>
            <a:off x="7315200" y="361188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7" name="is_accepted"/>
          <p:cNvSpPr txBox="1"/>
          <p:nvPr/>
        </p:nvSpPr>
        <p:spPr>
          <a:xfrm>
            <a:off x="749808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3A46"/>
                </a:solidFill>
              </a:rPr>
              <a:t>is_accepted</a:t>
            </a:r>
            <a:endParaRPr lang="en-US" sz="1600" dirty="0"/>
          </a:p>
        </p:txBody>
      </p:sp>
      <p:sp>
        <p:nvSpPr>
          <p:cNvPr id="18" name="one patch, one yes/no · Sectio"/>
          <p:cNvSpPr txBox="1"/>
          <p:nvPr/>
        </p:nvSpPr>
        <p:spPr>
          <a:xfrm>
            <a:off x="7498080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5B1"/>
                </a:solidFill>
              </a:rPr>
              <a:t>one patch, one yes/no · Section IV-A-5</a:t>
            </a:r>
            <a:endParaRPr lang="en-US" sz="1100" dirty="0"/>
          </a:p>
        </p:txBody>
      </p:sp>
      <p:pic>
        <p:nvPicPr>
          <p:cNvPr id="19" name="icon-patch" descr="/private/tmp/claude-501/-Users-amberwang-Desktop-paper-review/4adec69b-c776-4638-9e73-445c6258dc5b/scratchpad/deck/assets/icon-pat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0" y="3769239"/>
            <a:ext cx="731520" cy="828282"/>
          </a:xfrm>
          <a:prstGeom prst="rect">
            <a:avLst/>
          </a:prstGeom>
        </p:spPr>
      </p:pic>
      <p:pic>
        <p:nvPicPr>
          <p:cNvPr id="20" name="icon-stamp-accepted" descr="/private/tmp/claude-501/-Users-amberwang-Desktop-paper-review/4adec69b-c776-4638-9e73-445c6258dc5b/scratchpad/deck/assets/icon-stamp-accept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0" y="3798082"/>
            <a:ext cx="777240" cy="770597"/>
          </a:xfrm>
          <a:prstGeom prst="rect">
            <a:avLst/>
          </a:prstGeom>
        </p:spPr>
      </p:pic>
      <p:sp>
        <p:nvSpPr>
          <p:cNvPr id="21" name="arrow-promise"/>
          <p:cNvSpPr/>
          <p:nvPr/>
        </p:nvSpPr>
        <p:spPr>
          <a:xfrm>
            <a:off x="5989320" y="2103120"/>
            <a:ext cx="1143000" cy="502920"/>
          </a:xfrm>
          <a:prstGeom prst="rightArrow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A46"/>
                </a:solidFill>
              </a:rPr>
              <a:t>The sign flips behind “abandon these strategies” are explained by who non-newcomers are, since the models control for neither tenure nor affiliation nor author</a:t>
            </a:r>
            <a:endParaRPr lang="en-US" sz="2600" dirty="0"/>
          </a:p>
        </p:txBody>
      </p:sp>
      <p:pic>
        <p:nvPicPr>
          <p:cNvPr id="3" name="pt-holds" descr="/private/tmp/claude-501/-Users-amberwang-Desktop-paper-review/4adec69b-c776-4638-9e73-445c6258dc5b/scratchpad/deck/assets/pt-ho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3805" y="5943600"/>
            <a:ext cx="429501" cy="502920"/>
          </a:xfrm>
          <a:prstGeom prst="rect">
            <a:avLst/>
          </a:prstGeom>
        </p:spPr>
      </p:pic>
      <p:sp>
        <p:nvSpPr>
          <p:cNvPr id="4" name="mark-pt-holds"/>
          <p:cNvSpPr txBox="1"/>
          <p:nvPr/>
        </p:nvSpPr>
        <p:spPr>
          <a:xfrm>
            <a:off x="4508906" y="5853074"/>
            <a:ext cx="27660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7A"/>
                </a:solidFill>
              </a:rPr>
              <a:t>✓</a:t>
            </a:r>
            <a:endParaRPr lang="en-US" sz="1200" dirty="0"/>
          </a:p>
        </p:txBody>
      </p:sp>
      <p:pic>
        <p:nvPicPr>
          <p:cNvPr id="5" name="thr-construct" descr="/private/tmp/claude-501/-Users-amberwang-Desktop-paper-review/4adec69b-c776-4638-9e73-445c6258dc5b/scratchpad/deck/assets/thr-constru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5968071"/>
            <a:ext cx="502920" cy="453978"/>
          </a:xfrm>
          <a:prstGeom prst="rect">
            <a:avLst/>
          </a:prstGeom>
        </p:spPr>
      </p:pic>
      <p:sp>
        <p:nvSpPr>
          <p:cNvPr id="6" name="mark-thr-construct"/>
          <p:cNvSpPr txBox="1"/>
          <p:nvPr/>
        </p:nvSpPr>
        <p:spPr>
          <a:xfrm>
            <a:off x="5331866" y="5853074"/>
            <a:ext cx="27660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✗</a:t>
            </a:r>
            <a:endParaRPr lang="en-US" sz="1200" dirty="0"/>
          </a:p>
        </p:txBody>
      </p:sp>
      <p:pic>
        <p:nvPicPr>
          <p:cNvPr id="7" name="thr-internal" descr="/private/tmp/claude-501/-Users-amberwang-Desktop-paper-review/4adec69b-c776-4638-9e73-445c6258dc5b/scratchpad/deck/assets/thr-inter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75552"/>
            <a:ext cx="1051560" cy="740535"/>
          </a:xfrm>
          <a:prstGeom prst="rect">
            <a:avLst/>
          </a:prstGeom>
        </p:spPr>
      </p:pic>
      <p:pic>
        <p:nvPicPr>
          <p:cNvPr id="8" name="thr-conclusion" descr="/private/tmp/claude-501/-Users-amberwang-Desktop-paper-review/4adec69b-c776-4638-9e73-445c6258dc5b/scratchpad/deck/assets/thr-conclusion.png">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6670721" y="5943600"/>
            <a:ext cx="493431" cy="502920"/>
          </a:xfrm>
          <a:prstGeom prst="rect">
            <a:avLst/>
          </a:prstGeom>
        </p:spPr>
      </p:pic>
      <p:pic>
        <p:nvPicPr>
          <p:cNvPr id="9" name="pt-experiment" descr="/private/tmp/claude-501/-Users-amberwang-Desktop-paper-review/4adec69b-c776-4638-9e73-445c6258dc5b/scratchpad/deck/assets/pt-experiment.png">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7568523" y="5943600"/>
            <a:ext cx="343747" cy="502920"/>
          </a:xfrm>
          <a:prstGeom prst="rect">
            <a:avLst/>
          </a:prstGeom>
        </p:spPr>
      </p:pic>
      <p:sp>
        <p:nvSpPr>
          <p:cNvPr id="10" name="badge-label"/>
          <p:cNvSpPr txBox="1"/>
          <p:nvPr/>
        </p:nvSpPr>
        <p:spPr>
          <a:xfrm>
            <a:off x="1037844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</a:rPr>
              <a:t>Internal validity</a:t>
            </a:r>
            <a:endParaRPr lang="en-US" sz="1100" dirty="0"/>
          </a:p>
        </p:txBody>
      </p:sp>
      <p:graphicFrame>
        <p:nvGraphicFramePr>
          <p:cNvPr id="6" name="table-xi-flip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206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731520"/>
                <a:gridCol w="73152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M · 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M · 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H · 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H · 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R6 low complexity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CAF7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394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CAF7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394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R7 documentation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CAF7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394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CAF7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394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R9 fewer deletions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CAF7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394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CAF7A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3946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5"/>
                    </a:solidFill>
                  </a:tcPr>
                </a:tc>
              </a:tr>
            </a:tbl>
          </a:graphicData>
        </a:graphic>
      </p:graphicFrame>
      <p:sp>
        <p:nvSpPr>
          <p:cNvPr id="12" name="Table XI · M/H = GitHub(M)/Git"/>
          <p:cNvSpPr txBox="1"/>
          <p:nvPr/>
        </p:nvSpPr>
        <p:spPr>
          <a:xfrm>
            <a:off x="548640" y="3474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AA5B1"/>
                </a:solidFill>
              </a:rPr>
              <a:t>Table XI · M/H = GitHub(M)/GitHub(H) · NC newcomers, CT non-newcomers</a:t>
            </a:r>
            <a:endParaRPr lang="en-US" sz="1100" dirty="0"/>
          </a:p>
        </p:txBody>
      </p:sp>
      <p:pic>
        <p:nvPicPr>
          <p:cNvPr id="13" name="jar-newcomers" descr="/private/tmp/claude-501/-Users-amberwang-Desktop-paper-review/4adec69b-c776-4638-9e73-445c6258dc5b/scratchpad/deck/assets/jar-newcom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2507846"/>
            <a:ext cx="1554480" cy="2208068"/>
          </a:xfrm>
          <a:prstGeom prst="rect">
            <a:avLst/>
          </a:prstGeom>
        </p:spPr>
      </p:pic>
      <p:pic>
        <p:nvPicPr>
          <p:cNvPr id="14" name="jar-nonnewcomers" descr="/private/tmp/claude-501/-Users-amberwang-Desktop-paper-review/4adec69b-c776-4638-9e73-445c6258dc5b/scratchpad/deck/assets/jar-nonnewcom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2507846"/>
            <a:ext cx="1554480" cy="2208068"/>
          </a:xfrm>
          <a:prstGeom prst="rect">
            <a:avLst/>
          </a:prstGeom>
        </p:spPr>
      </p:pic>
      <p:pic>
        <p:nvPicPr>
          <p:cNvPr id="15" name="char-newcomer" descr="/private/tmp/claude-501/-Users-amberwang-Desktop-paper-review/4adec69b-c776-4638-9e73-445c6258dc5b/scratchpad/deck/assets/char-newcom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0430" y="1600200"/>
            <a:ext cx="817779" cy="1005840"/>
          </a:xfrm>
          <a:prstGeom prst="rect">
            <a:avLst/>
          </a:prstGeom>
        </p:spPr>
      </p:pic>
      <p:pic>
        <p:nvPicPr>
          <p:cNvPr id="16" name="char-maintainer" descr="/private/tmp/claude-501/-Users-amberwang-Desktop-paper-review/4adec69b-c776-4638-9e73-445c6258dc5b/scratchpad/deck/assets/char-maintain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7637" y="1600200"/>
            <a:ext cx="918006" cy="1005840"/>
          </a:xfrm>
          <a:prstGeom prst="rect">
            <a:avLst/>
          </a:prstGeom>
        </p:spPr>
      </p:pic>
      <p:pic>
        <p:nvPicPr>
          <p:cNvPr id="17" name="char-employee" descr="/private/tmp/claude-501/-Users-amberwang-Desktop-paper-review/4adec69b-c776-4638-9e73-445c6258dc5b/scratchpad/deck/assets/char-employe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9226" y="1600200"/>
            <a:ext cx="680748" cy="1005840"/>
          </a:xfrm>
          <a:prstGeom prst="rect">
            <a:avLst/>
          </a:prstGeom>
        </p:spPr>
      </p:pic>
      <p:sp>
        <p:nvSpPr>
          <p:cNvPr id="18" name="newcomers"/>
          <p:cNvSpPr txBox="1"/>
          <p:nvPr/>
        </p:nvSpPr>
        <p:spPr>
          <a:xfrm>
            <a:off x="5212080" y="4846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newcomers</a:t>
            </a:r>
            <a:endParaRPr lang="en-US" sz="1200" dirty="0"/>
          </a:p>
        </p:txBody>
      </p:sp>
      <p:sp>
        <p:nvSpPr>
          <p:cNvPr id="19" name="non-newcomers"/>
          <p:cNvSpPr txBox="1"/>
          <p:nvPr/>
        </p:nvSpPr>
        <p:spPr>
          <a:xfrm>
            <a:off x="7040880" y="4846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non-newcomers</a:t>
            </a:r>
            <a:endParaRPr lang="en-US" sz="1200" dirty="0"/>
          </a:p>
        </p:txBody>
      </p:sp>
      <p:sp>
        <p:nvSpPr>
          <p:cNvPr id="20" name="missing-tenure"/>
          <p:cNvSpPr/>
          <p:nvPr/>
        </p:nvSpPr>
        <p:spPr>
          <a:xfrm>
            <a:off x="9235440" y="210312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EEF3F8"/>
          </a:solidFill>
          <a:ln w="12700">
            <a:solidFill>
              <a:srgbClr val="9AA5B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5B1"/>
                </a:solidFill>
              </a:rPr>
              <a:t>tenure   </a:t>
            </a:r>
            <a:pPr algn="ctr" indent="0" marL="0">
              <a:buNone/>
            </a:pPr>
            <a:r>
              <a:rPr lang="en-US" sz="1500" b="1" dirty="0">
                <a:solidFill>
                  <a:srgbClr val="E63946"/>
                </a:solidFill>
              </a:rPr>
              <a:t>✗</a:t>
            </a:r>
            <a:endParaRPr lang="en-US" sz="1500" dirty="0"/>
          </a:p>
        </p:txBody>
      </p:sp>
      <p:sp>
        <p:nvSpPr>
          <p:cNvPr id="21" name="missing-affiliation"/>
          <p:cNvSpPr/>
          <p:nvPr/>
        </p:nvSpPr>
        <p:spPr>
          <a:xfrm>
            <a:off x="9235440" y="28803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EEF3F8"/>
          </a:solidFill>
          <a:ln w="12700">
            <a:solidFill>
              <a:srgbClr val="9AA5B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5B1"/>
                </a:solidFill>
              </a:rPr>
              <a:t>affiliation   </a:t>
            </a:r>
            <a:pPr algn="ctr" indent="0" marL="0">
              <a:buNone/>
            </a:pPr>
            <a:r>
              <a:rPr lang="en-US" sz="1500" b="1" dirty="0">
                <a:solidFill>
                  <a:srgbClr val="E63946"/>
                </a:solidFill>
              </a:rPr>
              <a:t>✗</a:t>
            </a:r>
            <a:endParaRPr lang="en-US" sz="1500" dirty="0"/>
          </a:p>
        </p:txBody>
      </p:sp>
      <p:sp>
        <p:nvSpPr>
          <p:cNvPr id="22" name="missing-author"/>
          <p:cNvSpPr/>
          <p:nvPr/>
        </p:nvSpPr>
        <p:spPr>
          <a:xfrm>
            <a:off x="9235440" y="36576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EEF3F8"/>
          </a:solidFill>
          <a:ln w="12700">
            <a:solidFill>
              <a:srgbClr val="9AA5B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5B1"/>
                </a:solidFill>
              </a:rPr>
              <a:t>author   </a:t>
            </a:r>
            <a:pPr algn="ctr" indent="0" marL="0">
              <a:buNone/>
            </a:pPr>
            <a:r>
              <a:rPr lang="en-US" sz="1500" b="1" dirty="0">
                <a:solidFill>
                  <a:srgbClr val="E63946"/>
                </a:solidFill>
              </a:rPr>
              <a:t>✗</a:t>
            </a:r>
            <a:endParaRPr lang="en-US" sz="1500" dirty="0"/>
          </a:p>
        </p:txBody>
      </p:sp>
      <p:sp>
        <p:nvSpPr>
          <p:cNvPr id="23" name="not in any model · Section IV-"/>
          <p:cNvSpPr txBox="1"/>
          <p:nvPr/>
        </p:nvSpPr>
        <p:spPr>
          <a:xfrm>
            <a:off x="923544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5B1"/>
                </a:solidFill>
              </a:rPr>
              <a:t>not in any model · Section IV-A-5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A46"/>
                </a:solidFill>
              </a:rPr>
              <a:t>Review iterations is the strongest predictor in three of the five Gerrit models and is measured after submission, so the best-explaining variable is an outcome of review rather than a newcomer choice</a:t>
            </a:r>
            <a:endParaRPr lang="en-US" sz="2600" dirty="0"/>
          </a:p>
        </p:txBody>
      </p:sp>
      <p:pic>
        <p:nvPicPr>
          <p:cNvPr id="3" name="pt-holds" descr="/private/tmp/claude-501/-Users-amberwang-Desktop-paper-review/4adec69b-c776-4638-9e73-445c6258dc5b/scratchpad/deck/assets/pt-ho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3805" y="5943600"/>
            <a:ext cx="429501" cy="502920"/>
          </a:xfrm>
          <a:prstGeom prst="rect">
            <a:avLst/>
          </a:prstGeom>
        </p:spPr>
      </p:pic>
      <p:sp>
        <p:nvSpPr>
          <p:cNvPr id="4" name="mark-pt-holds"/>
          <p:cNvSpPr txBox="1"/>
          <p:nvPr/>
        </p:nvSpPr>
        <p:spPr>
          <a:xfrm>
            <a:off x="4508906" y="5853074"/>
            <a:ext cx="27660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7A"/>
                </a:solidFill>
              </a:rPr>
              <a:t>✓</a:t>
            </a:r>
            <a:endParaRPr lang="en-US" sz="1200" dirty="0"/>
          </a:p>
        </p:txBody>
      </p:sp>
      <p:pic>
        <p:nvPicPr>
          <p:cNvPr id="5" name="thr-construct" descr="/private/tmp/claude-501/-Users-amberwang-Desktop-paper-review/4adec69b-c776-4638-9e73-445c6258dc5b/scratchpad/deck/assets/thr-constru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5968071"/>
            <a:ext cx="502920" cy="453978"/>
          </a:xfrm>
          <a:prstGeom prst="rect">
            <a:avLst/>
          </a:prstGeom>
        </p:spPr>
      </p:pic>
      <p:sp>
        <p:nvSpPr>
          <p:cNvPr id="6" name="mark-thr-construct"/>
          <p:cNvSpPr txBox="1"/>
          <p:nvPr/>
        </p:nvSpPr>
        <p:spPr>
          <a:xfrm>
            <a:off x="5331866" y="5853074"/>
            <a:ext cx="27660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✗</a:t>
            </a:r>
            <a:endParaRPr lang="en-US" sz="1200" dirty="0"/>
          </a:p>
        </p:txBody>
      </p:sp>
      <p:pic>
        <p:nvPicPr>
          <p:cNvPr id="7" name="thr-internal" descr="/private/tmp/claude-501/-Users-amberwang-Desktop-paper-review/4adec69b-c776-4638-9e73-445c6258dc5b/scratchpad/deck/assets/thr-inter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75552"/>
            <a:ext cx="1051560" cy="740535"/>
          </a:xfrm>
          <a:prstGeom prst="rect">
            <a:avLst/>
          </a:prstGeom>
        </p:spPr>
      </p:pic>
      <p:pic>
        <p:nvPicPr>
          <p:cNvPr id="8" name="thr-conclusion" descr="/private/tmp/claude-501/-Users-amberwang-Desktop-paper-review/4adec69b-c776-4638-9e73-445c6258dc5b/scratchpad/deck/assets/thr-conclusion.png">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6670721" y="5943600"/>
            <a:ext cx="493431" cy="502920"/>
          </a:xfrm>
          <a:prstGeom prst="rect">
            <a:avLst/>
          </a:prstGeom>
        </p:spPr>
      </p:pic>
      <p:pic>
        <p:nvPicPr>
          <p:cNvPr id="9" name="pt-experiment" descr="/private/tmp/claude-501/-Users-amberwang-Desktop-paper-review/4adec69b-c776-4638-9e73-445c6258dc5b/scratchpad/deck/assets/pt-experiment.png">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7568523" y="5943600"/>
            <a:ext cx="343747" cy="502920"/>
          </a:xfrm>
          <a:prstGeom prst="rect">
            <a:avLst/>
          </a:prstGeom>
        </p:spPr>
      </p:pic>
      <p:sp>
        <p:nvSpPr>
          <p:cNvPr id="10" name="badge-label"/>
          <p:cNvSpPr txBox="1"/>
          <p:nvPr/>
        </p:nvSpPr>
        <p:spPr>
          <a:xfrm>
            <a:off x="1037844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</a:rPr>
              <a:t>Internal validity</a:t>
            </a:r>
            <a:endParaRPr lang="en-US" sz="1100" dirty="0"/>
          </a:p>
        </p:txBody>
      </p:sp>
      <p:sp>
        <p:nvSpPr>
          <p:cNvPr id="11" name="node-0"/>
          <p:cNvSpPr/>
          <p:nvPr/>
        </p:nvSpPr>
        <p:spPr>
          <a:xfrm>
            <a:off x="731520" y="17830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CFE3F0"/>
          </a:solidFill>
          <a:ln w="12700">
            <a:solidFill>
              <a:srgbClr val="CFE3F0"/>
            </a:solidFill>
            <a:prstDash val="solid"/>
          </a:ln>
        </p:spPr>
      </p:sp>
      <p:pic>
        <p:nvPicPr>
          <p:cNvPr id="12" name="node-icon-0" descr="/private/tmp/claude-501/-Users-amberwang-Desktop-paper-review/4adec69b-c776-4638-9e73-445c6258dc5b/scratchpad/deck/assets/icon-pat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421" y="1874520"/>
            <a:ext cx="767199" cy="868680"/>
          </a:xfrm>
          <a:prstGeom prst="rect">
            <a:avLst/>
          </a:prstGeom>
        </p:spPr>
      </p:pic>
      <p:sp>
        <p:nvSpPr>
          <p:cNvPr id="13" name="node-label-0"/>
          <p:cNvSpPr txBox="1"/>
          <p:nvPr/>
        </p:nvSpPr>
        <p:spPr>
          <a:xfrm>
            <a:off x="1783080" y="18745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3A46"/>
                </a:solidFill>
              </a:rPr>
              <a:t>submit</a:t>
            </a:r>
            <a:endParaRPr lang="en-US" sz="1100" dirty="0"/>
          </a:p>
        </p:txBody>
      </p:sp>
      <p:sp>
        <p:nvSpPr>
          <p:cNvPr id="14" name="tl-arrow-0"/>
          <p:cNvSpPr/>
          <p:nvPr/>
        </p:nvSpPr>
        <p:spPr>
          <a:xfrm>
            <a:off x="2926080" y="2148840"/>
            <a:ext cx="640080" cy="320040"/>
          </a:xfrm>
          <a:prstGeom prst="rightArrow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node-1"/>
          <p:cNvSpPr/>
          <p:nvPr/>
        </p:nvSpPr>
        <p:spPr>
          <a:xfrm>
            <a:off x="3657600" y="17830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CFE3F0"/>
          </a:solidFill>
          <a:ln w="12700">
            <a:solidFill>
              <a:srgbClr val="CFE3F0"/>
            </a:solidFill>
            <a:prstDash val="solid"/>
          </a:ln>
        </p:spPr>
      </p:sp>
      <p:pic>
        <p:nvPicPr>
          <p:cNvPr id="16" name="node-icon-1" descr="/private/tmp/claude-501/-Users-amberwang-Desktop-paper-review/4adec69b-c776-4638-9e73-445c6258dc5b/scratchpad/deck/assets/icon-review-loo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1922413"/>
            <a:ext cx="868680" cy="772894"/>
          </a:xfrm>
          <a:prstGeom prst="rect">
            <a:avLst/>
          </a:prstGeom>
        </p:spPr>
      </p:pic>
      <p:sp>
        <p:nvSpPr>
          <p:cNvPr id="17" name="node-label-1"/>
          <p:cNvSpPr txBox="1"/>
          <p:nvPr/>
        </p:nvSpPr>
        <p:spPr>
          <a:xfrm>
            <a:off x="4709160" y="18745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3A46"/>
                </a:solidFill>
              </a:rPr>
              <a:t>review rounds · patchsets accumulate</a:t>
            </a:r>
            <a:endParaRPr lang="en-US" sz="1100" dirty="0"/>
          </a:p>
        </p:txBody>
      </p:sp>
      <p:sp>
        <p:nvSpPr>
          <p:cNvPr id="18" name="tl-arrow-1"/>
          <p:cNvSpPr/>
          <p:nvPr/>
        </p:nvSpPr>
        <p:spPr>
          <a:xfrm>
            <a:off x="5852160" y="2148840"/>
            <a:ext cx="640080" cy="320040"/>
          </a:xfrm>
          <a:prstGeom prst="rightArrow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node-2"/>
          <p:cNvSpPr/>
          <p:nvPr/>
        </p:nvSpPr>
        <p:spPr>
          <a:xfrm>
            <a:off x="6583680" y="17830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CFE3F0"/>
          </a:solidFill>
          <a:ln w="12700">
            <a:solidFill>
              <a:srgbClr val="CFE3F0"/>
            </a:solidFill>
            <a:prstDash val="solid"/>
          </a:ln>
        </p:spPr>
      </p:sp>
      <p:pic>
        <p:nvPicPr>
          <p:cNvPr id="20" name="node-icon-2" descr="/private/tmp/claude-501/-Users-amberwang-Desktop-paper-review/4adec69b-c776-4638-9e73-445c6258dc5b/scratchpad/deck/assets/icon-stamp-accept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1878232"/>
            <a:ext cx="868680" cy="861255"/>
          </a:xfrm>
          <a:prstGeom prst="rect">
            <a:avLst/>
          </a:prstGeom>
        </p:spPr>
      </p:pic>
      <p:sp>
        <p:nvSpPr>
          <p:cNvPr id="21" name="node-label-2"/>
          <p:cNvSpPr txBox="1"/>
          <p:nvPr/>
        </p:nvSpPr>
        <p:spPr>
          <a:xfrm>
            <a:off x="7635240" y="18745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3A46"/>
                </a:solidFill>
              </a:rPr>
              <a:t>accepted or rejected</a:t>
            </a:r>
            <a:endParaRPr lang="en-US" sz="1100" dirty="0"/>
          </a:p>
        </p:txBody>
      </p:sp>
      <p:sp>
        <p:nvSpPr>
          <p:cNvPr id="22" name="node-reject"/>
          <p:cNvSpPr txBox="1"/>
          <p:nvPr/>
        </p:nvSpPr>
        <p:spPr>
          <a:xfrm>
            <a:off x="7479792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3946"/>
                </a:solidFill>
              </a:rPr>
              <a:t>✗</a:t>
            </a:r>
            <a:endParaRPr lang="en-US" sz="2400" dirty="0"/>
          </a:p>
        </p:txBody>
      </p:sp>
      <p:sp>
        <p:nvSpPr>
          <p:cNvPr id="23" name="arrow-reverse"/>
          <p:cNvSpPr/>
          <p:nvPr/>
        </p:nvSpPr>
        <p:spPr>
          <a:xfrm>
            <a:off x="3931920" y="2926080"/>
            <a:ext cx="3749040" cy="365760"/>
          </a:xfrm>
          <a:prstGeom prst="leftArrow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he outcome shapes the “predic"/>
          <p:cNvSpPr txBox="1"/>
          <p:nvPr/>
        </p:nvSpPr>
        <p:spPr>
          <a:xfrm>
            <a:off x="393192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63946"/>
                </a:solidFill>
              </a:rPr>
              <a:t>the outcome shapes the “predictor”: an abandoned patch has one patchset, an engaged one has many</a:t>
            </a:r>
            <a:endParaRPr lang="en-US" sz="1100" dirty="0"/>
          </a:p>
        </p:txBody>
      </p:sp>
      <p:graphicFrame>
        <p:nvGraphicFramePr>
          <p:cNvPr id="25" name="chart-iterations" descr=""/>
          <p:cNvGraphicFramePr/>
          <p:nvPr/>
        </p:nvGraphicFramePr>
        <p:xfrm>
          <a:off x="548640" y="3749040"/>
          <a:ext cx="69494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26" name="stat 14.2%"/>
          <p:cNvSpPr txBox="1"/>
          <p:nvPr/>
        </p:nvSpPr>
        <p:spPr>
          <a:xfrm>
            <a:off x="7863840" y="3840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63946"/>
                </a:solidFill>
              </a:rPr>
              <a:t>14.2%</a:t>
            </a:r>
            <a:endParaRPr lang="en-US" sz="6000" dirty="0"/>
          </a:p>
        </p:txBody>
      </p:sp>
      <p:sp>
        <p:nvSpPr>
          <p:cNvPr id="27" name="of oVirt&amp;apos;s explained deviance "/>
          <p:cNvSpPr txBox="1"/>
          <p:nvPr/>
        </p:nvSpPr>
        <p:spPr>
          <a:xfrm>
            <a:off x="7863840" y="4892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of oVirt's explained deviance comes from iterations; next-best task-selection variable is bug fix at 4.7%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A46"/>
                </a:solidFill>
              </a:rPr>
              <a:t>With 262,013 newcomers in the busiest GitHub stratum, an odds ratio of 0.999 is significant at p &lt; 0.001, explains under 0.2% of deviance, and is still reported as a negative association</a:t>
            </a:r>
            <a:endParaRPr lang="en-US" sz="2600" dirty="0"/>
          </a:p>
        </p:txBody>
      </p:sp>
      <p:pic>
        <p:nvPicPr>
          <p:cNvPr id="3" name="pt-holds" descr="/private/tmp/claude-501/-Users-amberwang-Desktop-paper-review/4adec69b-c776-4638-9e73-445c6258dc5b/scratchpad/deck/assets/pt-ho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3805" y="5943600"/>
            <a:ext cx="429501" cy="502920"/>
          </a:xfrm>
          <a:prstGeom prst="rect">
            <a:avLst/>
          </a:prstGeom>
        </p:spPr>
      </p:pic>
      <p:sp>
        <p:nvSpPr>
          <p:cNvPr id="4" name="mark-pt-holds"/>
          <p:cNvSpPr txBox="1"/>
          <p:nvPr/>
        </p:nvSpPr>
        <p:spPr>
          <a:xfrm>
            <a:off x="4508906" y="5853074"/>
            <a:ext cx="27660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7A"/>
                </a:solidFill>
              </a:rPr>
              <a:t>✓</a:t>
            </a:r>
            <a:endParaRPr lang="en-US" sz="1200" dirty="0"/>
          </a:p>
        </p:txBody>
      </p:sp>
      <p:pic>
        <p:nvPicPr>
          <p:cNvPr id="5" name="thr-construct" descr="/private/tmp/claude-501/-Users-amberwang-Desktop-paper-review/4adec69b-c776-4638-9e73-445c6258dc5b/scratchpad/deck/assets/thr-constru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5968071"/>
            <a:ext cx="502920" cy="453978"/>
          </a:xfrm>
          <a:prstGeom prst="rect">
            <a:avLst/>
          </a:prstGeom>
        </p:spPr>
      </p:pic>
      <p:sp>
        <p:nvSpPr>
          <p:cNvPr id="6" name="mark-thr-construct"/>
          <p:cNvSpPr txBox="1"/>
          <p:nvPr/>
        </p:nvSpPr>
        <p:spPr>
          <a:xfrm>
            <a:off x="5331866" y="5853074"/>
            <a:ext cx="27660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✗</a:t>
            </a:r>
            <a:endParaRPr lang="en-US" sz="1200" dirty="0"/>
          </a:p>
        </p:txBody>
      </p:sp>
      <p:pic>
        <p:nvPicPr>
          <p:cNvPr id="7" name="thr-internal" descr="/private/tmp/claude-501/-Users-amberwang-Desktop-paper-review/4adec69b-c776-4638-9e73-445c6258dc5b/scratchpad/deck/assets/thr-inter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6017975"/>
            <a:ext cx="502920" cy="354169"/>
          </a:xfrm>
          <a:prstGeom prst="rect">
            <a:avLst/>
          </a:prstGeom>
        </p:spPr>
      </p:pic>
      <p:sp>
        <p:nvSpPr>
          <p:cNvPr id="8" name="mark-thr-internal"/>
          <p:cNvSpPr txBox="1"/>
          <p:nvPr/>
        </p:nvSpPr>
        <p:spPr>
          <a:xfrm>
            <a:off x="6154826" y="5853074"/>
            <a:ext cx="27660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✗</a:t>
            </a:r>
            <a:endParaRPr lang="en-US" sz="1200" dirty="0"/>
          </a:p>
        </p:txBody>
      </p:sp>
      <p:pic>
        <p:nvPicPr>
          <p:cNvPr id="9" name="thr-conclusion" descr="/private/tmp/claude-501/-Users-amberwang-Desktop-paper-review/4adec69b-c776-4638-9e73-445c6258dc5b/scratchpad/deck/assets/thr-conclu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4120" y="320040"/>
            <a:ext cx="1031719" cy="1051560"/>
          </a:xfrm>
          <a:prstGeom prst="rect">
            <a:avLst/>
          </a:prstGeom>
        </p:spPr>
      </p:pic>
      <p:pic>
        <p:nvPicPr>
          <p:cNvPr id="10" name="pt-experiment" descr="/private/tmp/claude-501/-Users-amberwang-Desktop-paper-review/4adec69b-c776-4638-9e73-445c6258dc5b/scratchpad/deck/assets/pt-experiment.png">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7568523" y="5943600"/>
            <a:ext cx="343747" cy="502920"/>
          </a:xfrm>
          <a:prstGeom prst="rect">
            <a:avLst/>
          </a:prstGeom>
        </p:spPr>
      </p:pic>
      <p:sp>
        <p:nvSpPr>
          <p:cNvPr id="11" name="badge-label"/>
          <p:cNvSpPr txBox="1"/>
          <p:nvPr/>
        </p:nvSpPr>
        <p:spPr>
          <a:xfrm>
            <a:off x="1037844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</a:rPr>
              <a:t>Conclusion validity</a:t>
            </a:r>
            <a:endParaRPr lang="en-US" sz="1100" dirty="0"/>
          </a:p>
        </p:txBody>
      </p:sp>
      <p:sp>
        <p:nvSpPr>
          <p:cNvPr id="12" name="stat 262,013"/>
          <p:cNvSpPr txBox="1"/>
          <p:nvPr/>
        </p:nvSpPr>
        <p:spPr>
          <a:xfrm>
            <a:off x="548640" y="17830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E3A46"/>
                </a:solidFill>
              </a:rPr>
              <a:t>262,013</a:t>
            </a:r>
            <a:endParaRPr lang="en-US" sz="6600" dirty="0"/>
          </a:p>
        </p:txBody>
      </p:sp>
      <p:sp>
        <p:nvSpPr>
          <p:cNvPr id="13" name="newcomers, GitHub(H) · Table V"/>
          <p:cNvSpPr txBox="1"/>
          <p:nvPr/>
        </p:nvSpPr>
        <p:spPr>
          <a:xfrm>
            <a:off x="54864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newcomers, GitHub(H) · Table VI</a:t>
            </a:r>
            <a:endParaRPr lang="en-US" sz="1200" dirty="0"/>
          </a:p>
        </p:txBody>
      </p:sp>
      <p:sp>
        <p:nvSpPr>
          <p:cNvPr id="14" name="stat 0.999***"/>
          <p:cNvSpPr txBox="1"/>
          <p:nvPr/>
        </p:nvSpPr>
        <p:spPr>
          <a:xfrm>
            <a:off x="4297680" y="17830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63946"/>
                </a:solidFill>
              </a:rPr>
              <a:t>0.999***</a:t>
            </a:r>
            <a:endParaRPr lang="en-US" sz="6600" dirty="0"/>
          </a:p>
        </p:txBody>
      </p:sp>
      <p:sp>
        <p:nvSpPr>
          <p:cNvPr id="15" name="odds ratio for title length, n"/>
          <p:cNvSpPr txBox="1"/>
          <p:nvPr/>
        </p:nvSpPr>
        <p:spPr>
          <a:xfrm>
            <a:off x="429768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A46"/>
                </a:solidFill>
              </a:rPr>
              <a:t>odds ratio for title length, newcomers · Table VIII</a:t>
            </a:r>
            <a:endParaRPr lang="en-US" sz="1200" dirty="0"/>
          </a:p>
        </p:txBody>
      </p:sp>
      <p:graphicFrame>
        <p:nvGraphicFramePr>
          <p:cNvPr id="16" name="chart-ep" descr=""/>
          <p:cNvGraphicFramePr/>
          <p:nvPr/>
        </p:nvGraphicFramePr>
        <p:xfrm>
          <a:off x="7955280" y="1600200"/>
          <a:ext cx="38404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8" name="table-xi-r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R10 · newcomers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Android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LibreOffice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oVirt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Typo3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Wikimedia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GitHub(L)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GitHub(M)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GitHub(H)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46"/>
                          </a:solidFill>
                        </a:rPr>
                        <a:t>title length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5B1"/>
                          </a:solidFill>
                        </a:rPr>
                        <a:t>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5B1"/>
                          </a:solidFill>
                        </a:rPr>
                        <a:t>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5B1"/>
                          </a:solidFill>
                        </a:rPr>
                        <a:t>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5B1"/>
                          </a:solidFill>
                        </a:rPr>
                        <a:t>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5"/>
                    </a:solidFill>
                  </a:tcPr>
                </a:tc>
              </a:tr>
            </a:tbl>
          </a:graphicData>
        </a:graphic>
      </p:graphicFrame>
      <p:sp>
        <p:nvSpPr>
          <p:cNvPr id="18" name="Table XI, row R10 · every ✗ is"/>
          <p:cNvSpPr txBox="1"/>
          <p:nvPr/>
        </p:nvSpPr>
        <p:spPr>
          <a:xfrm>
            <a:off x="548640" y="4937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AA5B1"/>
                </a:solidFill>
              </a:rPr>
              <a:t>Table XI, row R10 · every ✗ is an odds ratio of 0.999 · ○ = not significant</a:t>
            </a:r>
            <a:endParaRPr lang="en-US" sz="1100" dirty="0"/>
          </a:p>
        </p:txBody>
      </p:sp>
      <p:sp>
        <p:nvSpPr>
          <p:cNvPr id="19" name="strike-r10"/>
          <p:cNvSpPr/>
          <p:nvPr/>
        </p:nvSpPr>
        <p:spPr>
          <a:xfrm>
            <a:off x="2103120" y="4636008"/>
            <a:ext cx="950976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A46"/>
                </a:solidFill>
              </a:rPr>
              <a:t>Following the same contributors from their second to their tenth patch would separate what stage changes from who the non-newcomers are</a:t>
            </a:r>
            <a:endParaRPr lang="en-US" sz="2600" dirty="0"/>
          </a:p>
        </p:txBody>
      </p:sp>
      <p:pic>
        <p:nvPicPr>
          <p:cNvPr id="3" name="pt-holds" descr="/private/tmp/claude-501/-Users-amberwang-Desktop-paper-review/4adec69b-c776-4638-9e73-445c6258dc5b/scratchpad/deck/assets/pt-ho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3805" y="5943600"/>
            <a:ext cx="429501" cy="502920"/>
          </a:xfrm>
          <a:prstGeom prst="rect">
            <a:avLst/>
          </a:prstGeom>
        </p:spPr>
      </p:pic>
      <p:sp>
        <p:nvSpPr>
          <p:cNvPr id="4" name="mark-pt-holds"/>
          <p:cNvSpPr txBox="1"/>
          <p:nvPr/>
        </p:nvSpPr>
        <p:spPr>
          <a:xfrm>
            <a:off x="4508906" y="5853074"/>
            <a:ext cx="27660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7A"/>
                </a:solidFill>
              </a:rPr>
              <a:t>✓</a:t>
            </a:r>
            <a:endParaRPr lang="en-US" sz="1200" dirty="0"/>
          </a:p>
        </p:txBody>
      </p:sp>
      <p:pic>
        <p:nvPicPr>
          <p:cNvPr id="5" name="thr-construct" descr="/private/tmp/claude-501/-Users-amberwang-Desktop-paper-review/4adec69b-c776-4638-9e73-445c6258dc5b/scratchpad/deck/assets/thr-constru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5968071"/>
            <a:ext cx="502920" cy="453978"/>
          </a:xfrm>
          <a:prstGeom prst="rect">
            <a:avLst/>
          </a:prstGeom>
        </p:spPr>
      </p:pic>
      <p:sp>
        <p:nvSpPr>
          <p:cNvPr id="6" name="mark-thr-construct"/>
          <p:cNvSpPr txBox="1"/>
          <p:nvPr/>
        </p:nvSpPr>
        <p:spPr>
          <a:xfrm>
            <a:off x="5331866" y="5853074"/>
            <a:ext cx="27660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✗</a:t>
            </a:r>
            <a:endParaRPr lang="en-US" sz="1200" dirty="0"/>
          </a:p>
        </p:txBody>
      </p:sp>
      <p:pic>
        <p:nvPicPr>
          <p:cNvPr id="7" name="thr-internal" descr="/private/tmp/claude-501/-Users-amberwang-Desktop-paper-review/4adec69b-c776-4638-9e73-445c6258dc5b/scratchpad/deck/assets/thr-inter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6017975"/>
            <a:ext cx="502920" cy="354169"/>
          </a:xfrm>
          <a:prstGeom prst="rect">
            <a:avLst/>
          </a:prstGeom>
        </p:spPr>
      </p:pic>
      <p:sp>
        <p:nvSpPr>
          <p:cNvPr id="8" name="mark-thr-internal"/>
          <p:cNvSpPr txBox="1"/>
          <p:nvPr/>
        </p:nvSpPr>
        <p:spPr>
          <a:xfrm>
            <a:off x="6154826" y="5853074"/>
            <a:ext cx="27660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✗</a:t>
            </a:r>
            <a:endParaRPr lang="en-US" sz="1200" dirty="0"/>
          </a:p>
        </p:txBody>
      </p:sp>
      <p:pic>
        <p:nvPicPr>
          <p:cNvPr id="9" name="thr-conclusion" descr="/private/tmp/claude-501/-Users-amberwang-Desktop-paper-review/4adec69b-c776-4638-9e73-445c6258dc5b/scratchpad/deck/assets/thr-conclu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721" y="5943600"/>
            <a:ext cx="493431" cy="502920"/>
          </a:xfrm>
          <a:prstGeom prst="rect">
            <a:avLst/>
          </a:prstGeom>
        </p:spPr>
      </p:pic>
      <p:sp>
        <p:nvSpPr>
          <p:cNvPr id="10" name="mark-thr-conclusion"/>
          <p:cNvSpPr txBox="1"/>
          <p:nvPr/>
        </p:nvSpPr>
        <p:spPr>
          <a:xfrm>
            <a:off x="6977786" y="5853074"/>
            <a:ext cx="27660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✗</a:t>
            </a:r>
            <a:endParaRPr lang="en-US" sz="1200" dirty="0"/>
          </a:p>
        </p:txBody>
      </p:sp>
      <p:pic>
        <p:nvPicPr>
          <p:cNvPr id="11" name="pt-experiment" descr="/private/tmp/claude-501/-Users-amberwang-Desktop-paper-review/4adec69b-c776-4638-9e73-445c6258dc5b/scratchpad/deck/assets/pt-experim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0608" y="320040"/>
            <a:ext cx="718743" cy="1051560"/>
          </a:xfrm>
          <a:prstGeom prst="rect">
            <a:avLst/>
          </a:prstGeom>
        </p:spPr>
      </p:pic>
      <p:sp>
        <p:nvSpPr>
          <p:cNvPr id="12" name="badge-label"/>
          <p:cNvSpPr txBox="1"/>
          <p:nvPr/>
        </p:nvSpPr>
        <p:spPr>
          <a:xfrm>
            <a:off x="1037844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</a:rPr>
              <a:t>What would change my mind</a:t>
            </a:r>
            <a:endParaRPr lang="en-US" sz="1100" dirty="0"/>
          </a:p>
        </p:txBody>
      </p:sp>
      <p:pic>
        <p:nvPicPr>
          <p:cNvPr id="13" name="char-newcomer" descr="/private/tmp/claude-501/-Users-amberwang-Desktop-paper-review/4adec69b-c776-4638-9e73-445c6258dc5b/scratchpad/deck/assets/char-newcom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2476447"/>
            <a:ext cx="1325880" cy="1630786"/>
          </a:xfrm>
          <a:prstGeom prst="rect">
            <a:avLst/>
          </a:prstGeom>
        </p:spPr>
      </p:pic>
      <p:sp>
        <p:nvSpPr>
          <p:cNvPr id="14" name="tile-1"/>
          <p:cNvSpPr/>
          <p:nvPr/>
        </p:nvSpPr>
        <p:spPr>
          <a:xfrm>
            <a:off x="1783080" y="28346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DDF1E5"/>
          </a:solidFill>
          <a:ln w="12700">
            <a:solidFill>
              <a:srgbClr val="DDF1E5"/>
            </a:solidFill>
            <a:prstDash val="solid"/>
          </a:ln>
        </p:spPr>
      </p:sp>
      <p:pic>
        <p:nvPicPr>
          <p:cNvPr id="15" name="patch-1" descr="/private/tmp/claude-501/-Users-amberwang-Desktop-paper-review/4adec69b-c776-4638-9e73-445c6258dc5b/scratchpad/deck/assets/icon-pat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2808" y="2910501"/>
            <a:ext cx="512064" cy="579797"/>
          </a:xfrm>
          <a:prstGeom prst="rect">
            <a:avLst/>
          </a:prstGeom>
        </p:spPr>
      </p:pic>
      <p:pic>
        <p:nvPicPr>
          <p:cNvPr id="16" name="stamp-first" descr="/private/tmp/claude-501/-Users-amberwang-Desktop-paper-review/4adec69b-c776-4638-9e73-445c6258dc5b/scratchpad/deck/assets/icon-stamp-accept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7128" y="3220329"/>
            <a:ext cx="384048" cy="380766"/>
          </a:xfrm>
          <a:prstGeom prst="rect">
            <a:avLst/>
          </a:prstGeom>
        </p:spPr>
      </p:pic>
      <p:sp>
        <p:nvSpPr>
          <p:cNvPr id="17" name="tile-2"/>
          <p:cNvSpPr/>
          <p:nvPr/>
        </p:nvSpPr>
        <p:spPr>
          <a:xfrm>
            <a:off x="2651760" y="28346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18" name="patch-2" descr="/private/tmp/claude-501/-Users-amberwang-Desktop-paper-review/4adec69b-c776-4638-9e73-445c6258dc5b/scratchpad/deck/assets/icon-patc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1488" y="2910501"/>
            <a:ext cx="512064" cy="579797"/>
          </a:xfrm>
          <a:prstGeom prst="rect">
            <a:avLst/>
          </a:prstGeom>
        </p:spPr>
      </p:pic>
      <p:sp>
        <p:nvSpPr>
          <p:cNvPr id="19" name="complex"/>
          <p:cNvSpPr txBox="1"/>
          <p:nvPr/>
        </p:nvSpPr>
        <p:spPr>
          <a:xfrm>
            <a:off x="2560320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</a:rPr>
              <a:t>complex</a:t>
            </a:r>
            <a:endParaRPr lang="en-US" sz="1000" dirty="0"/>
          </a:p>
        </p:txBody>
      </p:sp>
      <p:sp>
        <p:nvSpPr>
          <p:cNvPr id="20" name="tile-3"/>
          <p:cNvSpPr/>
          <p:nvPr/>
        </p:nvSpPr>
        <p:spPr>
          <a:xfrm>
            <a:off x="3520440" y="28346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CFE3F0"/>
          </a:solidFill>
          <a:ln w="12700">
            <a:solidFill>
              <a:srgbClr val="CFE3F0"/>
            </a:solidFill>
            <a:prstDash val="solid"/>
          </a:ln>
        </p:spPr>
      </p:sp>
      <p:pic>
        <p:nvPicPr>
          <p:cNvPr id="21" name="patch-3" descr="/private/tmp/claude-501/-Users-amberwang-Desktop-paper-review/4adec69b-c776-4638-9e73-445c6258dc5b/scratchpad/deck/assets/icon-patc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0168" y="2910501"/>
            <a:ext cx="512064" cy="579797"/>
          </a:xfrm>
          <a:prstGeom prst="rect">
            <a:avLst/>
          </a:prstGeom>
        </p:spPr>
      </p:pic>
      <p:sp>
        <p:nvSpPr>
          <p:cNvPr id="22" name="simple"/>
          <p:cNvSpPr txBox="1"/>
          <p:nvPr/>
        </p:nvSpPr>
        <p:spPr>
          <a:xfrm>
            <a:off x="3429000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1"/>
                </a:solidFill>
              </a:rPr>
              <a:t>simple</a:t>
            </a:r>
            <a:endParaRPr lang="en-US" sz="1000" dirty="0"/>
          </a:p>
        </p:txBody>
      </p:sp>
      <p:sp>
        <p:nvSpPr>
          <p:cNvPr id="23" name="tile-4"/>
          <p:cNvSpPr/>
          <p:nvPr/>
        </p:nvSpPr>
        <p:spPr>
          <a:xfrm>
            <a:off x="4389120" y="28346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24" name="patch-4" descr="/private/tmp/claude-501/-Users-amberwang-Desktop-paper-review/4adec69b-c776-4638-9e73-445c6258dc5b/scratchpad/deck/assets/icon-patch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8848" y="2910501"/>
            <a:ext cx="512064" cy="579797"/>
          </a:xfrm>
          <a:prstGeom prst="rect">
            <a:avLst/>
          </a:prstGeom>
        </p:spPr>
      </p:pic>
      <p:sp>
        <p:nvSpPr>
          <p:cNvPr id="25" name="complex"/>
          <p:cNvSpPr txBox="1"/>
          <p:nvPr/>
        </p:nvSpPr>
        <p:spPr>
          <a:xfrm>
            <a:off x="4297680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</a:rPr>
              <a:t>complex</a:t>
            </a:r>
            <a:endParaRPr lang="en-US" sz="1000" dirty="0"/>
          </a:p>
        </p:txBody>
      </p:sp>
      <p:sp>
        <p:nvSpPr>
          <p:cNvPr id="26" name="tile-5"/>
          <p:cNvSpPr/>
          <p:nvPr/>
        </p:nvSpPr>
        <p:spPr>
          <a:xfrm>
            <a:off x="5257800" y="28346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CFE3F0"/>
          </a:solidFill>
          <a:ln w="12700">
            <a:solidFill>
              <a:srgbClr val="CFE3F0"/>
            </a:solidFill>
            <a:prstDash val="solid"/>
          </a:ln>
        </p:spPr>
      </p:sp>
      <p:pic>
        <p:nvPicPr>
          <p:cNvPr id="27" name="patch-5" descr="/private/tmp/claude-501/-Users-amberwang-Desktop-paper-review/4adec69b-c776-4638-9e73-445c6258dc5b/scratchpad/deck/assets/icon-patch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67528" y="2910501"/>
            <a:ext cx="512064" cy="579797"/>
          </a:xfrm>
          <a:prstGeom prst="rect">
            <a:avLst/>
          </a:prstGeom>
        </p:spPr>
      </p:pic>
      <p:sp>
        <p:nvSpPr>
          <p:cNvPr id="28" name="simple"/>
          <p:cNvSpPr txBox="1"/>
          <p:nvPr/>
        </p:nvSpPr>
        <p:spPr>
          <a:xfrm>
            <a:off x="5166360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1"/>
                </a:solidFill>
              </a:rPr>
              <a:t>simple</a:t>
            </a:r>
            <a:endParaRPr lang="en-US" sz="1000" dirty="0"/>
          </a:p>
        </p:txBody>
      </p:sp>
      <p:sp>
        <p:nvSpPr>
          <p:cNvPr id="29" name="tile-6"/>
          <p:cNvSpPr/>
          <p:nvPr/>
        </p:nvSpPr>
        <p:spPr>
          <a:xfrm>
            <a:off x="6126480" y="28346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30" name="patch-6" descr="/private/tmp/claude-501/-Users-amberwang-Desktop-paper-review/4adec69b-c776-4638-9e73-445c6258dc5b/scratchpad/deck/assets/icon-patch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6208" y="2910501"/>
            <a:ext cx="512064" cy="579797"/>
          </a:xfrm>
          <a:prstGeom prst="rect">
            <a:avLst/>
          </a:prstGeom>
        </p:spPr>
      </p:pic>
      <p:sp>
        <p:nvSpPr>
          <p:cNvPr id="31" name="complex"/>
          <p:cNvSpPr txBox="1"/>
          <p:nvPr/>
        </p:nvSpPr>
        <p:spPr>
          <a:xfrm>
            <a:off x="6035040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</a:rPr>
              <a:t>complex</a:t>
            </a:r>
            <a:endParaRPr lang="en-US" sz="1000" dirty="0"/>
          </a:p>
        </p:txBody>
      </p:sp>
      <p:sp>
        <p:nvSpPr>
          <p:cNvPr id="32" name="tile-7"/>
          <p:cNvSpPr/>
          <p:nvPr/>
        </p:nvSpPr>
        <p:spPr>
          <a:xfrm>
            <a:off x="6995160" y="28346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CFE3F0"/>
          </a:solidFill>
          <a:ln w="12700">
            <a:solidFill>
              <a:srgbClr val="CFE3F0"/>
            </a:solidFill>
            <a:prstDash val="solid"/>
          </a:ln>
        </p:spPr>
      </p:sp>
      <p:pic>
        <p:nvPicPr>
          <p:cNvPr id="33" name="patch-7" descr="/private/tmp/claude-501/-Users-amberwang-Desktop-paper-review/4adec69b-c776-4638-9e73-445c6258dc5b/scratchpad/deck/assets/icon-patch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04888" y="2910501"/>
            <a:ext cx="512064" cy="579797"/>
          </a:xfrm>
          <a:prstGeom prst="rect">
            <a:avLst/>
          </a:prstGeom>
        </p:spPr>
      </p:pic>
      <p:sp>
        <p:nvSpPr>
          <p:cNvPr id="34" name="simple"/>
          <p:cNvSpPr txBox="1"/>
          <p:nvPr/>
        </p:nvSpPr>
        <p:spPr>
          <a:xfrm>
            <a:off x="6903720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1"/>
                </a:solidFill>
              </a:rPr>
              <a:t>simple</a:t>
            </a:r>
            <a:endParaRPr lang="en-US" sz="1000" dirty="0"/>
          </a:p>
        </p:txBody>
      </p:sp>
      <p:sp>
        <p:nvSpPr>
          <p:cNvPr id="35" name="tile-8"/>
          <p:cNvSpPr/>
          <p:nvPr/>
        </p:nvSpPr>
        <p:spPr>
          <a:xfrm>
            <a:off x="7863840" y="28346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36" name="patch-8" descr="/private/tmp/claude-501/-Users-amberwang-Desktop-paper-review/4adec69b-c776-4638-9e73-445c6258dc5b/scratchpad/deck/assets/icon-patch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73568" y="2910501"/>
            <a:ext cx="512064" cy="579797"/>
          </a:xfrm>
          <a:prstGeom prst="rect">
            <a:avLst/>
          </a:prstGeom>
        </p:spPr>
      </p:pic>
      <p:sp>
        <p:nvSpPr>
          <p:cNvPr id="37" name="complex"/>
          <p:cNvSpPr txBox="1"/>
          <p:nvPr/>
        </p:nvSpPr>
        <p:spPr>
          <a:xfrm>
            <a:off x="7772400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</a:rPr>
              <a:t>complex</a:t>
            </a:r>
            <a:endParaRPr lang="en-US" sz="1000" dirty="0"/>
          </a:p>
        </p:txBody>
      </p:sp>
      <p:sp>
        <p:nvSpPr>
          <p:cNvPr id="38" name="tile-9"/>
          <p:cNvSpPr/>
          <p:nvPr/>
        </p:nvSpPr>
        <p:spPr>
          <a:xfrm>
            <a:off x="8732520" y="28346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CFE3F0"/>
          </a:solidFill>
          <a:ln w="12700">
            <a:solidFill>
              <a:srgbClr val="CFE3F0"/>
            </a:solidFill>
            <a:prstDash val="solid"/>
          </a:ln>
        </p:spPr>
      </p:sp>
      <p:pic>
        <p:nvPicPr>
          <p:cNvPr id="39" name="patch-9" descr="/private/tmp/claude-501/-Users-amberwang-Desktop-paper-review/4adec69b-c776-4638-9e73-445c6258dc5b/scratchpad/deck/assets/icon-patch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42248" y="2910501"/>
            <a:ext cx="512064" cy="579797"/>
          </a:xfrm>
          <a:prstGeom prst="rect">
            <a:avLst/>
          </a:prstGeom>
        </p:spPr>
      </p:pic>
      <p:sp>
        <p:nvSpPr>
          <p:cNvPr id="40" name="simple"/>
          <p:cNvSpPr txBox="1"/>
          <p:nvPr/>
        </p:nvSpPr>
        <p:spPr>
          <a:xfrm>
            <a:off x="8641080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1"/>
                </a:solidFill>
              </a:rPr>
              <a:t>simple</a:t>
            </a:r>
            <a:endParaRPr lang="en-US" sz="1000" dirty="0"/>
          </a:p>
        </p:txBody>
      </p:sp>
      <p:sp>
        <p:nvSpPr>
          <p:cNvPr id="41" name="tile-10"/>
          <p:cNvSpPr/>
          <p:nvPr/>
        </p:nvSpPr>
        <p:spPr>
          <a:xfrm>
            <a:off x="9601200" y="28346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42" name="patch-10" descr="/private/tmp/claude-501/-Users-amberwang-Desktop-paper-review/4adec69b-c776-4638-9e73-445c6258dc5b/scratchpad/deck/assets/icon-patch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10928" y="2910501"/>
            <a:ext cx="512064" cy="579797"/>
          </a:xfrm>
          <a:prstGeom prst="rect">
            <a:avLst/>
          </a:prstGeom>
        </p:spPr>
      </p:pic>
      <p:sp>
        <p:nvSpPr>
          <p:cNvPr id="43" name="complex"/>
          <p:cNvSpPr txBox="1"/>
          <p:nvPr/>
        </p:nvSpPr>
        <p:spPr>
          <a:xfrm>
            <a:off x="9509760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</a:rPr>
              <a:t>complex</a:t>
            </a:r>
            <a:endParaRPr lang="en-US" sz="1000" dirty="0"/>
          </a:p>
        </p:txBody>
      </p:sp>
      <p:sp>
        <p:nvSpPr>
          <p:cNvPr id="44" name="line-same-person"/>
          <p:cNvSpPr/>
          <p:nvPr/>
        </p:nvSpPr>
        <p:spPr>
          <a:xfrm>
            <a:off x="2651760" y="2560320"/>
            <a:ext cx="7680960" cy="0"/>
          </a:xfrm>
          <a:prstGeom prst="line">
            <a:avLst/>
          </a:prstGeom>
          <a:noFill/>
          <a:ln w="38100">
            <a:solidFill>
              <a:srgbClr val="8FAF9A"/>
            </a:solidFill>
            <a:prstDash val="solid"/>
          </a:ln>
        </p:spPr>
      </p:sp>
      <p:sp>
        <p:nvSpPr>
          <p:cNvPr id="45" name="same person, patches 2–10"/>
          <p:cNvSpPr txBox="1"/>
          <p:nvPr/>
        </p:nvSpPr>
        <p:spPr>
          <a:xfrm>
            <a:off x="265176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F9A"/>
                </a:solidFill>
              </a:rPr>
              <a:t>same person, patches 2–10</a:t>
            </a:r>
            <a:endParaRPr lang="en-US" sz="1200" dirty="0"/>
          </a:p>
        </p:txBody>
      </p:sp>
      <p:sp>
        <p:nvSpPr>
          <p:cNvPr id="46" name="first patch accepted"/>
          <p:cNvSpPr txBox="1"/>
          <p:nvPr/>
        </p:nvSpPr>
        <p:spPr>
          <a:xfrm>
            <a:off x="1645920" y="36393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AF7A"/>
                </a:solidFill>
              </a:rPr>
              <a:t>first patch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CAF7A"/>
                </a:solidFill>
              </a:rPr>
              <a:t>accepted</a:t>
            </a:r>
            <a:endParaRPr lang="en-US" sz="900" dirty="0"/>
          </a:p>
        </p:txBody>
      </p:sp>
      <p:pic>
        <p:nvPicPr>
          <p:cNvPr id="47" name="icon-sapling" descr="/private/tmp/claude-501/-Users-amberwang-Desktop-paper-review/4adec69b-c776-4638-9e73-445c6258dc5b/scratchpad/deck/assets/icon-sapling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67281" y="2103120"/>
            <a:ext cx="822518" cy="868680"/>
          </a:xfrm>
          <a:prstGeom prst="rect">
            <a:avLst/>
          </a:prstGeom>
        </p:spPr>
      </p:pic>
      <p:sp>
        <p:nvSpPr>
          <p:cNvPr id="48" name="sapling-q"/>
          <p:cNvSpPr txBox="1"/>
          <p:nvPr/>
        </p:nvSpPr>
        <p:spPr>
          <a:xfrm>
            <a:off x="115214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FA5"/>
                </a:solidFill>
              </a:rPr>
              <a:t>?</a:t>
            </a:r>
            <a:endParaRPr lang="en-US" sz="2200" dirty="0"/>
          </a:p>
        </p:txBody>
      </p:sp>
      <p:sp>
        <p:nvSpPr>
          <p:cNvPr id="49" name="still contributing at 12 month"/>
          <p:cNvSpPr txBox="1"/>
          <p:nvPr/>
        </p:nvSpPr>
        <p:spPr>
          <a:xfrm>
            <a:off x="10469880" y="3017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A46"/>
                </a:solidFill>
              </a:rPr>
              <a:t>still contributing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E3A46"/>
                </a:solidFill>
              </a:rPr>
              <a:t>at 12 months?</a:t>
            </a:r>
            <a:endParaRPr lang="en-US" sz="1000" dirty="0"/>
          </a:p>
        </p:txBody>
      </p:sp>
      <p:pic>
        <p:nvPicPr>
          <p:cNvPr id="50" name="char-maintainer" descr="/private/tmp/claude-501/-Users-amberwang-Desktop-paper-review/4adec69b-c776-4638-9e73-445c6258dc5b/scratchpad/deck/assets/char-maintaine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98480" y="3787987"/>
            <a:ext cx="1097280" cy="1202267"/>
          </a:xfrm>
          <a:prstGeom prst="rect">
            <a:avLst/>
          </a:prstGeom>
        </p:spPr>
      </p:pic>
      <p:sp>
        <p:nvSpPr>
          <p:cNvPr id="51" name="Feasible with the paper&amp;apos;s own "/>
          <p:cNvSpPr txBox="1"/>
          <p:nvPr/>
        </p:nvSpPr>
        <p:spPr>
          <a:xfrm>
            <a:off x="1920240" y="45262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A46"/>
                </a:solidFill>
              </a:rPr>
              <a:t>Feasible with the paper's own 1.4M Gerrit reviews and 6M GitHub pull requests: compare acceptance of simple vs complex patches within the same early-stage contributor, then test whether the choice predicts activity a year later.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3A46"/>
                </a:solidFill>
              </a:rPr>
              <a:t>Three threats leave the patch-acceptance findings standing and the long-term-contributor claim unsupported, so the paper should be reframed as a study of patch acceptance before it is accepted</a:t>
            </a:r>
            <a:endParaRPr lang="en-US" sz="2600" dirty="0"/>
          </a:p>
        </p:txBody>
      </p:sp>
      <p:pic>
        <p:nvPicPr>
          <p:cNvPr id="3" name="pt-holds" descr="/private/tmp/claude-501/-Users-amberwang-Desktop-paper-review/4adec69b-c776-4638-9e73-445c6258dc5b/scratchpad/deck/assets/pt-ho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673" y="2331720"/>
            <a:ext cx="1171366" cy="1371600"/>
          </a:xfrm>
          <a:prstGeom prst="rect">
            <a:avLst/>
          </a:prstGeom>
        </p:spPr>
      </p:pic>
      <p:sp>
        <p:nvSpPr>
          <p:cNvPr id="4" name="lbl-pt-holds"/>
          <p:cNvSpPr txBox="1"/>
          <p:nvPr/>
        </p:nvSpPr>
        <p:spPr>
          <a:xfrm>
            <a:off x="60807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What holds</a:t>
            </a:r>
            <a:endParaRPr lang="en-US" sz="1400" dirty="0"/>
          </a:p>
        </p:txBody>
      </p:sp>
      <p:sp>
        <p:nvSpPr>
          <p:cNvPr id="5" name="mark-pt-holds"/>
          <p:cNvSpPr txBox="1"/>
          <p:nvPr/>
        </p:nvSpPr>
        <p:spPr>
          <a:xfrm>
            <a:off x="1869948" y="2084832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CAF7A"/>
                </a:solidFill>
              </a:rPr>
              <a:t>✓</a:t>
            </a:r>
            <a:endParaRPr lang="en-US" sz="2700" dirty="0"/>
          </a:p>
        </p:txBody>
      </p:sp>
      <p:pic>
        <p:nvPicPr>
          <p:cNvPr id="6" name="thr-construct" descr="/private/tmp/claude-501/-Users-amberwang-Desktop-paper-review/4adec69b-c776-4638-9e73-445c6258dc5b/scratchpad/deck/assets/thr-constru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16" y="2398459"/>
            <a:ext cx="1371600" cy="1238122"/>
          </a:xfrm>
          <a:prstGeom prst="rect">
            <a:avLst/>
          </a:prstGeom>
        </p:spPr>
      </p:pic>
      <p:sp>
        <p:nvSpPr>
          <p:cNvPr id="7" name="lbl-thr-construct"/>
          <p:cNvSpPr txBox="1"/>
          <p:nvPr/>
        </p:nvSpPr>
        <p:spPr>
          <a:xfrm>
            <a:off x="280263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Construct validity</a:t>
            </a:r>
            <a:endParaRPr lang="en-US" sz="1400" dirty="0"/>
          </a:p>
        </p:txBody>
      </p:sp>
      <p:sp>
        <p:nvSpPr>
          <p:cNvPr id="8" name="mark-thr-construct"/>
          <p:cNvSpPr txBox="1"/>
          <p:nvPr/>
        </p:nvSpPr>
        <p:spPr>
          <a:xfrm>
            <a:off x="4064508" y="2084832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3946"/>
                </a:solidFill>
              </a:rPr>
              <a:t>✗</a:t>
            </a:r>
            <a:endParaRPr lang="en-US" sz="2700" dirty="0"/>
          </a:p>
        </p:txBody>
      </p:sp>
      <p:pic>
        <p:nvPicPr>
          <p:cNvPr id="9" name="thr-internal" descr="/private/tmp/claude-501/-Users-amberwang-Desktop-paper-review/4adec69b-c776-4638-9e73-445c6258dc5b/scratchpad/deck/assets/thr-inter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2534562"/>
            <a:ext cx="1371600" cy="965915"/>
          </a:xfrm>
          <a:prstGeom prst="rect">
            <a:avLst/>
          </a:prstGeom>
        </p:spPr>
      </p:pic>
      <p:sp>
        <p:nvSpPr>
          <p:cNvPr id="10" name="lbl-thr-internal"/>
          <p:cNvSpPr txBox="1"/>
          <p:nvPr/>
        </p:nvSpPr>
        <p:spPr>
          <a:xfrm>
            <a:off x="499719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Internal validity</a:t>
            </a:r>
            <a:endParaRPr lang="en-US" sz="1400" dirty="0"/>
          </a:p>
        </p:txBody>
      </p:sp>
      <p:sp>
        <p:nvSpPr>
          <p:cNvPr id="11" name="mark-thr-internal"/>
          <p:cNvSpPr txBox="1"/>
          <p:nvPr/>
        </p:nvSpPr>
        <p:spPr>
          <a:xfrm>
            <a:off x="6259068" y="2084832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3946"/>
                </a:solidFill>
              </a:rPr>
              <a:t>✗</a:t>
            </a:r>
            <a:endParaRPr lang="en-US" sz="2700" dirty="0"/>
          </a:p>
        </p:txBody>
      </p:sp>
      <p:pic>
        <p:nvPicPr>
          <p:cNvPr id="12" name="thr-conclusion" descr="/private/tmp/claude-501/-Users-amberwang-Desktop-paper-review/4adec69b-c776-4638-9e73-445c6258dc5b/scratchpad/deck/assets/thr-conclu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176" y="2331720"/>
            <a:ext cx="1345721" cy="1371600"/>
          </a:xfrm>
          <a:prstGeom prst="rect">
            <a:avLst/>
          </a:prstGeom>
        </p:spPr>
      </p:pic>
      <p:sp>
        <p:nvSpPr>
          <p:cNvPr id="13" name="lbl-thr-conclusion"/>
          <p:cNvSpPr txBox="1"/>
          <p:nvPr/>
        </p:nvSpPr>
        <p:spPr>
          <a:xfrm>
            <a:off x="719175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Conclusion validity</a:t>
            </a:r>
            <a:endParaRPr lang="en-US" sz="1400" dirty="0"/>
          </a:p>
        </p:txBody>
      </p:sp>
      <p:sp>
        <p:nvSpPr>
          <p:cNvPr id="14" name="mark-thr-conclusion"/>
          <p:cNvSpPr txBox="1"/>
          <p:nvPr/>
        </p:nvSpPr>
        <p:spPr>
          <a:xfrm>
            <a:off x="8453628" y="2084832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3946"/>
                </a:solidFill>
              </a:rPr>
              <a:t>✗</a:t>
            </a:r>
            <a:endParaRPr lang="en-US" sz="2700" dirty="0"/>
          </a:p>
        </p:txBody>
      </p:sp>
      <p:pic>
        <p:nvPicPr>
          <p:cNvPr id="15" name="pt-experiment" descr="/private/tmp/claude-501/-Users-amberwang-Desktop-paper-review/4adec69b-c776-4638-9e73-445c6258dc5b/scratchpad/deck/assets/pt-experim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4851" y="2331720"/>
            <a:ext cx="937491" cy="1371600"/>
          </a:xfrm>
          <a:prstGeom prst="rect">
            <a:avLst/>
          </a:prstGeom>
        </p:spPr>
      </p:pic>
      <p:sp>
        <p:nvSpPr>
          <p:cNvPr id="16" name="lbl-pt-experiment"/>
          <p:cNvSpPr txBox="1"/>
          <p:nvPr/>
        </p:nvSpPr>
        <p:spPr>
          <a:xfrm>
            <a:off x="938631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A46"/>
                </a:solidFill>
              </a:rPr>
              <a:t>What would change my mind</a:t>
            </a:r>
            <a:endParaRPr lang="en-US" sz="1400" dirty="0"/>
          </a:p>
        </p:txBody>
      </p:sp>
      <p:sp>
        <p:nvSpPr>
          <p:cNvPr id="17" name="mark-pt-experiment"/>
          <p:cNvSpPr txBox="1"/>
          <p:nvPr/>
        </p:nvSpPr>
        <p:spPr>
          <a:xfrm>
            <a:off x="10648188" y="2084832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A6FA5"/>
                </a:solidFill>
              </a:rPr>
              <a:t>→</a:t>
            </a:r>
            <a:endParaRPr lang="en-US" sz="2700" dirty="0"/>
          </a:p>
        </p:txBody>
      </p:sp>
      <p:sp>
        <p:nvSpPr>
          <p:cNvPr id="18" name="title-original"/>
          <p:cNvSpPr txBox="1"/>
          <p:nvPr/>
        </p:nvSpPr>
        <p:spPr>
          <a:xfrm>
            <a:off x="100584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trike="sngStrike" dirty="0">
                <a:solidFill>
                  <a:srgbClr val="9AA5B1"/>
                </a:solidFill>
              </a:rPr>
              <a:t>From First Patch to Long-Term Contributor: Evaluating Onboarding Recommendations for OSS Newcomers</a:t>
            </a:r>
            <a:endParaRPr lang="en-US" sz="1300" dirty="0"/>
          </a:p>
        </p:txBody>
      </p:sp>
      <p:sp>
        <p:nvSpPr>
          <p:cNvPr id="19" name="title-reframed"/>
          <p:cNvSpPr/>
          <p:nvPr/>
        </p:nvSpPr>
        <p:spPr>
          <a:xfrm>
            <a:off x="1005840" y="49834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CFE3F0"/>
          </a:solidFill>
          <a:ln w="12700">
            <a:solidFill>
              <a:srgbClr val="4A6FA5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3A46"/>
                </a:solidFill>
              </a:rPr>
              <a:t>Which patches get accepted: evaluating onboarding recommendations across OSS contexts</a:t>
            </a:r>
            <a:endParaRPr lang="en-US" sz="1700" dirty="0"/>
          </a:p>
        </p:txBody>
      </p:sp>
      <p:sp>
        <p:nvSpPr>
          <p:cNvPr id="20" name="reject as written · accept ref"/>
          <p:cNvSpPr txBox="1"/>
          <p:nvPr/>
        </p:nvSpPr>
        <p:spPr>
          <a:xfrm>
            <a:off x="1005840" y="5852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6FA5"/>
                </a:solidFill>
              </a:rPr>
              <a:t>reject as written · accept reframed</a:t>
            </a:r>
            <a:endParaRPr lang="en-US" sz="1200" dirty="0"/>
          </a:p>
        </p:txBody>
      </p:sp>
      <p:pic>
        <p:nvPicPr>
          <p:cNvPr id="21" name="hero-door" descr="/private/tmp/claude-501/-Users-amberwang-Desktop-paper-review/4adec69b-c776-4638-9e73-445c6258dc5b/scratchpad/deck/assets/hero-doo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4731904"/>
            <a:ext cx="1920240" cy="12346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irstPatch Adversary">
  <a:themeElements>
    <a:clrScheme name="FirstPatch Adversary">
      <a:dk1>
        <a:srgbClr val="2E3A46"/>
      </a:dk1>
      <a:lt1>
        <a:srgbClr val="FFFFFF"/>
      </a:lt1>
      <a:dk2>
        <a:srgbClr val="4A6FA5"/>
      </a:dk2>
      <a:lt2>
        <a:srgbClr val="CFE3F0"/>
      </a:lt2>
      <a:accent1>
        <a:srgbClr val="4A6FA5"/>
      </a:accent1>
      <a:accent2>
        <a:srgbClr val="8FAF9A"/>
      </a:accent2>
      <a:accent3>
        <a:srgbClr val="E63946"/>
      </a:accent3>
      <a:accent4>
        <a:srgbClr val="4CAF7A"/>
      </a:accent4>
      <a:accent5>
        <a:srgbClr val="9AA5B1"/>
      </a:accent5>
      <a:accent6>
        <a:srgbClr val="CFE3F0"/>
      </a:accent6>
      <a:hlink>
        <a:srgbClr val="4A6FA5"/>
      </a:hlink>
      <a:folHlink>
        <a:srgbClr val="8FAF9A"/>
      </a:folHlink>
    </a:clrScheme>
    <a:fontScheme name="FirstPatch Adversar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First Patch to Long-Term Contributor: the adversary's case</dc:title>
  <dc:subject>PptxGenJS Presentation</dc:subject>
  <dc:creator>Amber Wang</dc:creator>
  <cp:lastModifiedBy>Amber Wang</cp:lastModifiedBy>
  <cp:revision>1</cp:revision>
  <dcterms:created xsi:type="dcterms:W3CDTF">2026-10-20T14:14:34Z</dcterms:created>
  <dcterms:modified xsi:type="dcterms:W3CDTF">2026-10-20T14:14:34Z</dcterms:modified>
</cp:coreProperties>
</file>