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dversary case" id="{f01aea9e-240d-13c4-7831-735fdea20f1a}">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A46"/>
                </a:solidFill>
                <a:latin typeface="+mn-lt"/>
              </a:defRPr>
            </a:pPr>
            <a:r>
              <a:rPr sz="1300" b="0" i="0" u="none" strike="noStrike">
                <a:solidFill>
                  <a:srgbClr val="2E3A46"/>
                </a:solidFill>
                <a:latin typeface="+mn-lt"/>
              </a:rPr>
              <a:t>Share of the outcome explained, EP(%)</a:t>
            </a:r>
          </a:p>
        </c:rich>
      </c:tx>
      <c:layout/>
      <c:overlay val="0"/>
    </c:title>
    <c:autoTitleDeleted val="0"/>
    <c:plotArea>
      <c:layout/>
      <c:barChart>
        <c:barDir val="col"/>
        <c:grouping val="clustered"/>
        <c:varyColors val="0"/>
        <c:ser>
          <c:idx val="0"/>
          <c:order val="0"/>
          <c:tx>
            <c:strRef>
              <c:f>Sheet1!$B$1</c:f>
              <c:strCache>
                <c:ptCount val="1"/>
                <c:pt idx="0">
                  <c:v>EP(%)</c:v>
                </c:pt>
              </c:strCache>
            </c:strRef>
          </c:tx>
          <c:spPr>
            <a:solidFill>
              <a:srgbClr val="9AA5B1"/>
            </a:solidFill>
            <a:effectLst/>
          </c:spPr>
          <c:invertIfNegative val="0"/>
          <c:dLbls>
            <c:numFmt formatCode="0.00" sourceLinked="0"/>
            <c:txPr>
              <a:bodyPr/>
              <a:lstStyle/>
              <a:p>
                <a:pPr>
                  <a:defRPr b="0" i="0" strike="noStrike" sz="1100" u="none">
                    <a:solidFill>
                      <a:srgbClr val="2E3A46"/>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9AA5B1"/>
              </a:solidFill>
              <a:effectLst/>
            </c:spPr>
          </c:dPt>
          <c:dPt>
            <c:idx val="2"/>
            <c:invertIfNegative val="0"/>
            <c:bubble3D val="0"/>
            <c:spPr>
              <a:solidFill>
                <a:srgbClr val="9AA5B1"/>
              </a:solidFill>
              <a:effectLst/>
            </c:spPr>
          </c:dPt>
          <c:dPt>
            <c:idx val="3"/>
            <c:invertIfNegative val="0"/>
            <c:bubble3D val="0"/>
            <c:spPr>
              <a:solidFill>
                <a:srgbClr val="9AA5B1"/>
              </a:solidFill>
              <a:effectLst/>
            </c:spPr>
          </c:dPt>
          <c:dPt>
            <c:idx val="4"/>
            <c:invertIfNegative val="0"/>
            <c:bubble3D val="0"/>
            <c:spPr>
              <a:solidFill>
                <a:srgbClr val="4A6FA5"/>
              </a:solidFill>
              <a:effectLst/>
            </c:spPr>
          </c:dPt>
          <c:dPt>
            <c:idx val="5"/>
            <c:invertIfNegative val="0"/>
            <c:bubble3D val="0"/>
            <c:spPr>
              <a:solidFill>
                <a:srgbClr val="4A6FA5"/>
              </a:solidFill>
              <a:effectLst/>
            </c:spPr>
          </c:dPt>
          <c:cat>
            <c:multiLvlStrRef>
              <c:f>Sheet1!$A$2:$A$7</c:f>
              <c:multiLvlStrCache>
                <c:ptCount val="6"/>
                <c:lvl>
                  <c:pt idx="0">
                    <c:v>title length</c:v>
                  </c:pt>
                  <c:pt idx="1">
                    <c:v>desc. length</c:v>
                  </c:pt>
                  <c:pt idx="2">
                    <c:v>title read.</c:v>
                  </c:pt>
                  <c:pt idx="3">
                    <c:v>desc. read.</c:v>
                  </c:pt>
                  <c:pt idx="4">
                    <c:v>doc file</c:v>
                  </c:pt>
                  <c:pt idx="5">
                    <c:v>log(insert)</c:v>
                  </c:pt>
                </c:lvl>
              </c:multiLvlStrCache>
            </c:multiLvlStrRef>
          </c:cat>
          <c:val>
            <c:numRef>
              <c:f>Sheet1!$B$2:$B$7</c:f>
              <c:numCache>
                <c:formatCode>General</c:formatCode>
                <c:ptCount val="6"/>
                <c:pt idx="0">
                  <c:v>0.01</c:v>
                </c:pt>
                <c:pt idx="1">
                  <c:v>0.22</c:v>
                </c:pt>
                <c:pt idx="2">
                  <c:v>0.03</c:v>
                </c:pt>
                <c:pt idx="3">
                  <c:v>0.02</c:v>
                </c:pt>
                <c:pt idx="4">
                  <c:v>1.82</c:v>
                </c:pt>
                <c:pt idx="5">
                  <c:v>2.92</c:v>
                </c:pt>
              </c:numCache>
            </c:numRef>
          </c:val>
        </c:ser>
        <c:dLbls>
          <c:numFmt formatCode="0.00" sourceLinked="0"/>
          <c:txPr>
            <a:bodyPr/>
            <a:lstStyle/>
            <a:p>
              <a:pPr>
                <a:defRPr b="0" i="0" strike="noStrike" sz="1100" u="none">
                  <a:solidFill>
                    <a:srgbClr val="2E3A4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E3A46"/>
                </a:solidFill>
                <a:latin typeface="+mn-lt"/>
              </a:defRPr>
            </a:pPr>
            <a:endParaRPr lang="en-US"/>
          </a:p>
        </c:txPr>
        <c:crossAx val="2094734552"/>
        <c:crosses val="autoZero"/>
        <c:auto val="1"/>
        <c:lblAlgn val="ctr"/>
        <c:noMultiLvlLbl val="1"/>
      </c:catAx>
      <c:valAx>
        <c:axId val="2094734552"/>
        <c:scaling>
          <c:orientation val="minMax"/>
          <c:max val="3.5"/>
        </c:scaling>
        <c:delete val="0"/>
        <c:axPos val="l"/>
        <c:majorGridlines>
          <c:spPr>
            <a:ln w="6350" cap="flat">
              <a:solidFill>
                <a:srgbClr val="E6EA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AA5B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I'm the adversary for this paper. The champions showed you what it found, and a good part of that holds up.
My job is to show where the paper claims more than its data can support. I'll keep it to three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 are the three.
[click] First, no evidence. The paper makes a claim about becoming a long-term contributor, but it never measures that.
[click] Second, a biased conclusion. The comparison behind that same claim can be explained by experience rather than by what newcomers choose to work on. The technical name is confounding. Points one and two attack the same sentence in the abstract, so I'll take them together.
[click] Third, significance from large samples. Four results are called significant only because the samples are huge, not because the effects are big enough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 is the claim my first two points are about.
The paper looks at three recommendations that help newcomers get their first patch accepted: work on simple tasks, work on documentation, and make changes that delete only a few lines.
[click] For newcomers, all three go with higher acceptance.
[click] For non-newcomers, the same three go with lower acceptance.
[click] From that flip, the abstract concludes that once you are past your first patch you should abandon these strategies, to increase your odds of becoming a long-term contributor. Everything in my next four slides is about this one sentence.
IF ASKED
- Which numbers? Simple tasks, measured as change entropy, GitHub(H): odds ratio 0.85 for newcomers and 2.14 for non-newcomers (Tables VIII and X). Documentation, LibreOffice: 4.56 and 0.90 (Tables VII and IX). Fewer deletions, GitHub(H): 0.85 and 1.11 (Tables VIII and X).
- Why is 0.85 good for newcomers? For complexity and deletions the metric goes up as the task gets harder, so an odds ratio below 1 means simpler is better. The paper's Table XI footnote says the same.
- Where else does the claim appear? The RQ3 result in Section I and the implications in Section V-C.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 me read that sentence closely.
[click] "Abandon" is an instruction. But this is a correlational study. It can tell us what goes along with acceptance. It cannot tell us what a contributor should change.
[click] "At non-newcomer status" refers to one big pooled group: everyone from someone on their second patch to a maintainer of ten years. Hold on to that, because it is my second point.
[click] "To increase their odds". The only odds in the model are the odds that a single patch gets accepted. That is the outcome variable, is_accepted, in Section IV-A-5.
[click] And "becoming long-term contributors" is never measured. There is no retention, tenure, or activity variable anywhere in the paper.
IF ASKED
- Isn't acceptance of later patches a fair proxy for staying? Maybe, but that is an assumption, and the paper never tests it. It has the data to test it, which is my next slide.
- The conclusion section words it differently, as increasing "the odds of successful onboarding", so even the paper shifts between onboarding and long-term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 what would it take to support that sentence?
[click] Here is what the paper measured: one patch, accepted or not.
[click] That tells us nothing about who stays.
[click] What the claim needs is this. Take people after their first accepted patch. Look at what kind of work they do on their next several patches. Then check whether they are still contributing a year later. That outcome is what "long-term contributor" means.
[click] And the paper could do this with the data it already has. The Gerrit data run to the end of April 2023, so anyone who started before May 2022 can be followed for a full year.
IF ASKED
- Which method? A survival analysis of time until a contributor stops, or simply a yes/no for activity twelve months after the first accepted 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My second point is about the flip itself.
Remember, the paper fits one regression for newcomers and a separate one for non-newcomers. So the flip happens inside the non-newcomer group: there, simple patches are accepted less often than complex ones.
[click] But think about who is in that group. Some are recent joiners with a handful of patches. Others are veterans and company employees.
[click] Veterans take on the complex work, [click] and their patches get accepted because they are trusted.
[click] So when the regression compares complex patches with simple ones, it is partly comparing veterans with recent joiners.
Here is a made-up example. Say veterans get 90% of their patches accepted and recent joiners 60%, whatever task they pick. If veterans write most of the complex patches and recent joiners most of the simple ones, simple patches will look clearly worse, even though task type changed nothing for anyone.
[click] And the models cannot rule this out. They have no tenure, affiliation, or author variable. This is confounding: experience drives both the task and the acceptance.
IF ASKED
- Section VI admits non-newcomers are diverse. Admitting a confound is not controlling for it. There are no tenure, affiliation, or author terms, no project effects inside the pooled GitHub groups, and no clustered errors.
- Example numbers for the made-up case: veterans write 80 complex and 20 simple patches, recent joiners 20 complex and 80 simple. Complex patches are accepted 84% of the time, simple ones 66%, with no real effect of task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How would we tell stage apart from experience? There are two ways.
[click] The first is to split non-newcomers by experience: people with two to five accepted patches, people with six to twenty, and core maintainers.
[click] If simple patches already do worse among people with only two to five accepted patches, then stage really matters, and the paper's advice may hold. In that case, I'm wrong.
[click] If the gap only shows up among core maintainers, experience explains it, and the advice does not follow.
[click] The second way is to follow the same person from their second patch to their tenth, and compare their own simple and complex patches. Experience is then held constant by design.
Both use data the paper already has. Even adding tenure and author effects to the existing models would be a quick first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My third point is about a different headline result.
[click] The abstract says four recommendations have significant negative associations.
[click] They are title length, description length, title readability, and description readability. Every significant estimate for them is an odds ratio of 0.999 or 1.001. An odds ratio of 1 means no effect at all.
[click] Now look at how much of the outcome they explain: the grey bars. Each explains at most about a fifth of a percent. For comparison, documentation and lines added explain about two and three percent.
IF ASKED
- Which datasets? The 0.999 values on the chips are newcomers in GitHub(H), except description length, which is GitHub(M); all from Table VIII. In GitHub(H), description length is 1.001, slightly positive.
- The chart is GitHub(H) newcomers, Table VIII: 0.01, 0.22, 0.03, 0.02 for the four title and description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What does 0.999 mean in practice? The odds ratio for title length is per word.
[click] Take a five-word title, [click] and a fifteen-word title for the same patch.
[click] Suppose the short one had a 50% chance of being accepted.
[click] Then the long one has 49.75%.
[click] That is just 0.999 multiplied by itself ten times. Ten extra words cost a quarter of a percentage point. Nobody should rewrite their titles over that.
IF ASKED
- Why start from 50%? It is only for illustration; the shift is similarly tiny from any starting point.
- What about rounding? Any odds ratio that rounds to 0.999 gives between 49.6% and 49.9%.
- Is title length log-transformed? No. Table V defines it as a word count, and only churn, insertions, deletions, and delay were log-transformed.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 why is it significant at all?
[click] Picture a coin that lands heads 50.4% of the time. That is useless for cheating.
[click] But flip it 262,013 times, and a standard test calls it significantly unfair, with a p-value around 0.00004.
[click] 262,013 is exactly the number of newcomers in the busiest GitHub group in this paper.
[click] With samples this big, almost any difference comes out significant. Significant is not the same as important. These four results should be reported as no practical effect, not as negative associations.
IF ASKED
- The coin arithmetic: the standard error is 0.5 divided by the square root of 262,013, about 0.001. A 0.4-point bias is about 4.1 standard errors, two-sided p about 0.00004.
- Source for 262,013: Table VI, number of newcomers in GitHub(H).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 sum up.
[click] No evidence for the long-term claim. A conclusion that experience can explain. And four significant results that are too small to matter.
[click] The first claim should be rewritten to what the data show: among contributors with an accepted patch, simple, documentation, and low-deletion changes go with lower acceptance. That is a statement about patches, not about who stays.
[click] The second should become: title and description length and readability show no practical effect.
[click] And some of the paper clearly holds. Good First Issues raise newcomers' acceptance odds 5.57 times in busy GitHub projects, and bug fixes help newcomers in seven of eight datasets.
Reframed as a study of which patches get accepted, this is a useful paper. As written, its title claim is untested.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371600"/>
            <a:ext cx="5486400" cy="2194560"/>
          </a:xfrm>
          <a:prstGeom prst="rect">
            <a:avLst/>
          </a:prstGeom>
          <a:noFill/>
          <a:ln/>
        </p:spPr>
        <p:txBody>
          <a:bodyPr wrap="square" rtlCol="0"/>
          <a:lstStyle>
            <a:lvl1pPr algn="l" indent="0" marL="0">
              <a:buNone/>
              <a:defRPr lang="en-US" sz="3600" b="1" dirty="0">
                <a:solidFill>
                  <a:srgbClr val="2E3A46"/>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NTENC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rtlCol="0"/>
          <a:lstStyle>
            <a:lvl1pPr algn="l" indent="0" marL="0">
              <a:buNone/>
              <a:defRPr lang="en-US" sz="2800" b="1" dirty="0">
                <a:solidFill>
                  <a:srgbClr val="2E3A46"/>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4.png"/><Relationship Id="rId6" Type="http://schemas.openxmlformats.org/officeDocument/2006/relationships/image" Target="../media/image-3-4.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5-4.png"/><Relationship Id="rId11" Type="http://schemas.openxmlformats.org/officeDocument/2006/relationships/image" Target="../media/image-5-4.png"/><Relationship Id="rId12" Type="http://schemas.openxmlformats.org/officeDocument/2006/relationships/image" Target="../media/image-5-4.png"/><Relationship Id="rId13" Type="http://schemas.openxmlformats.org/officeDocument/2006/relationships/image" Target="../media/image-5-13.png"/><Relationship Id="rId14" Type="http://schemas.openxmlformats.org/officeDocument/2006/relationships/slideLayout" Target="../slideLayouts/slideLayout3.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4.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1371600"/>
            <a:ext cx="5486400" cy="2194560"/>
          </a:xfrm>
          <a:prstGeom prst="rect">
            <a:avLst/>
          </a:prstGeom>
          <a:noFill/>
          <a:ln/>
        </p:spPr>
        <p:txBody>
          <a:bodyPr wrap="square" lIns="0" tIns="0" rIns="0" bIns="0" rtlCol="0" anchor="t"/>
          <a:lstStyle/>
          <a:p>
            <a:pPr algn="l" indent="0" marL="0">
              <a:buNone/>
            </a:pPr>
            <a:r>
              <a:rPr lang="en-US" sz="3600" b="1" dirty="0">
                <a:solidFill>
                  <a:srgbClr val="2E3A46"/>
                </a:solidFill>
              </a:rPr>
              <a:t>The adversary's case: the claims outrun the evidence</a:t>
            </a:r>
            <a:endParaRPr lang="en-US" sz="3600" dirty="0"/>
          </a:p>
        </p:txBody>
      </p:sp>
      <p:pic>
        <p:nvPicPr>
          <p:cNvPr id="3" name="s1-hero-door" descr="/Users/amberwang/Desktop/paper-review/assets/hero-door.png">    </p:cNvPr>
          <p:cNvPicPr>
            <a:picLocks noChangeAspect="1"/>
          </p:cNvPicPr>
          <p:nvPr/>
        </p:nvPicPr>
        <p:blipFill>
          <a:blip r:embed="rId1"/>
          <a:stretch>
            <a:fillRect/>
          </a:stretch>
        </p:blipFill>
        <p:spPr>
          <a:xfrm>
            <a:off x="6217920" y="1665183"/>
            <a:ext cx="5486400" cy="3527635"/>
          </a:xfrm>
          <a:prstGeom prst="rect">
            <a:avLst/>
          </a:prstGeom>
        </p:spPr>
      </p:pic>
      <p:sp>
        <p:nvSpPr>
          <p:cNvPr id="4" name="s1-text-Turzo, Sultana, Bo"/>
          <p:cNvSpPr txBox="1"/>
          <p:nvPr/>
        </p:nvSpPr>
        <p:spPr>
          <a:xfrm>
            <a:off x="457200" y="3840480"/>
            <a:ext cx="5577840" cy="365760"/>
          </a:xfrm>
          <a:prstGeom prst="rect">
            <a:avLst/>
          </a:prstGeom>
          <a:noFill/>
          <a:ln/>
        </p:spPr>
        <p:txBody>
          <a:bodyPr wrap="square" lIns="0" tIns="0" rIns="0" bIns="0" rtlCol="0" anchor="t"/>
          <a:lstStyle/>
          <a:p>
            <a:pPr algn="l" indent="0" marL="0">
              <a:buNone/>
            </a:pPr>
            <a:r>
              <a:rPr lang="en-US" sz="1400" dirty="0">
                <a:solidFill>
                  <a:srgbClr val="9AA5B1"/>
                </a:solidFill>
              </a:rPr>
              <a:t>Turzo, Sultana, Bosu · IEEE Transactions on Software Engineering 51(4),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lIns="0" tIns="0" rIns="0" bIns="0" rtlCol="0" anchor="t"/>
          <a:lstStyle/>
          <a:p>
            <a:pPr algn="l" indent="0" marL="0">
              <a:buNone/>
            </a:pPr>
            <a:r>
              <a:rPr lang="en-US" sz="2800" b="1" dirty="0">
                <a:solidFill>
                  <a:srgbClr val="2E3A46"/>
                </a:solidFill>
              </a:rPr>
              <a:t>I will raise three problems with the paper's claims</a:t>
            </a:r>
            <a:endParaRPr lang="en-US" sz="2800" dirty="0"/>
          </a:p>
        </p:txBody>
      </p:sp>
      <p:pic>
        <p:nvPicPr>
          <p:cNvPr id="3" name="thr-construct" descr="/Users/amberwang/Desktop/paper-review/assets/thr-construct.png">    </p:cNvPr>
          <p:cNvPicPr>
            <a:picLocks noChangeAspect="1"/>
          </p:cNvPicPr>
          <p:nvPr/>
        </p:nvPicPr>
        <p:blipFill>
          <a:blip r:embed="rId1"/>
          <a:stretch>
            <a:fillRect/>
          </a:stretch>
        </p:blipFill>
        <p:spPr>
          <a:xfrm>
            <a:off x="1979676" y="2183207"/>
            <a:ext cx="1645920" cy="1485747"/>
          </a:xfrm>
          <a:prstGeom prst="rect">
            <a:avLst/>
          </a:prstGeom>
        </p:spPr>
      </p:pic>
      <p:sp>
        <p:nvSpPr>
          <p:cNvPr id="4" name="lbl-thr-construct"/>
          <p:cNvSpPr txBox="1"/>
          <p:nvPr/>
        </p:nvSpPr>
        <p:spPr>
          <a:xfrm>
            <a:off x="1202436" y="3886200"/>
            <a:ext cx="3200400" cy="365760"/>
          </a:xfrm>
          <a:prstGeom prst="rect">
            <a:avLst/>
          </a:prstGeom>
          <a:noFill/>
          <a:ln/>
        </p:spPr>
        <p:txBody>
          <a:bodyPr wrap="square" lIns="0" tIns="0" rIns="0" bIns="0" rtlCol="0" anchor="t"/>
          <a:lstStyle/>
          <a:p>
            <a:pPr algn="ctr" indent="0" marL="0">
              <a:buNone/>
            </a:pPr>
            <a:r>
              <a:rPr lang="en-US" sz="1700" b="1" dirty="0">
                <a:solidFill>
                  <a:srgbClr val="2E3A46"/>
                </a:solidFill>
              </a:rPr>
              <a:t>No evidence</a:t>
            </a:r>
            <a:endParaRPr lang="en-US" sz="1700" dirty="0"/>
          </a:p>
        </p:txBody>
      </p:sp>
      <p:sp>
        <p:nvSpPr>
          <p:cNvPr id="5" name="sub-thr-construct"/>
          <p:cNvSpPr txBox="1"/>
          <p:nvPr/>
        </p:nvSpPr>
        <p:spPr>
          <a:xfrm>
            <a:off x="1202436" y="4297680"/>
            <a:ext cx="3200400" cy="320040"/>
          </a:xfrm>
          <a:prstGeom prst="rect">
            <a:avLst/>
          </a:prstGeom>
          <a:noFill/>
          <a:ln/>
        </p:spPr>
        <p:txBody>
          <a:bodyPr wrap="square" lIns="0" tIns="0" rIns="0" bIns="0" rtlCol="0" anchor="t"/>
          <a:lstStyle/>
          <a:p>
            <a:pPr algn="ctr" indent="0" marL="0">
              <a:buNone/>
            </a:pPr>
            <a:r>
              <a:rPr lang="en-US" sz="1300" dirty="0">
                <a:solidFill>
                  <a:srgbClr val="9AA5B1"/>
                </a:solidFill>
              </a:rPr>
              <a:t>Point 1 · construct validity</a:t>
            </a:r>
            <a:endParaRPr lang="en-US" sz="1300" dirty="0"/>
          </a:p>
        </p:txBody>
      </p:sp>
      <p:pic>
        <p:nvPicPr>
          <p:cNvPr id="6" name="thr-internal" descr="/Users/amberwang/Desktop/paper-review/assets/thr-internal.png">    </p:cNvPr>
          <p:cNvPicPr>
            <a:picLocks noChangeAspect="1"/>
          </p:cNvPicPr>
          <p:nvPr/>
        </p:nvPicPr>
        <p:blipFill>
          <a:blip r:embed="rId2"/>
          <a:stretch>
            <a:fillRect/>
          </a:stretch>
        </p:blipFill>
        <p:spPr>
          <a:xfrm>
            <a:off x="5271516" y="2346531"/>
            <a:ext cx="1645920" cy="1159099"/>
          </a:xfrm>
          <a:prstGeom prst="rect">
            <a:avLst/>
          </a:prstGeom>
        </p:spPr>
      </p:pic>
      <p:sp>
        <p:nvSpPr>
          <p:cNvPr id="7" name="lbl-thr-internal"/>
          <p:cNvSpPr txBox="1"/>
          <p:nvPr/>
        </p:nvSpPr>
        <p:spPr>
          <a:xfrm>
            <a:off x="4494276" y="3886200"/>
            <a:ext cx="3200400" cy="365760"/>
          </a:xfrm>
          <a:prstGeom prst="rect">
            <a:avLst/>
          </a:prstGeom>
          <a:noFill/>
          <a:ln/>
        </p:spPr>
        <p:txBody>
          <a:bodyPr wrap="square" lIns="0" tIns="0" rIns="0" bIns="0" rtlCol="0" anchor="t"/>
          <a:lstStyle/>
          <a:p>
            <a:pPr algn="ctr" indent="0" marL="0">
              <a:buNone/>
            </a:pPr>
            <a:r>
              <a:rPr lang="en-US" sz="1700" b="1" dirty="0">
                <a:solidFill>
                  <a:srgbClr val="2E3A46"/>
                </a:solidFill>
              </a:rPr>
              <a:t>Biased conclusion</a:t>
            </a:r>
            <a:endParaRPr lang="en-US" sz="1700" dirty="0"/>
          </a:p>
        </p:txBody>
      </p:sp>
      <p:sp>
        <p:nvSpPr>
          <p:cNvPr id="8" name="sub-thr-internal"/>
          <p:cNvSpPr txBox="1"/>
          <p:nvPr/>
        </p:nvSpPr>
        <p:spPr>
          <a:xfrm>
            <a:off x="4494276" y="4297680"/>
            <a:ext cx="3200400" cy="320040"/>
          </a:xfrm>
          <a:prstGeom prst="rect">
            <a:avLst/>
          </a:prstGeom>
          <a:noFill/>
          <a:ln/>
        </p:spPr>
        <p:txBody>
          <a:bodyPr wrap="square" lIns="0" tIns="0" rIns="0" bIns="0" rtlCol="0" anchor="t"/>
          <a:lstStyle/>
          <a:p>
            <a:pPr algn="ctr" indent="0" marL="0">
              <a:buNone/>
            </a:pPr>
            <a:r>
              <a:rPr lang="en-US" sz="1300" dirty="0">
                <a:solidFill>
                  <a:srgbClr val="9AA5B1"/>
                </a:solidFill>
              </a:rPr>
              <a:t>Point 2 · internal validity</a:t>
            </a:r>
            <a:endParaRPr lang="en-US" sz="1300" dirty="0"/>
          </a:p>
        </p:txBody>
      </p:sp>
      <p:pic>
        <p:nvPicPr>
          <p:cNvPr id="9" name="thr-conclusion" descr="/Users/amberwang/Desktop/paper-review/assets/thr-conclusion.png">    </p:cNvPr>
          <p:cNvPicPr>
            <a:picLocks noChangeAspect="1"/>
          </p:cNvPicPr>
          <p:nvPr/>
        </p:nvPicPr>
        <p:blipFill>
          <a:blip r:embed="rId3"/>
          <a:stretch>
            <a:fillRect/>
          </a:stretch>
        </p:blipFill>
        <p:spPr>
          <a:xfrm>
            <a:off x="8578884" y="2103120"/>
            <a:ext cx="1614865" cy="1645920"/>
          </a:xfrm>
          <a:prstGeom prst="rect">
            <a:avLst/>
          </a:prstGeom>
        </p:spPr>
      </p:pic>
      <p:sp>
        <p:nvSpPr>
          <p:cNvPr id="10" name="lbl-thr-conclusion"/>
          <p:cNvSpPr txBox="1"/>
          <p:nvPr/>
        </p:nvSpPr>
        <p:spPr>
          <a:xfrm>
            <a:off x="7786116" y="3886200"/>
            <a:ext cx="3200400" cy="365760"/>
          </a:xfrm>
          <a:prstGeom prst="rect">
            <a:avLst/>
          </a:prstGeom>
          <a:noFill/>
          <a:ln/>
        </p:spPr>
        <p:txBody>
          <a:bodyPr wrap="square" lIns="0" tIns="0" rIns="0" bIns="0" rtlCol="0" anchor="t"/>
          <a:lstStyle/>
          <a:p>
            <a:pPr algn="ctr" indent="0" marL="0">
              <a:buNone/>
            </a:pPr>
            <a:r>
              <a:rPr lang="en-US" sz="1700" b="1" dirty="0">
                <a:solidFill>
                  <a:srgbClr val="2E3A46"/>
                </a:solidFill>
              </a:rPr>
              <a:t>Significance from large samples</a:t>
            </a:r>
            <a:endParaRPr lang="en-US" sz="1700" dirty="0"/>
          </a:p>
        </p:txBody>
      </p:sp>
      <p:sp>
        <p:nvSpPr>
          <p:cNvPr id="11" name="sub-thr-conclusion"/>
          <p:cNvSpPr txBox="1"/>
          <p:nvPr/>
        </p:nvSpPr>
        <p:spPr>
          <a:xfrm>
            <a:off x="7786116" y="4297680"/>
            <a:ext cx="3200400" cy="320040"/>
          </a:xfrm>
          <a:prstGeom prst="rect">
            <a:avLst/>
          </a:prstGeom>
          <a:noFill/>
          <a:ln/>
        </p:spPr>
        <p:txBody>
          <a:bodyPr wrap="square" lIns="0" tIns="0" rIns="0" bIns="0" rtlCol="0" anchor="t"/>
          <a:lstStyle/>
          <a:p>
            <a:pPr algn="ctr" indent="0" marL="0">
              <a:buNone/>
            </a:pPr>
            <a:r>
              <a:rPr lang="en-US" sz="1300" dirty="0">
                <a:solidFill>
                  <a:srgbClr val="9AA5B1"/>
                </a:solidFill>
              </a:rPr>
              <a:t>Point 3 · conclusion validity</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lIns="0" tIns="0" rIns="0" bIns="0" rtlCol="0" anchor="t"/>
          <a:lstStyle/>
          <a:p>
            <a:pPr algn="l" indent="0" marL="0">
              <a:buNone/>
            </a:pPr>
            <a:r>
              <a:rPr lang="en-US" sz="2800" b="1" dirty="0">
                <a:solidFill>
                  <a:srgbClr val="2E3A46"/>
                </a:solidFill>
              </a:rPr>
              <a:t>After your first accepted patch, the paper says to stop choosing simple tasks, documentation changes, and changes that delete few lines</a:t>
            </a:r>
            <a:endParaRPr lang="en-US" sz="2800" dirty="0"/>
          </a:p>
        </p:txBody>
      </p:sp>
      <p:pic>
        <p:nvPicPr>
          <p:cNvPr id="3" name="thr-construct" descr="/Users/amberwang/Desktop/paper-review/assets/thr-construct.png">    </p:cNvPr>
          <p:cNvPicPr>
            <a:picLocks noChangeAspect="1"/>
          </p:cNvPicPr>
          <p:nvPr/>
        </p:nvPicPr>
        <p:blipFill>
          <a:blip r:embed="rId1"/>
          <a:stretch>
            <a:fillRect/>
          </a:stretch>
        </p:blipFill>
        <p:spPr>
          <a:xfrm>
            <a:off x="10789920" y="323262"/>
            <a:ext cx="1005840" cy="907956"/>
          </a:xfrm>
          <a:prstGeom prst="rect">
            <a:avLst/>
          </a:prstGeom>
        </p:spPr>
      </p:pic>
      <p:pic>
        <p:nvPicPr>
          <p:cNvPr id="4" name="thr-internal" descr="/Users/amberwang/Desktop/paper-review/assets/thr-internal.png">    </p:cNvPr>
          <p:cNvPicPr>
            <a:picLocks noChangeAspect="1"/>
          </p:cNvPicPr>
          <p:nvPr/>
        </p:nvPicPr>
        <p:blipFill>
          <a:blip r:embed="rId2">
            <a:alphaModFix amt="35000"/>
          </a:blip>
          <a:stretch>
            <a:fillRect/>
          </a:stretch>
        </p:blipFill>
        <p:spPr>
          <a:xfrm>
            <a:off x="5843016" y="6063695"/>
            <a:ext cx="502920" cy="354169"/>
          </a:xfrm>
          <a:prstGeom prst="rect">
            <a:avLst/>
          </a:prstGeom>
        </p:spPr>
      </p:pic>
      <p:pic>
        <p:nvPicPr>
          <p:cNvPr id="5" name="thr-conclusion" descr="/Users/amberwang/Desktop/paper-review/assets/thr-conclusion.png">    </p:cNvPr>
          <p:cNvPicPr>
            <a:picLocks noChangeAspect="1"/>
          </p:cNvPicPr>
          <p:nvPr/>
        </p:nvPicPr>
        <p:blipFill>
          <a:blip r:embed="rId3">
            <a:alphaModFix amt="35000"/>
          </a:blip>
          <a:stretch>
            <a:fillRect/>
          </a:stretch>
        </p:blipFill>
        <p:spPr>
          <a:xfrm>
            <a:off x="6670721" y="5989320"/>
            <a:ext cx="493431" cy="502920"/>
          </a:xfrm>
          <a:prstGeom prst="rect">
            <a:avLst/>
          </a:prstGeom>
        </p:spPr>
      </p:pic>
      <p:sp>
        <p:nvSpPr>
          <p:cNvPr id="6" name="s3-card-R6"/>
          <p:cNvSpPr/>
          <p:nvPr/>
        </p:nvSpPr>
        <p:spPr>
          <a:xfrm>
            <a:off x="548640" y="1920240"/>
            <a:ext cx="3520440" cy="1691640"/>
          </a:xfrm>
          <a:prstGeom prst="roundRect">
            <a:avLst>
              <a:gd name="adj" fmla="val 4324"/>
            </a:avLst>
          </a:prstGeom>
          <a:solidFill>
            <a:srgbClr val="EEF3F8"/>
          </a:solidFill>
          <a:ln w="12700">
            <a:solidFill>
              <a:srgbClr val="9AA5B1"/>
            </a:solidFill>
            <a:prstDash val="solid"/>
          </a:ln>
        </p:spPr>
      </p:sp>
      <p:pic>
        <p:nvPicPr>
          <p:cNvPr id="7" name="s3-patch-R6" descr="/Users/amberwang/Desktop/paper-review/assets/icon-patch.png">    </p:cNvPr>
          <p:cNvPicPr>
            <a:picLocks noChangeAspect="1"/>
          </p:cNvPicPr>
          <p:nvPr/>
        </p:nvPicPr>
        <p:blipFill>
          <a:blip r:embed="rId4"/>
          <a:stretch>
            <a:fillRect/>
          </a:stretch>
        </p:blipFill>
        <p:spPr>
          <a:xfrm>
            <a:off x="777240" y="2112554"/>
            <a:ext cx="548640" cy="621211"/>
          </a:xfrm>
          <a:prstGeom prst="rect">
            <a:avLst/>
          </a:prstGeom>
        </p:spPr>
      </p:pic>
      <p:sp>
        <p:nvSpPr>
          <p:cNvPr id="8" name="s3-text-R6 · simple tasks"/>
          <p:cNvSpPr txBox="1"/>
          <p:nvPr/>
        </p:nvSpPr>
        <p:spPr>
          <a:xfrm>
            <a:off x="1463040" y="2194560"/>
            <a:ext cx="2468880" cy="411480"/>
          </a:xfrm>
          <a:prstGeom prst="rect">
            <a:avLst/>
          </a:prstGeom>
          <a:noFill/>
          <a:ln/>
        </p:spPr>
        <p:txBody>
          <a:bodyPr wrap="square" lIns="0" tIns="0" rIns="0" bIns="0" rtlCol="0" anchor="t"/>
          <a:lstStyle/>
          <a:p>
            <a:pPr algn="l" indent="0" marL="0">
              <a:buNone/>
            </a:pPr>
            <a:r>
              <a:rPr lang="en-US" sz="1800" b="1" dirty="0">
                <a:solidFill>
                  <a:srgbClr val="2E3A46"/>
                </a:solidFill>
              </a:rPr>
              <a:t>R6 · simple tasks</a:t>
            </a:r>
            <a:endParaRPr lang="en-US" sz="1800" dirty="0"/>
          </a:p>
        </p:txBody>
      </p:sp>
      <p:sp>
        <p:nvSpPr>
          <p:cNvPr id="9" name="s3-text-newcomers"/>
          <p:cNvSpPr txBox="1"/>
          <p:nvPr/>
        </p:nvSpPr>
        <p:spPr>
          <a:xfrm>
            <a:off x="868680" y="2834640"/>
            <a:ext cx="1828800" cy="320040"/>
          </a:xfrm>
          <a:prstGeom prst="rect">
            <a:avLst/>
          </a:prstGeom>
          <a:noFill/>
          <a:ln/>
        </p:spPr>
        <p:txBody>
          <a:bodyPr wrap="square" lIns="0" tIns="0" rIns="0" bIns="0" rtlCol="0" anchor="ctr"/>
          <a:lstStyle/>
          <a:p>
            <a:pPr algn="l" indent="0" marL="0">
              <a:buNone/>
            </a:pPr>
            <a:r>
              <a:rPr lang="en-US" sz="1500" dirty="0">
                <a:solidFill>
                  <a:srgbClr val="2E3A46"/>
                </a:solidFill>
              </a:rPr>
              <a:t>newcomers</a:t>
            </a:r>
            <a:endParaRPr lang="en-US" sz="1500" dirty="0"/>
          </a:p>
        </p:txBody>
      </p:sp>
      <p:sp>
        <p:nvSpPr>
          <p:cNvPr id="10" name="s3-text-✓"/>
          <p:cNvSpPr txBox="1"/>
          <p:nvPr/>
        </p:nvSpPr>
        <p:spPr>
          <a:xfrm>
            <a:off x="2834640" y="2834640"/>
            <a:ext cx="457200" cy="320040"/>
          </a:xfrm>
          <a:prstGeom prst="rect">
            <a:avLst/>
          </a:prstGeom>
          <a:noFill/>
          <a:ln/>
        </p:spPr>
        <p:txBody>
          <a:bodyPr wrap="square" lIns="0" tIns="0" rIns="0" bIns="0" rtlCol="0" anchor="ctr"/>
          <a:lstStyle/>
          <a:p>
            <a:pPr algn="ctr" indent="0" marL="0">
              <a:buNone/>
            </a:pPr>
            <a:r>
              <a:rPr lang="en-US" sz="2200" b="1" dirty="0">
                <a:solidFill>
                  <a:srgbClr val="4CAF7A"/>
                </a:solidFill>
              </a:rPr>
              <a:t>✓</a:t>
            </a:r>
            <a:endParaRPr lang="en-US" sz="2200" dirty="0"/>
          </a:p>
        </p:txBody>
      </p:sp>
      <p:sp>
        <p:nvSpPr>
          <p:cNvPr id="11" name="s3-text-non-newcomers"/>
          <p:cNvSpPr txBox="1"/>
          <p:nvPr/>
        </p:nvSpPr>
        <p:spPr>
          <a:xfrm>
            <a:off x="868680" y="3182112"/>
            <a:ext cx="1828800" cy="320040"/>
          </a:xfrm>
          <a:prstGeom prst="rect">
            <a:avLst/>
          </a:prstGeom>
          <a:noFill/>
          <a:ln/>
        </p:spPr>
        <p:txBody>
          <a:bodyPr wrap="square" lIns="0" tIns="0" rIns="0" bIns="0" rtlCol="0" anchor="ctr"/>
          <a:lstStyle/>
          <a:p>
            <a:pPr algn="l" indent="0" marL="0">
              <a:buNone/>
            </a:pPr>
            <a:r>
              <a:rPr lang="en-US" sz="1500" dirty="0">
                <a:solidFill>
                  <a:srgbClr val="2E3A46"/>
                </a:solidFill>
              </a:rPr>
              <a:t>non-newcomers</a:t>
            </a:r>
            <a:endParaRPr lang="en-US" sz="1500" dirty="0"/>
          </a:p>
        </p:txBody>
      </p:sp>
      <p:sp>
        <p:nvSpPr>
          <p:cNvPr id="12" name="s3-text-✗"/>
          <p:cNvSpPr txBox="1"/>
          <p:nvPr/>
        </p:nvSpPr>
        <p:spPr>
          <a:xfrm>
            <a:off x="2834640" y="3182112"/>
            <a:ext cx="457200" cy="320040"/>
          </a:xfrm>
          <a:prstGeom prst="rect">
            <a:avLst/>
          </a:prstGeom>
          <a:noFill/>
          <a:ln/>
        </p:spPr>
        <p:txBody>
          <a:bodyPr wrap="square" lIns="0" tIns="0" rIns="0" bIns="0" rtlCol="0" anchor="ctr"/>
          <a:lstStyle/>
          <a:p>
            <a:pPr algn="ctr" indent="0" marL="0">
              <a:buNone/>
            </a:pPr>
            <a:r>
              <a:rPr lang="en-US" sz="2200" b="1" dirty="0">
                <a:solidFill>
                  <a:srgbClr val="E63946"/>
                </a:solidFill>
              </a:rPr>
              <a:t>✗</a:t>
            </a:r>
            <a:endParaRPr lang="en-US" sz="2200" dirty="0"/>
          </a:p>
        </p:txBody>
      </p:sp>
      <p:sp>
        <p:nvSpPr>
          <p:cNvPr id="13" name="s3-card-R7"/>
          <p:cNvSpPr/>
          <p:nvPr/>
        </p:nvSpPr>
        <p:spPr>
          <a:xfrm>
            <a:off x="4251960" y="1920240"/>
            <a:ext cx="3520440" cy="1691640"/>
          </a:xfrm>
          <a:prstGeom prst="roundRect">
            <a:avLst>
              <a:gd name="adj" fmla="val 4324"/>
            </a:avLst>
          </a:prstGeom>
          <a:solidFill>
            <a:srgbClr val="EEF3F8"/>
          </a:solidFill>
          <a:ln w="12700">
            <a:solidFill>
              <a:srgbClr val="9AA5B1"/>
            </a:solidFill>
            <a:prstDash val="solid"/>
          </a:ln>
        </p:spPr>
      </p:sp>
      <p:pic>
        <p:nvPicPr>
          <p:cNvPr id="14" name="s3-patch-R7" descr="/Users/amberwang/Desktop/paper-review/assets/icon-patch.png">    </p:cNvPr>
          <p:cNvPicPr>
            <a:picLocks noChangeAspect="1"/>
          </p:cNvPicPr>
          <p:nvPr/>
        </p:nvPicPr>
        <p:blipFill>
          <a:blip r:embed="rId5"/>
          <a:stretch>
            <a:fillRect/>
          </a:stretch>
        </p:blipFill>
        <p:spPr>
          <a:xfrm>
            <a:off x="4480560" y="2112554"/>
            <a:ext cx="548640" cy="621211"/>
          </a:xfrm>
          <a:prstGeom prst="rect">
            <a:avLst/>
          </a:prstGeom>
        </p:spPr>
      </p:pic>
      <p:sp>
        <p:nvSpPr>
          <p:cNvPr id="15" name="s3-text-R7 · documentation"/>
          <p:cNvSpPr txBox="1"/>
          <p:nvPr/>
        </p:nvSpPr>
        <p:spPr>
          <a:xfrm>
            <a:off x="5166360" y="2194560"/>
            <a:ext cx="2468880" cy="411480"/>
          </a:xfrm>
          <a:prstGeom prst="rect">
            <a:avLst/>
          </a:prstGeom>
          <a:noFill/>
          <a:ln/>
        </p:spPr>
        <p:txBody>
          <a:bodyPr wrap="square" lIns="0" tIns="0" rIns="0" bIns="0" rtlCol="0" anchor="t"/>
          <a:lstStyle/>
          <a:p>
            <a:pPr algn="l" indent="0" marL="0">
              <a:buNone/>
            </a:pPr>
            <a:r>
              <a:rPr lang="en-US" sz="1800" b="1" dirty="0">
                <a:solidFill>
                  <a:srgbClr val="2E3A46"/>
                </a:solidFill>
              </a:rPr>
              <a:t>R7 · documentation</a:t>
            </a:r>
            <a:endParaRPr lang="en-US" sz="1800" dirty="0"/>
          </a:p>
        </p:txBody>
      </p:sp>
      <p:sp>
        <p:nvSpPr>
          <p:cNvPr id="16" name="s3-text-newcomers"/>
          <p:cNvSpPr txBox="1"/>
          <p:nvPr/>
        </p:nvSpPr>
        <p:spPr>
          <a:xfrm>
            <a:off x="4572000" y="2834640"/>
            <a:ext cx="1828800" cy="320040"/>
          </a:xfrm>
          <a:prstGeom prst="rect">
            <a:avLst/>
          </a:prstGeom>
          <a:noFill/>
          <a:ln/>
        </p:spPr>
        <p:txBody>
          <a:bodyPr wrap="square" lIns="0" tIns="0" rIns="0" bIns="0" rtlCol="0" anchor="ctr"/>
          <a:lstStyle/>
          <a:p>
            <a:pPr algn="l" indent="0" marL="0">
              <a:buNone/>
            </a:pPr>
            <a:r>
              <a:rPr lang="en-US" sz="1500" dirty="0">
                <a:solidFill>
                  <a:srgbClr val="2E3A46"/>
                </a:solidFill>
              </a:rPr>
              <a:t>newcomers</a:t>
            </a:r>
            <a:endParaRPr lang="en-US" sz="1500" dirty="0"/>
          </a:p>
        </p:txBody>
      </p:sp>
      <p:sp>
        <p:nvSpPr>
          <p:cNvPr id="17" name="s3-text-✓"/>
          <p:cNvSpPr txBox="1"/>
          <p:nvPr/>
        </p:nvSpPr>
        <p:spPr>
          <a:xfrm>
            <a:off x="6537960" y="2834640"/>
            <a:ext cx="457200" cy="320040"/>
          </a:xfrm>
          <a:prstGeom prst="rect">
            <a:avLst/>
          </a:prstGeom>
          <a:noFill/>
          <a:ln/>
        </p:spPr>
        <p:txBody>
          <a:bodyPr wrap="square" lIns="0" tIns="0" rIns="0" bIns="0" rtlCol="0" anchor="ctr"/>
          <a:lstStyle/>
          <a:p>
            <a:pPr algn="ctr" indent="0" marL="0">
              <a:buNone/>
            </a:pPr>
            <a:r>
              <a:rPr lang="en-US" sz="2200" b="1" dirty="0">
                <a:solidFill>
                  <a:srgbClr val="4CAF7A"/>
                </a:solidFill>
              </a:rPr>
              <a:t>✓</a:t>
            </a:r>
            <a:endParaRPr lang="en-US" sz="2200" dirty="0"/>
          </a:p>
        </p:txBody>
      </p:sp>
      <p:sp>
        <p:nvSpPr>
          <p:cNvPr id="18" name="s3-text-non-newcomers"/>
          <p:cNvSpPr txBox="1"/>
          <p:nvPr/>
        </p:nvSpPr>
        <p:spPr>
          <a:xfrm>
            <a:off x="4572000" y="3182112"/>
            <a:ext cx="1828800" cy="320040"/>
          </a:xfrm>
          <a:prstGeom prst="rect">
            <a:avLst/>
          </a:prstGeom>
          <a:noFill/>
          <a:ln/>
        </p:spPr>
        <p:txBody>
          <a:bodyPr wrap="square" lIns="0" tIns="0" rIns="0" bIns="0" rtlCol="0" anchor="ctr"/>
          <a:lstStyle/>
          <a:p>
            <a:pPr algn="l" indent="0" marL="0">
              <a:buNone/>
            </a:pPr>
            <a:r>
              <a:rPr lang="en-US" sz="1500" dirty="0">
                <a:solidFill>
                  <a:srgbClr val="2E3A46"/>
                </a:solidFill>
              </a:rPr>
              <a:t>non-newcomers</a:t>
            </a:r>
            <a:endParaRPr lang="en-US" sz="1500" dirty="0"/>
          </a:p>
        </p:txBody>
      </p:sp>
      <p:sp>
        <p:nvSpPr>
          <p:cNvPr id="19" name="s3-text-✗"/>
          <p:cNvSpPr txBox="1"/>
          <p:nvPr/>
        </p:nvSpPr>
        <p:spPr>
          <a:xfrm>
            <a:off x="6537960" y="3182112"/>
            <a:ext cx="457200" cy="320040"/>
          </a:xfrm>
          <a:prstGeom prst="rect">
            <a:avLst/>
          </a:prstGeom>
          <a:noFill/>
          <a:ln/>
        </p:spPr>
        <p:txBody>
          <a:bodyPr wrap="square" lIns="0" tIns="0" rIns="0" bIns="0" rtlCol="0" anchor="ctr"/>
          <a:lstStyle/>
          <a:p>
            <a:pPr algn="ctr" indent="0" marL="0">
              <a:buNone/>
            </a:pPr>
            <a:r>
              <a:rPr lang="en-US" sz="2200" b="1" dirty="0">
                <a:solidFill>
                  <a:srgbClr val="E63946"/>
                </a:solidFill>
              </a:rPr>
              <a:t>✗</a:t>
            </a:r>
            <a:endParaRPr lang="en-US" sz="2200" dirty="0"/>
          </a:p>
        </p:txBody>
      </p:sp>
      <p:sp>
        <p:nvSpPr>
          <p:cNvPr id="20" name="s3-card-R9"/>
          <p:cNvSpPr/>
          <p:nvPr/>
        </p:nvSpPr>
        <p:spPr>
          <a:xfrm>
            <a:off x="7955280" y="1920240"/>
            <a:ext cx="3520440" cy="1691640"/>
          </a:xfrm>
          <a:prstGeom prst="roundRect">
            <a:avLst>
              <a:gd name="adj" fmla="val 4324"/>
            </a:avLst>
          </a:prstGeom>
          <a:solidFill>
            <a:srgbClr val="EEF3F8"/>
          </a:solidFill>
          <a:ln w="12700">
            <a:solidFill>
              <a:srgbClr val="9AA5B1"/>
            </a:solidFill>
            <a:prstDash val="solid"/>
          </a:ln>
        </p:spPr>
      </p:sp>
      <p:pic>
        <p:nvPicPr>
          <p:cNvPr id="21" name="s3-patch-R9" descr="/Users/amberwang/Desktop/paper-review/assets/icon-patch.png">    </p:cNvPr>
          <p:cNvPicPr>
            <a:picLocks noChangeAspect="1"/>
          </p:cNvPicPr>
          <p:nvPr/>
        </p:nvPicPr>
        <p:blipFill>
          <a:blip r:embed="rId6"/>
          <a:stretch>
            <a:fillRect/>
          </a:stretch>
        </p:blipFill>
        <p:spPr>
          <a:xfrm>
            <a:off x="8183880" y="2112554"/>
            <a:ext cx="548640" cy="621211"/>
          </a:xfrm>
          <a:prstGeom prst="rect">
            <a:avLst/>
          </a:prstGeom>
        </p:spPr>
      </p:pic>
      <p:sp>
        <p:nvSpPr>
          <p:cNvPr id="22" name="s3-text-R9 · fewer deletio"/>
          <p:cNvSpPr txBox="1"/>
          <p:nvPr/>
        </p:nvSpPr>
        <p:spPr>
          <a:xfrm>
            <a:off x="8869680" y="2194560"/>
            <a:ext cx="2468880" cy="411480"/>
          </a:xfrm>
          <a:prstGeom prst="rect">
            <a:avLst/>
          </a:prstGeom>
          <a:noFill/>
          <a:ln/>
        </p:spPr>
        <p:txBody>
          <a:bodyPr wrap="square" lIns="0" tIns="0" rIns="0" bIns="0" rtlCol="0" anchor="t"/>
          <a:lstStyle/>
          <a:p>
            <a:pPr algn="l" indent="0" marL="0">
              <a:buNone/>
            </a:pPr>
            <a:r>
              <a:rPr lang="en-US" sz="1800" b="1" dirty="0">
                <a:solidFill>
                  <a:srgbClr val="2E3A46"/>
                </a:solidFill>
              </a:rPr>
              <a:t>R9 · fewer deletions</a:t>
            </a:r>
            <a:endParaRPr lang="en-US" sz="1800" dirty="0"/>
          </a:p>
        </p:txBody>
      </p:sp>
      <p:sp>
        <p:nvSpPr>
          <p:cNvPr id="23" name="s3-text-newcomers"/>
          <p:cNvSpPr txBox="1"/>
          <p:nvPr/>
        </p:nvSpPr>
        <p:spPr>
          <a:xfrm>
            <a:off x="8275320" y="2834640"/>
            <a:ext cx="1828800" cy="320040"/>
          </a:xfrm>
          <a:prstGeom prst="rect">
            <a:avLst/>
          </a:prstGeom>
          <a:noFill/>
          <a:ln/>
        </p:spPr>
        <p:txBody>
          <a:bodyPr wrap="square" lIns="0" tIns="0" rIns="0" bIns="0" rtlCol="0" anchor="ctr"/>
          <a:lstStyle/>
          <a:p>
            <a:pPr algn="l" indent="0" marL="0">
              <a:buNone/>
            </a:pPr>
            <a:r>
              <a:rPr lang="en-US" sz="1500" dirty="0">
                <a:solidFill>
                  <a:srgbClr val="2E3A46"/>
                </a:solidFill>
              </a:rPr>
              <a:t>newcomers</a:t>
            </a:r>
            <a:endParaRPr lang="en-US" sz="1500" dirty="0"/>
          </a:p>
        </p:txBody>
      </p:sp>
      <p:sp>
        <p:nvSpPr>
          <p:cNvPr id="24" name="s3-text-✓"/>
          <p:cNvSpPr txBox="1"/>
          <p:nvPr/>
        </p:nvSpPr>
        <p:spPr>
          <a:xfrm>
            <a:off x="10241280" y="2834640"/>
            <a:ext cx="457200" cy="320040"/>
          </a:xfrm>
          <a:prstGeom prst="rect">
            <a:avLst/>
          </a:prstGeom>
          <a:noFill/>
          <a:ln/>
        </p:spPr>
        <p:txBody>
          <a:bodyPr wrap="square" lIns="0" tIns="0" rIns="0" bIns="0" rtlCol="0" anchor="ctr"/>
          <a:lstStyle/>
          <a:p>
            <a:pPr algn="ctr" indent="0" marL="0">
              <a:buNone/>
            </a:pPr>
            <a:r>
              <a:rPr lang="en-US" sz="2200" b="1" dirty="0">
                <a:solidFill>
                  <a:srgbClr val="4CAF7A"/>
                </a:solidFill>
              </a:rPr>
              <a:t>✓</a:t>
            </a:r>
            <a:endParaRPr lang="en-US" sz="2200" dirty="0"/>
          </a:p>
        </p:txBody>
      </p:sp>
      <p:sp>
        <p:nvSpPr>
          <p:cNvPr id="25" name="s3-text-non-newcomers"/>
          <p:cNvSpPr txBox="1"/>
          <p:nvPr/>
        </p:nvSpPr>
        <p:spPr>
          <a:xfrm>
            <a:off x="8275320" y="3182112"/>
            <a:ext cx="1828800" cy="320040"/>
          </a:xfrm>
          <a:prstGeom prst="rect">
            <a:avLst/>
          </a:prstGeom>
          <a:noFill/>
          <a:ln/>
        </p:spPr>
        <p:txBody>
          <a:bodyPr wrap="square" lIns="0" tIns="0" rIns="0" bIns="0" rtlCol="0" anchor="ctr"/>
          <a:lstStyle/>
          <a:p>
            <a:pPr algn="l" indent="0" marL="0">
              <a:buNone/>
            </a:pPr>
            <a:r>
              <a:rPr lang="en-US" sz="1500" dirty="0">
                <a:solidFill>
                  <a:srgbClr val="2E3A46"/>
                </a:solidFill>
              </a:rPr>
              <a:t>non-newcomers</a:t>
            </a:r>
            <a:endParaRPr lang="en-US" sz="1500" dirty="0"/>
          </a:p>
        </p:txBody>
      </p:sp>
      <p:sp>
        <p:nvSpPr>
          <p:cNvPr id="26" name="s3-text-✗"/>
          <p:cNvSpPr txBox="1"/>
          <p:nvPr/>
        </p:nvSpPr>
        <p:spPr>
          <a:xfrm>
            <a:off x="10241280" y="3182112"/>
            <a:ext cx="457200" cy="320040"/>
          </a:xfrm>
          <a:prstGeom prst="rect">
            <a:avLst/>
          </a:prstGeom>
          <a:noFill/>
          <a:ln/>
        </p:spPr>
        <p:txBody>
          <a:bodyPr wrap="square" lIns="0" tIns="0" rIns="0" bIns="0" rtlCol="0" anchor="ctr"/>
          <a:lstStyle/>
          <a:p>
            <a:pPr algn="ctr" indent="0" marL="0">
              <a:buNone/>
            </a:pPr>
            <a:r>
              <a:rPr lang="en-US" sz="2200" b="1" dirty="0">
                <a:solidFill>
                  <a:srgbClr val="E63946"/>
                </a:solidFill>
              </a:rPr>
              <a:t>✗</a:t>
            </a:r>
            <a:endParaRPr lang="en-US" sz="2200" dirty="0"/>
          </a:p>
        </p:txBody>
      </p:sp>
      <p:sp>
        <p:nvSpPr>
          <p:cNvPr id="27" name="s3-quote"/>
          <p:cNvSpPr/>
          <p:nvPr/>
        </p:nvSpPr>
        <p:spPr>
          <a:xfrm>
            <a:off x="548640" y="4023360"/>
            <a:ext cx="11064240" cy="960120"/>
          </a:xfrm>
          <a:prstGeom prst="wedgeRoundRectCallout">
            <a:avLst/>
          </a:prstGeom>
          <a:solidFill>
            <a:srgbClr val="CFE3F0"/>
          </a:solidFill>
          <a:ln w="12700">
            <a:solidFill>
              <a:srgbClr val="4A6FA5"/>
            </a:solidFill>
          </a:ln>
        </p:spPr>
        <p:txBody>
          <a:bodyPr wrap="square" lIns="2286" tIns="2286" rIns="2286" bIns="2286" rtlCol="0" anchor="ctr"/>
          <a:lstStyle/>
          <a:p>
            <a:pPr algn="l" indent="0" marL="0">
              <a:buNone/>
            </a:pPr>
            <a:r>
              <a:rPr lang="en-US" sz="1700" i="1" dirty="0">
                <a:solidFill>
                  <a:srgbClr val="2E3A46"/>
                </a:solidFill>
              </a:rPr>
              <a:t>“Our results also found three newcomer-specific recommendations, which OSS joiners should abandon at non-newcomer status to increase their odds of becoming long-term contributors.”</a:t>
            </a:r>
            <a:endParaRPr lang="en-US" sz="1700" dirty="0"/>
          </a:p>
        </p:txBody>
      </p:sp>
      <p:sp>
        <p:nvSpPr>
          <p:cNvPr id="28" name="s3-text-Abstract"/>
          <p:cNvSpPr txBox="1"/>
          <p:nvPr/>
        </p:nvSpPr>
        <p:spPr>
          <a:xfrm>
            <a:off x="9784080" y="5120640"/>
            <a:ext cx="1828800" cy="274320"/>
          </a:xfrm>
          <a:prstGeom prst="rect">
            <a:avLst/>
          </a:prstGeom>
          <a:noFill/>
          <a:ln/>
        </p:spPr>
        <p:txBody>
          <a:bodyPr wrap="square" lIns="0" tIns="0" rIns="0" bIns="0" rtlCol="0" anchor="t"/>
          <a:lstStyle/>
          <a:p>
            <a:pPr algn="r" indent="0" marL="0">
              <a:buNone/>
            </a:pPr>
            <a:r>
              <a:rPr lang="en-US" sz="1200" i="1" dirty="0">
                <a:solidFill>
                  <a:srgbClr val="9AA5B1"/>
                </a:solidFill>
              </a:rPr>
              <a:t>Abstract</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lIns="0" tIns="0" rIns="0" bIns="0" rtlCol="0" anchor="t"/>
          <a:lstStyle/>
          <a:p>
            <a:pPr algn="l" indent="0" marL="0">
              <a:buNone/>
            </a:pPr>
            <a:r>
              <a:rPr lang="en-US" sz="2800" b="1" dirty="0">
                <a:solidFill>
                  <a:srgbClr val="2E3A46"/>
                </a:solidFill>
              </a:rPr>
              <a:t>“Abandon”, “increase their odds”, and “long-term contributors” have no evidence behind them, because the study only measures whether a single patch was accepted</a:t>
            </a:r>
            <a:endParaRPr lang="en-US" sz="2800" dirty="0"/>
          </a:p>
        </p:txBody>
      </p:sp>
      <p:pic>
        <p:nvPicPr>
          <p:cNvPr id="3" name="thr-construct" descr="/Users/amberwang/Desktop/paper-review/assets/thr-construct.png">    </p:cNvPr>
          <p:cNvPicPr>
            <a:picLocks noChangeAspect="1"/>
          </p:cNvPicPr>
          <p:nvPr/>
        </p:nvPicPr>
        <p:blipFill>
          <a:blip r:embed="rId1"/>
          <a:stretch>
            <a:fillRect/>
          </a:stretch>
        </p:blipFill>
        <p:spPr>
          <a:xfrm>
            <a:off x="10789920" y="323262"/>
            <a:ext cx="1005840" cy="907956"/>
          </a:xfrm>
          <a:prstGeom prst="rect">
            <a:avLst/>
          </a:prstGeom>
        </p:spPr>
      </p:pic>
      <p:pic>
        <p:nvPicPr>
          <p:cNvPr id="4" name="thr-internal" descr="/Users/amberwang/Desktop/paper-review/assets/thr-internal.png">    </p:cNvPr>
          <p:cNvPicPr>
            <a:picLocks noChangeAspect="1"/>
          </p:cNvPicPr>
          <p:nvPr/>
        </p:nvPicPr>
        <p:blipFill>
          <a:blip r:embed="rId2">
            <a:alphaModFix amt="35000"/>
          </a:blip>
          <a:stretch>
            <a:fillRect/>
          </a:stretch>
        </p:blipFill>
        <p:spPr>
          <a:xfrm>
            <a:off x="5843016" y="6063695"/>
            <a:ext cx="502920" cy="354169"/>
          </a:xfrm>
          <a:prstGeom prst="rect">
            <a:avLst/>
          </a:prstGeom>
        </p:spPr>
      </p:pic>
      <p:pic>
        <p:nvPicPr>
          <p:cNvPr id="5" name="thr-conclusion" descr="/Users/amberwang/Desktop/paper-review/assets/thr-conclusion.png">    </p:cNvPr>
          <p:cNvPicPr>
            <a:picLocks noChangeAspect="1"/>
          </p:cNvPicPr>
          <p:nvPr/>
        </p:nvPicPr>
        <p:blipFill>
          <a:blip r:embed="rId3">
            <a:alphaModFix amt="35000"/>
          </a:blip>
          <a:stretch>
            <a:fillRect/>
          </a:stretch>
        </p:blipFill>
        <p:spPr>
          <a:xfrm>
            <a:off x="6670721" y="5989320"/>
            <a:ext cx="493431" cy="502920"/>
          </a:xfrm>
          <a:prstGeom prst="rect">
            <a:avLst/>
          </a:prstGeom>
        </p:spPr>
      </p:pic>
      <p:sp>
        <p:nvSpPr>
          <p:cNvPr id="6" name="s4-quote-marked"/>
          <p:cNvSpPr/>
          <p:nvPr/>
        </p:nvSpPr>
        <p:spPr>
          <a:xfrm>
            <a:off x="548640" y="1874520"/>
            <a:ext cx="11064240" cy="1325880"/>
          </a:xfrm>
          <a:prstGeom prst="roundRect">
            <a:avLst>
              <a:gd name="adj" fmla="val 5517"/>
            </a:avLst>
          </a:prstGeom>
          <a:solidFill>
            <a:srgbClr val="FFFFFF"/>
          </a:solidFill>
          <a:ln w="15875">
            <a:solidFill>
              <a:srgbClr val="4A6FA5"/>
            </a:solidFill>
          </a:ln>
        </p:spPr>
        <p:txBody>
          <a:bodyPr wrap="square" lIns="3175" tIns="3175" rIns="3175" bIns="3175" rtlCol="0" anchor="ctr"/>
          <a:lstStyle/>
          <a:p>
            <a:pPr algn="l" indent="0" marL="0">
              <a:buNone/>
            </a:pPr>
            <a:r>
              <a:rPr lang="en-US" sz="2000" dirty="0">
                <a:solidFill>
                  <a:srgbClr val="2E3A46"/>
                </a:solidFill>
              </a:rPr>
              <a:t>“Our results also found three newcomer-specific recommendations, which OSS joiners should </a:t>
            </a:r>
            <a:pPr algn="l" indent="0" marL="0">
              <a:buNone/>
            </a:pPr>
            <a:r>
              <a:rPr lang="en-US" sz="2000" b="1" dirty="0">
                <a:solidFill>
                  <a:srgbClr val="E63946"/>
                </a:solidFill>
                <a:highlight>
                  <a:srgbClr val="FBE3E5"/>
                </a:highlight>
              </a:rPr>
              <a:t>abandon</a:t>
            </a:r>
            <a:pPr algn="l" indent="0" marL="0">
              <a:buNone/>
            </a:pPr>
            <a:r>
              <a:rPr lang="en-US" sz="2000" dirty="0">
                <a:solidFill>
                  <a:srgbClr val="2E3A46"/>
                </a:solidFill>
              </a:rPr>
              <a:t> </a:t>
            </a:r>
            <a:pPr algn="l" indent="0" marL="0">
              <a:buNone/>
            </a:pPr>
            <a:r>
              <a:rPr lang="en-US" sz="2000" b="1" dirty="0">
                <a:solidFill>
                  <a:srgbClr val="4A6FA5"/>
                </a:solidFill>
                <a:highlight>
                  <a:srgbClr val="CFE3F0"/>
                </a:highlight>
              </a:rPr>
              <a:t>at non-newcomer status</a:t>
            </a:r>
            <a:pPr algn="l" indent="0" marL="0">
              <a:buNone/>
            </a:pPr>
            <a:r>
              <a:rPr lang="en-US" sz="2000" dirty="0">
                <a:solidFill>
                  <a:srgbClr val="2E3A46"/>
                </a:solidFill>
              </a:rPr>
              <a:t> </a:t>
            </a:r>
            <a:pPr algn="l" indent="0" marL="0">
              <a:buNone/>
            </a:pPr>
            <a:r>
              <a:rPr lang="en-US" sz="2000" b="1" dirty="0">
                <a:solidFill>
                  <a:srgbClr val="E63946"/>
                </a:solidFill>
                <a:highlight>
                  <a:srgbClr val="FBE3E5"/>
                </a:highlight>
              </a:rPr>
              <a:t>to increase their odds</a:t>
            </a:r>
            <a:pPr algn="l" indent="0" marL="0">
              <a:buNone/>
            </a:pPr>
            <a:r>
              <a:rPr lang="en-US" sz="2000" dirty="0">
                <a:solidFill>
                  <a:srgbClr val="2E3A46"/>
                </a:solidFill>
              </a:rPr>
              <a:t> </a:t>
            </a:r>
            <a:pPr algn="l" indent="0" marL="0">
              <a:buNone/>
            </a:pPr>
            <a:r>
              <a:rPr lang="en-US" sz="2000" b="1" dirty="0">
                <a:solidFill>
                  <a:srgbClr val="E63946"/>
                </a:solidFill>
                <a:highlight>
                  <a:srgbClr val="FBE3E5"/>
                </a:highlight>
              </a:rPr>
              <a:t>of becoming long-term contributors</a:t>
            </a:r>
            <a:pPr algn="l" indent="0" marL="0">
              <a:buNone/>
            </a:pPr>
            <a:r>
              <a:rPr lang="en-US" sz="2000" dirty="0">
                <a:solidFill>
                  <a:srgbClr val="2E3A46"/>
                </a:solidFill>
              </a:rPr>
              <a:t>.”</a:t>
            </a:r>
            <a:endParaRPr lang="en-US" sz="2000" dirty="0"/>
          </a:p>
        </p:txBody>
      </p:sp>
      <p:sp>
        <p:nvSpPr>
          <p:cNvPr id="7" name="s4-word-card-0"/>
          <p:cNvSpPr/>
          <p:nvPr/>
        </p:nvSpPr>
        <p:spPr>
          <a:xfrm>
            <a:off x="548640" y="3520440"/>
            <a:ext cx="2615184" cy="2011680"/>
          </a:xfrm>
          <a:prstGeom prst="roundRect">
            <a:avLst>
              <a:gd name="adj" fmla="val 3636"/>
            </a:avLst>
          </a:prstGeom>
          <a:solidFill>
            <a:srgbClr val="FBE3E5"/>
          </a:solidFill>
          <a:ln/>
        </p:spPr>
      </p:sp>
      <p:sp>
        <p:nvSpPr>
          <p:cNvPr id="8" name="s4-text-“abandon”"/>
          <p:cNvSpPr txBox="1"/>
          <p:nvPr/>
        </p:nvSpPr>
        <p:spPr>
          <a:xfrm>
            <a:off x="731520" y="3657600"/>
            <a:ext cx="2249424" cy="640080"/>
          </a:xfrm>
          <a:prstGeom prst="rect">
            <a:avLst/>
          </a:prstGeom>
          <a:noFill/>
          <a:ln/>
        </p:spPr>
        <p:txBody>
          <a:bodyPr wrap="square" lIns="0" tIns="0" rIns="0" bIns="0" rtlCol="0" anchor="t"/>
          <a:lstStyle/>
          <a:p>
            <a:pPr algn="l" indent="0" marL="0">
              <a:buNone/>
            </a:pPr>
            <a:r>
              <a:rPr lang="en-US" sz="1600" b="1" dirty="0">
                <a:solidFill>
                  <a:srgbClr val="E63946"/>
                </a:solidFill>
              </a:rPr>
              <a:t>“abandon”</a:t>
            </a:r>
            <a:endParaRPr lang="en-US" sz="1600" dirty="0"/>
          </a:p>
        </p:txBody>
      </p:sp>
      <p:sp>
        <p:nvSpPr>
          <p:cNvPr id="9" name="s4-text-An instruction, bu"/>
          <p:cNvSpPr txBox="1"/>
          <p:nvPr/>
        </p:nvSpPr>
        <p:spPr>
          <a:xfrm>
            <a:off x="731520" y="4343400"/>
            <a:ext cx="2249424" cy="1097280"/>
          </a:xfrm>
          <a:prstGeom prst="rect">
            <a:avLst/>
          </a:prstGeom>
          <a:noFill/>
          <a:ln/>
        </p:spPr>
        <p:txBody>
          <a:bodyPr wrap="square" lIns="0" tIns="0" rIns="0" bIns="0" rtlCol="0" anchor="t"/>
          <a:lstStyle/>
          <a:p>
            <a:pPr algn="l" indent="0" marL="0">
              <a:buNone/>
            </a:pPr>
            <a:r>
              <a:rPr lang="en-US" sz="1500" dirty="0">
                <a:solidFill>
                  <a:srgbClr val="2E3A46"/>
                </a:solidFill>
              </a:rPr>
              <a:t>An instruction, but the study is correlational.</a:t>
            </a:r>
            <a:endParaRPr lang="en-US" sz="1500" dirty="0"/>
          </a:p>
        </p:txBody>
      </p:sp>
      <p:sp>
        <p:nvSpPr>
          <p:cNvPr id="10" name="s4-word-card-1"/>
          <p:cNvSpPr/>
          <p:nvPr/>
        </p:nvSpPr>
        <p:spPr>
          <a:xfrm>
            <a:off x="3364992" y="3520440"/>
            <a:ext cx="2615184" cy="2011680"/>
          </a:xfrm>
          <a:prstGeom prst="roundRect">
            <a:avLst>
              <a:gd name="adj" fmla="val 3636"/>
            </a:avLst>
          </a:prstGeom>
          <a:solidFill>
            <a:srgbClr val="CFE3F0"/>
          </a:solidFill>
          <a:ln/>
        </p:spPr>
      </p:sp>
      <p:sp>
        <p:nvSpPr>
          <p:cNvPr id="11" name="s4-text-“at non-newcomer s"/>
          <p:cNvSpPr txBox="1"/>
          <p:nvPr/>
        </p:nvSpPr>
        <p:spPr>
          <a:xfrm>
            <a:off x="3547872" y="3657600"/>
            <a:ext cx="2249424" cy="640080"/>
          </a:xfrm>
          <a:prstGeom prst="rect">
            <a:avLst/>
          </a:prstGeom>
          <a:noFill/>
          <a:ln/>
        </p:spPr>
        <p:txBody>
          <a:bodyPr wrap="square" lIns="0" tIns="0" rIns="0" bIns="0" rtlCol="0" anchor="t"/>
          <a:lstStyle/>
          <a:p>
            <a:pPr algn="l" indent="0" marL="0">
              <a:buNone/>
            </a:pPr>
            <a:r>
              <a:rPr lang="en-US" sz="1600" b="1" dirty="0">
                <a:solidFill>
                  <a:srgbClr val="4A6FA5"/>
                </a:solidFill>
              </a:rPr>
              <a:t>“at non-newcomer status”</a:t>
            </a:r>
            <a:endParaRPr lang="en-US" sz="1600" dirty="0"/>
          </a:p>
        </p:txBody>
      </p:sp>
      <p:sp>
        <p:nvSpPr>
          <p:cNvPr id="12" name="s4-text-One pooled group, "/>
          <p:cNvSpPr txBox="1"/>
          <p:nvPr/>
        </p:nvSpPr>
        <p:spPr>
          <a:xfrm>
            <a:off x="3547872" y="4343400"/>
            <a:ext cx="2249424" cy="1097280"/>
          </a:xfrm>
          <a:prstGeom prst="rect">
            <a:avLst/>
          </a:prstGeom>
          <a:noFill/>
          <a:ln/>
        </p:spPr>
        <p:txBody>
          <a:bodyPr wrap="square" lIns="0" tIns="0" rIns="0" bIns="0" rtlCol="0" anchor="t"/>
          <a:lstStyle/>
          <a:p>
            <a:pPr algn="l" indent="0" marL="0">
              <a:buNone/>
            </a:pPr>
            <a:r>
              <a:rPr lang="en-US" sz="1500" dirty="0">
                <a:solidFill>
                  <a:srgbClr val="2E3A46"/>
                </a:solidFill>
              </a:rPr>
              <a:t>One pooled group, from a second patch to a ten-year maintainer.</a:t>
            </a:r>
            <a:endParaRPr lang="en-US" sz="1500" dirty="0"/>
          </a:p>
        </p:txBody>
      </p:sp>
      <p:sp>
        <p:nvSpPr>
          <p:cNvPr id="13" name="s4-word-card-2"/>
          <p:cNvSpPr/>
          <p:nvPr/>
        </p:nvSpPr>
        <p:spPr>
          <a:xfrm>
            <a:off x="6181344" y="3520440"/>
            <a:ext cx="2615184" cy="2011680"/>
          </a:xfrm>
          <a:prstGeom prst="roundRect">
            <a:avLst>
              <a:gd name="adj" fmla="val 3636"/>
            </a:avLst>
          </a:prstGeom>
          <a:solidFill>
            <a:srgbClr val="FBE3E5"/>
          </a:solidFill>
          <a:ln/>
        </p:spPr>
      </p:sp>
      <p:sp>
        <p:nvSpPr>
          <p:cNvPr id="14" name="s4-text-“to increase their"/>
          <p:cNvSpPr txBox="1"/>
          <p:nvPr/>
        </p:nvSpPr>
        <p:spPr>
          <a:xfrm>
            <a:off x="6364224" y="3657600"/>
            <a:ext cx="2249424" cy="640080"/>
          </a:xfrm>
          <a:prstGeom prst="rect">
            <a:avLst/>
          </a:prstGeom>
          <a:noFill/>
          <a:ln/>
        </p:spPr>
        <p:txBody>
          <a:bodyPr wrap="square" lIns="0" tIns="0" rIns="0" bIns="0" rtlCol="0" anchor="t"/>
          <a:lstStyle/>
          <a:p>
            <a:pPr algn="l" indent="0" marL="0">
              <a:buNone/>
            </a:pPr>
            <a:r>
              <a:rPr lang="en-US" sz="1600" b="1" dirty="0">
                <a:solidFill>
                  <a:srgbClr val="E63946"/>
                </a:solidFill>
              </a:rPr>
              <a:t>“to increase their odds”</a:t>
            </a:r>
            <a:endParaRPr lang="en-US" sz="1600" dirty="0"/>
          </a:p>
        </p:txBody>
      </p:sp>
      <p:sp>
        <p:nvSpPr>
          <p:cNvPr id="15" name="s4-text-Only the odds that"/>
          <p:cNvSpPr txBox="1"/>
          <p:nvPr/>
        </p:nvSpPr>
        <p:spPr>
          <a:xfrm>
            <a:off x="6364224" y="4343400"/>
            <a:ext cx="2249424" cy="1097280"/>
          </a:xfrm>
          <a:prstGeom prst="rect">
            <a:avLst/>
          </a:prstGeom>
          <a:noFill/>
          <a:ln/>
        </p:spPr>
        <p:txBody>
          <a:bodyPr wrap="square" lIns="0" tIns="0" rIns="0" bIns="0" rtlCol="0" anchor="t"/>
          <a:lstStyle/>
          <a:p>
            <a:pPr algn="l" indent="0" marL="0">
              <a:buNone/>
            </a:pPr>
            <a:r>
              <a:rPr lang="en-US" sz="1500" dirty="0">
                <a:solidFill>
                  <a:srgbClr val="2E3A46"/>
                </a:solidFill>
              </a:rPr>
              <a:t>Only the odds that one patch is accepted.</a:t>
            </a:r>
            <a:endParaRPr lang="en-US" sz="1500" dirty="0"/>
          </a:p>
        </p:txBody>
      </p:sp>
      <p:sp>
        <p:nvSpPr>
          <p:cNvPr id="16" name="s4-word-card-3"/>
          <p:cNvSpPr/>
          <p:nvPr/>
        </p:nvSpPr>
        <p:spPr>
          <a:xfrm>
            <a:off x="8997696" y="3520440"/>
            <a:ext cx="2615184" cy="2011680"/>
          </a:xfrm>
          <a:prstGeom prst="roundRect">
            <a:avLst>
              <a:gd name="adj" fmla="val 3636"/>
            </a:avLst>
          </a:prstGeom>
          <a:solidFill>
            <a:srgbClr val="FBE3E5"/>
          </a:solidFill>
          <a:ln/>
        </p:spPr>
      </p:sp>
      <p:sp>
        <p:nvSpPr>
          <p:cNvPr id="17" name="s4-text-“of becoming long-"/>
          <p:cNvSpPr txBox="1"/>
          <p:nvPr/>
        </p:nvSpPr>
        <p:spPr>
          <a:xfrm>
            <a:off x="9180576" y="3657600"/>
            <a:ext cx="2249424" cy="640080"/>
          </a:xfrm>
          <a:prstGeom prst="rect">
            <a:avLst/>
          </a:prstGeom>
          <a:noFill/>
          <a:ln/>
        </p:spPr>
        <p:txBody>
          <a:bodyPr wrap="square" lIns="0" tIns="0" rIns="0" bIns="0" rtlCol="0" anchor="t"/>
          <a:lstStyle/>
          <a:p>
            <a:pPr algn="l" indent="0" marL="0">
              <a:buNone/>
            </a:pPr>
            <a:r>
              <a:rPr lang="en-US" sz="1600" b="1" dirty="0">
                <a:solidFill>
                  <a:srgbClr val="E63946"/>
                </a:solidFill>
              </a:rPr>
              <a:t>“of becoming long-term contributors”</a:t>
            </a:r>
            <a:endParaRPr lang="en-US" sz="1600" dirty="0"/>
          </a:p>
        </p:txBody>
      </p:sp>
      <p:sp>
        <p:nvSpPr>
          <p:cNvPr id="18" name="s4-text-Never measured."/>
          <p:cNvSpPr txBox="1"/>
          <p:nvPr/>
        </p:nvSpPr>
        <p:spPr>
          <a:xfrm>
            <a:off x="9180576" y="4343400"/>
            <a:ext cx="2249424" cy="1097280"/>
          </a:xfrm>
          <a:prstGeom prst="rect">
            <a:avLst/>
          </a:prstGeom>
          <a:noFill/>
          <a:ln/>
        </p:spPr>
        <p:txBody>
          <a:bodyPr wrap="square" lIns="0" tIns="0" rIns="0" bIns="0" rtlCol="0" anchor="t"/>
          <a:lstStyle/>
          <a:p>
            <a:pPr algn="l" indent="0" marL="0">
              <a:buNone/>
            </a:pPr>
            <a:r>
              <a:rPr lang="en-US" sz="1500" dirty="0">
                <a:solidFill>
                  <a:srgbClr val="2E3A46"/>
                </a:solidFill>
              </a:rPr>
              <a:t>Never measured.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lIns="0" tIns="0" rIns="0" bIns="0" rtlCol="0" anchor="t"/>
          <a:lstStyle/>
          <a:p>
            <a:pPr algn="l" indent="0" marL="0">
              <a:buNone/>
            </a:pPr>
            <a:r>
              <a:rPr lang="en-US" sz="2800" b="1" dirty="0">
                <a:solidFill>
                  <a:srgbClr val="2E3A46"/>
                </a:solidFill>
              </a:rPr>
              <a:t>To earn that sentence, the outcome must be whether a contributor is still active a year after the first patch, not whether the next patch is accepted</a:t>
            </a:r>
            <a:endParaRPr lang="en-US" sz="2800" dirty="0"/>
          </a:p>
        </p:txBody>
      </p:sp>
      <p:pic>
        <p:nvPicPr>
          <p:cNvPr id="3" name="thr-construct" descr="/Users/amberwang/Desktop/paper-review/assets/thr-construct.png">    </p:cNvPr>
          <p:cNvPicPr>
            <a:picLocks noChangeAspect="1"/>
          </p:cNvPicPr>
          <p:nvPr/>
        </p:nvPicPr>
        <p:blipFill>
          <a:blip r:embed="rId1"/>
          <a:stretch>
            <a:fillRect/>
          </a:stretch>
        </p:blipFill>
        <p:spPr>
          <a:xfrm>
            <a:off x="10789920" y="323262"/>
            <a:ext cx="1005840" cy="907956"/>
          </a:xfrm>
          <a:prstGeom prst="rect">
            <a:avLst/>
          </a:prstGeom>
        </p:spPr>
      </p:pic>
      <p:sp>
        <p:nvSpPr>
          <p:cNvPr id="4" name="mark-thr-construct"/>
          <p:cNvSpPr txBox="1"/>
          <p:nvPr/>
        </p:nvSpPr>
        <p:spPr>
          <a:xfrm>
            <a:off x="11494008" y="153619"/>
            <a:ext cx="452628" cy="452628"/>
          </a:xfrm>
          <a:prstGeom prst="rect">
            <a:avLst/>
          </a:prstGeom>
          <a:noFill/>
          <a:ln/>
        </p:spPr>
        <p:txBody>
          <a:bodyPr wrap="square" lIns="0" tIns="0" rIns="0" bIns="0" rtlCol="0" anchor="ctr"/>
          <a:lstStyle/>
          <a:p>
            <a:pPr algn="ctr" indent="0" marL="0">
              <a:buNone/>
            </a:pPr>
            <a:r>
              <a:rPr lang="en-US" sz="2200" b="1" dirty="0">
                <a:solidFill>
                  <a:srgbClr val="E63946"/>
                </a:solidFill>
              </a:rPr>
              <a:t>✗</a:t>
            </a:r>
            <a:endParaRPr lang="en-US" sz="2200" dirty="0"/>
          </a:p>
        </p:txBody>
      </p:sp>
      <p:pic>
        <p:nvPicPr>
          <p:cNvPr id="5" name="thr-internal" descr="/Users/amberwang/Desktop/paper-review/assets/thr-internal.png">    </p:cNvPr>
          <p:cNvPicPr>
            <a:picLocks noChangeAspect="1"/>
          </p:cNvPicPr>
          <p:nvPr/>
        </p:nvPicPr>
        <p:blipFill>
          <a:blip r:embed="rId2">
            <a:alphaModFix amt="35000"/>
          </a:blip>
          <a:stretch>
            <a:fillRect/>
          </a:stretch>
        </p:blipFill>
        <p:spPr>
          <a:xfrm>
            <a:off x="5843016" y="6063695"/>
            <a:ext cx="502920" cy="354169"/>
          </a:xfrm>
          <a:prstGeom prst="rect">
            <a:avLst/>
          </a:prstGeom>
        </p:spPr>
      </p:pic>
      <p:pic>
        <p:nvPicPr>
          <p:cNvPr id="6" name="thr-conclusion" descr="/Users/amberwang/Desktop/paper-review/assets/thr-conclusion.png">    </p:cNvPr>
          <p:cNvPicPr>
            <a:picLocks noChangeAspect="1"/>
          </p:cNvPicPr>
          <p:nvPr/>
        </p:nvPicPr>
        <p:blipFill>
          <a:blip r:embed="rId3">
            <a:alphaModFix amt="35000"/>
          </a:blip>
          <a:stretch>
            <a:fillRect/>
          </a:stretch>
        </p:blipFill>
        <p:spPr>
          <a:xfrm>
            <a:off x="6670721" y="5989320"/>
            <a:ext cx="493431" cy="502920"/>
          </a:xfrm>
          <a:prstGeom prst="rect">
            <a:avLst/>
          </a:prstGeom>
        </p:spPr>
      </p:pic>
      <p:sp>
        <p:nvSpPr>
          <p:cNvPr id="7" name="s5-text-What the paper mea"/>
          <p:cNvSpPr txBox="1"/>
          <p:nvPr/>
        </p:nvSpPr>
        <p:spPr>
          <a:xfrm>
            <a:off x="548640" y="1874520"/>
            <a:ext cx="4114800" cy="365760"/>
          </a:xfrm>
          <a:prstGeom prst="rect">
            <a:avLst/>
          </a:prstGeom>
          <a:noFill/>
          <a:ln/>
        </p:spPr>
        <p:txBody>
          <a:bodyPr wrap="square" lIns="0" tIns="0" rIns="0" bIns="0" rtlCol="0" anchor="t"/>
          <a:lstStyle/>
          <a:p>
            <a:pPr algn="l" indent="0" marL="0">
              <a:buNone/>
            </a:pPr>
            <a:r>
              <a:rPr lang="en-US" sz="1600" b="1" dirty="0">
                <a:solidFill>
                  <a:srgbClr val="9AA5B1"/>
                </a:solidFill>
              </a:rPr>
              <a:t>What the paper measured</a:t>
            </a:r>
            <a:endParaRPr lang="en-US" sz="1600" dirty="0"/>
          </a:p>
        </p:txBody>
      </p:sp>
      <p:pic>
        <p:nvPicPr>
          <p:cNvPr id="8" name="s5-icon-patch" descr="/Users/amberwang/Desktop/paper-review/assets/icon-patch.png">    </p:cNvPr>
          <p:cNvPicPr>
            <a:picLocks noChangeAspect="1"/>
          </p:cNvPicPr>
          <p:nvPr/>
        </p:nvPicPr>
        <p:blipFill>
          <a:blip r:embed="rId4"/>
          <a:stretch>
            <a:fillRect/>
          </a:stretch>
        </p:blipFill>
        <p:spPr>
          <a:xfrm>
            <a:off x="822960" y="2332083"/>
            <a:ext cx="685800" cy="776514"/>
          </a:xfrm>
          <a:prstGeom prst="rect">
            <a:avLst/>
          </a:prstGeom>
        </p:spPr>
      </p:pic>
      <p:sp>
        <p:nvSpPr>
          <p:cNvPr id="9" name="s5-arrow"/>
          <p:cNvSpPr/>
          <p:nvPr/>
        </p:nvSpPr>
        <p:spPr>
          <a:xfrm>
            <a:off x="1737360" y="2587752"/>
            <a:ext cx="548640" cy="274320"/>
          </a:xfrm>
          <a:prstGeom prst="rightArrow">
            <a:avLst/>
          </a:prstGeom>
          <a:solidFill>
            <a:srgbClr val="9AA5B1"/>
          </a:solidFill>
          <a:ln w="12700">
            <a:solidFill>
              <a:srgbClr val="9AA5B1"/>
            </a:solidFill>
            <a:prstDash val="solid"/>
          </a:ln>
        </p:spPr>
      </p:sp>
      <p:pic>
        <p:nvPicPr>
          <p:cNvPr id="10" name="s5-icon-stamp-accepted" descr="/Users/amberwang/Desktop/paper-review/assets/icon-stamp-accepted.png">    </p:cNvPr>
          <p:cNvPicPr>
            <a:picLocks noChangeAspect="1"/>
          </p:cNvPicPr>
          <p:nvPr/>
        </p:nvPicPr>
        <p:blipFill>
          <a:blip r:embed="rId5"/>
          <a:stretch>
            <a:fillRect/>
          </a:stretch>
        </p:blipFill>
        <p:spPr>
          <a:xfrm>
            <a:off x="2468880" y="2335042"/>
            <a:ext cx="777240" cy="770597"/>
          </a:xfrm>
          <a:prstGeom prst="rect">
            <a:avLst/>
          </a:prstGeom>
        </p:spPr>
      </p:pic>
      <p:sp>
        <p:nvSpPr>
          <p:cNvPr id="11" name="s5-text-one patch: accepte"/>
          <p:cNvSpPr txBox="1"/>
          <p:nvPr/>
        </p:nvSpPr>
        <p:spPr>
          <a:xfrm>
            <a:off x="3474720" y="2514600"/>
            <a:ext cx="2926080" cy="411480"/>
          </a:xfrm>
          <a:prstGeom prst="rect">
            <a:avLst/>
          </a:prstGeom>
          <a:noFill/>
          <a:ln/>
        </p:spPr>
        <p:txBody>
          <a:bodyPr wrap="square" lIns="0" tIns="0" rIns="0" bIns="0" rtlCol="0" anchor="ctr"/>
          <a:lstStyle/>
          <a:p>
            <a:pPr algn="l" indent="0" marL="0">
              <a:buNone/>
            </a:pPr>
            <a:r>
              <a:rPr lang="en-US" sz="1600" dirty="0">
                <a:solidFill>
                  <a:srgbClr val="2E3A46"/>
                </a:solidFill>
              </a:rPr>
              <a:t>one patch: accepted or not</a:t>
            </a:r>
            <a:endParaRPr lang="en-US" sz="1600" dirty="0"/>
          </a:p>
        </p:txBody>
      </p:sp>
      <p:sp>
        <p:nvSpPr>
          <p:cNvPr id="12" name="s5-text-says nothing about"/>
          <p:cNvSpPr txBox="1"/>
          <p:nvPr/>
        </p:nvSpPr>
        <p:spPr>
          <a:xfrm>
            <a:off x="6766560" y="2514600"/>
            <a:ext cx="4114800" cy="411480"/>
          </a:xfrm>
          <a:prstGeom prst="rect">
            <a:avLst/>
          </a:prstGeom>
          <a:noFill/>
          <a:ln/>
        </p:spPr>
        <p:txBody>
          <a:bodyPr wrap="square" lIns="0" tIns="0" rIns="0" bIns="0" rtlCol="0" anchor="ctr"/>
          <a:lstStyle/>
          <a:p>
            <a:pPr algn="l" indent="0" marL="0">
              <a:buNone/>
            </a:pPr>
            <a:r>
              <a:rPr lang="en-US" sz="1600" i="1" dirty="0">
                <a:solidFill>
                  <a:srgbClr val="E63946"/>
                </a:solidFill>
              </a:rPr>
              <a:t>says nothing about who stays</a:t>
            </a:r>
            <a:endParaRPr lang="en-US" sz="1600" dirty="0"/>
          </a:p>
        </p:txBody>
      </p:sp>
      <p:sp>
        <p:nvSpPr>
          <p:cNvPr id="13" name="s5-divider"/>
          <p:cNvSpPr/>
          <p:nvPr/>
        </p:nvSpPr>
        <p:spPr>
          <a:xfrm>
            <a:off x="548640" y="3383280"/>
            <a:ext cx="11064240" cy="0"/>
          </a:xfrm>
          <a:prstGeom prst="line">
            <a:avLst/>
          </a:prstGeom>
          <a:noFill/>
          <a:ln w="9525">
            <a:solidFill>
              <a:srgbClr val="9AA5B1"/>
            </a:solidFill>
            <a:prstDash val="dash"/>
          </a:ln>
        </p:spPr>
      </p:sp>
      <p:pic>
        <p:nvPicPr>
          <p:cNvPr id="14" name="s5-flask" descr="/Users/amberwang/Desktop/paper-review/assets/pt-experiment.png">    </p:cNvPr>
          <p:cNvPicPr>
            <a:picLocks noChangeAspect="1"/>
          </p:cNvPicPr>
          <p:nvPr/>
        </p:nvPicPr>
        <p:blipFill>
          <a:blip r:embed="rId6"/>
          <a:stretch>
            <a:fillRect/>
          </a:stretch>
        </p:blipFill>
        <p:spPr>
          <a:xfrm>
            <a:off x="590896" y="3584448"/>
            <a:ext cx="281247" cy="411480"/>
          </a:xfrm>
          <a:prstGeom prst="rect">
            <a:avLst/>
          </a:prstGeom>
        </p:spPr>
      </p:pic>
      <p:sp>
        <p:nvSpPr>
          <p:cNvPr id="15" name="s5-text-What the claim nee"/>
          <p:cNvSpPr txBox="1"/>
          <p:nvPr/>
        </p:nvSpPr>
        <p:spPr>
          <a:xfrm>
            <a:off x="1005840" y="3611880"/>
            <a:ext cx="4114800" cy="365760"/>
          </a:xfrm>
          <a:prstGeom prst="rect">
            <a:avLst/>
          </a:prstGeom>
          <a:noFill/>
          <a:ln/>
        </p:spPr>
        <p:txBody>
          <a:bodyPr wrap="square" lIns="0" tIns="0" rIns="0" bIns="0" rtlCol="0" anchor="t"/>
          <a:lstStyle/>
          <a:p>
            <a:pPr algn="l" indent="0" marL="0">
              <a:buNone/>
            </a:pPr>
            <a:r>
              <a:rPr lang="en-US" sz="1600" b="1" dirty="0">
                <a:solidFill>
                  <a:srgbClr val="4A6FA5"/>
                </a:solidFill>
              </a:rPr>
              <a:t>What the claim needs</a:t>
            </a:r>
            <a:endParaRPr lang="en-US" sz="1600" dirty="0"/>
          </a:p>
        </p:txBody>
      </p:sp>
      <p:pic>
        <p:nvPicPr>
          <p:cNvPr id="16" name="s5-char-newcomer" descr="/Users/amberwang/Desktop/paper-review/assets/char-newcomer.png">    </p:cNvPr>
          <p:cNvPicPr>
            <a:picLocks noChangeAspect="1"/>
          </p:cNvPicPr>
          <p:nvPr/>
        </p:nvPicPr>
        <p:blipFill>
          <a:blip r:embed="rId7"/>
          <a:stretch>
            <a:fillRect/>
          </a:stretch>
        </p:blipFill>
        <p:spPr>
          <a:xfrm>
            <a:off x="822960" y="4148652"/>
            <a:ext cx="1097280" cy="1349616"/>
          </a:xfrm>
          <a:prstGeom prst="rect">
            <a:avLst/>
          </a:prstGeom>
        </p:spPr>
      </p:pic>
      <p:pic>
        <p:nvPicPr>
          <p:cNvPr id="17" name="s5-first-patch" descr="/Users/amberwang/Desktop/paper-review/assets/icon-patch.png">    </p:cNvPr>
          <p:cNvPicPr>
            <a:picLocks noChangeAspect="1"/>
          </p:cNvPicPr>
          <p:nvPr/>
        </p:nvPicPr>
        <p:blipFill>
          <a:blip r:embed="rId8"/>
          <a:stretch>
            <a:fillRect/>
          </a:stretch>
        </p:blipFill>
        <p:spPr>
          <a:xfrm>
            <a:off x="2377440" y="4343763"/>
            <a:ext cx="685800" cy="776514"/>
          </a:xfrm>
          <a:prstGeom prst="rect">
            <a:avLst/>
          </a:prstGeom>
        </p:spPr>
      </p:pic>
      <p:pic>
        <p:nvPicPr>
          <p:cNvPr id="18" name="s5-first-stamp" descr="/Users/amberwang/Desktop/paper-review/assets/icon-stamp-accepted.png">    </p:cNvPr>
          <p:cNvPicPr>
            <a:picLocks noChangeAspect="1"/>
          </p:cNvPicPr>
          <p:nvPr/>
        </p:nvPicPr>
        <p:blipFill>
          <a:blip r:embed="rId9"/>
          <a:stretch>
            <a:fillRect/>
          </a:stretch>
        </p:blipFill>
        <p:spPr>
          <a:xfrm>
            <a:off x="2834640" y="4756638"/>
            <a:ext cx="411480" cy="407963"/>
          </a:xfrm>
          <a:prstGeom prst="rect">
            <a:avLst/>
          </a:prstGeom>
        </p:spPr>
      </p:pic>
      <p:sp>
        <p:nvSpPr>
          <p:cNvPr id="19" name="s5-text-first accepted pat"/>
          <p:cNvSpPr txBox="1"/>
          <p:nvPr/>
        </p:nvSpPr>
        <p:spPr>
          <a:xfrm>
            <a:off x="2011680" y="5257800"/>
            <a:ext cx="1554480" cy="274320"/>
          </a:xfrm>
          <a:prstGeom prst="rect">
            <a:avLst/>
          </a:prstGeom>
          <a:noFill/>
          <a:ln/>
        </p:spPr>
        <p:txBody>
          <a:bodyPr wrap="square" lIns="0" tIns="0" rIns="0" bIns="0" rtlCol="0" anchor="t"/>
          <a:lstStyle/>
          <a:p>
            <a:pPr algn="ctr" indent="0" marL="0">
              <a:buNone/>
            </a:pPr>
            <a:r>
              <a:rPr lang="en-US" sz="1300" dirty="0">
                <a:solidFill>
                  <a:srgbClr val="4CAF7A"/>
                </a:solidFill>
              </a:rPr>
              <a:t>first accepted patch</a:t>
            </a:r>
            <a:endParaRPr lang="en-US" sz="1300" dirty="0"/>
          </a:p>
        </p:txBody>
      </p:sp>
      <p:sp>
        <p:nvSpPr>
          <p:cNvPr id="20" name="s5-arrow"/>
          <p:cNvSpPr/>
          <p:nvPr/>
        </p:nvSpPr>
        <p:spPr>
          <a:xfrm>
            <a:off x="3794760" y="4617720"/>
            <a:ext cx="640080" cy="292608"/>
          </a:xfrm>
          <a:prstGeom prst="rightArrow">
            <a:avLst/>
          </a:prstGeom>
          <a:solidFill>
            <a:srgbClr val="4A6FA5"/>
          </a:solidFill>
          <a:ln w="12700">
            <a:solidFill>
              <a:srgbClr val="4A6FA5"/>
            </a:solidFill>
            <a:prstDash val="solid"/>
          </a:ln>
        </p:spPr>
      </p:sp>
      <p:pic>
        <p:nvPicPr>
          <p:cNvPr id="21" name="s5-stack-0" descr="/Users/amberwang/Desktop/paper-review/assets/icon-patch.png">    </p:cNvPr>
          <p:cNvPicPr>
            <a:picLocks noChangeAspect="1"/>
          </p:cNvPicPr>
          <p:nvPr/>
        </p:nvPicPr>
        <p:blipFill>
          <a:blip r:embed="rId10"/>
          <a:stretch>
            <a:fillRect/>
          </a:stretch>
        </p:blipFill>
        <p:spPr>
          <a:xfrm>
            <a:off x="4754880" y="4255347"/>
            <a:ext cx="640080" cy="724747"/>
          </a:xfrm>
          <a:prstGeom prst="rect">
            <a:avLst/>
          </a:prstGeom>
        </p:spPr>
      </p:pic>
      <p:pic>
        <p:nvPicPr>
          <p:cNvPr id="22" name="s5-stack-1" descr="/Users/amberwang/Desktop/paper-review/assets/icon-patch.png">    </p:cNvPr>
          <p:cNvPicPr>
            <a:picLocks noChangeAspect="1"/>
          </p:cNvPicPr>
          <p:nvPr/>
        </p:nvPicPr>
        <p:blipFill>
          <a:blip r:embed="rId11"/>
          <a:stretch>
            <a:fillRect/>
          </a:stretch>
        </p:blipFill>
        <p:spPr>
          <a:xfrm>
            <a:off x="4974336" y="4346787"/>
            <a:ext cx="640080" cy="724747"/>
          </a:xfrm>
          <a:prstGeom prst="rect">
            <a:avLst/>
          </a:prstGeom>
        </p:spPr>
      </p:pic>
      <p:pic>
        <p:nvPicPr>
          <p:cNvPr id="23" name="s5-stack-2" descr="/Users/amberwang/Desktop/paper-review/assets/icon-patch.png">    </p:cNvPr>
          <p:cNvPicPr>
            <a:picLocks noChangeAspect="1"/>
          </p:cNvPicPr>
          <p:nvPr/>
        </p:nvPicPr>
        <p:blipFill>
          <a:blip r:embed="rId12"/>
          <a:stretch>
            <a:fillRect/>
          </a:stretch>
        </p:blipFill>
        <p:spPr>
          <a:xfrm>
            <a:off x="5193792" y="4438227"/>
            <a:ext cx="640080" cy="724747"/>
          </a:xfrm>
          <a:prstGeom prst="rect">
            <a:avLst/>
          </a:prstGeom>
        </p:spPr>
      </p:pic>
      <p:sp>
        <p:nvSpPr>
          <p:cNvPr id="24" name="s5-text-patches 2 to 10"/>
          <p:cNvSpPr txBox="1"/>
          <p:nvPr/>
        </p:nvSpPr>
        <p:spPr>
          <a:xfrm>
            <a:off x="4526280" y="5257800"/>
            <a:ext cx="1737360" cy="274320"/>
          </a:xfrm>
          <a:prstGeom prst="rect">
            <a:avLst/>
          </a:prstGeom>
          <a:noFill/>
          <a:ln/>
        </p:spPr>
        <p:txBody>
          <a:bodyPr wrap="square" lIns="0" tIns="0" rIns="0" bIns="0" rtlCol="0" anchor="t"/>
          <a:lstStyle/>
          <a:p>
            <a:pPr algn="ctr" indent="0" marL="0">
              <a:buNone/>
            </a:pPr>
            <a:r>
              <a:rPr lang="en-US" sz="1300" dirty="0">
                <a:solidFill>
                  <a:srgbClr val="2E3A46"/>
                </a:solidFill>
              </a:rPr>
              <a:t>patches 2 to 10</a:t>
            </a:r>
            <a:endParaRPr lang="en-US" sz="1300" dirty="0"/>
          </a:p>
        </p:txBody>
      </p:sp>
      <p:sp>
        <p:nvSpPr>
          <p:cNvPr id="25" name="s5-arrow"/>
          <p:cNvSpPr/>
          <p:nvPr/>
        </p:nvSpPr>
        <p:spPr>
          <a:xfrm>
            <a:off x="6537960" y="4617720"/>
            <a:ext cx="640080" cy="292608"/>
          </a:xfrm>
          <a:prstGeom prst="rightArrow">
            <a:avLst/>
          </a:prstGeom>
          <a:solidFill>
            <a:srgbClr val="4A6FA5"/>
          </a:solidFill>
          <a:ln w="12700">
            <a:solidFill>
              <a:srgbClr val="4A6FA5"/>
            </a:solidFill>
            <a:prstDash val="solid"/>
          </a:ln>
        </p:spPr>
      </p:sp>
      <p:pic>
        <p:nvPicPr>
          <p:cNvPr id="26" name="s5-icon-sapling" descr="/Users/amberwang/Desktop/paper-review/assets/icon-sapling.png">    </p:cNvPr>
          <p:cNvPicPr>
            <a:picLocks noChangeAspect="1"/>
          </p:cNvPicPr>
          <p:nvPr/>
        </p:nvPicPr>
        <p:blipFill>
          <a:blip r:embed="rId13"/>
          <a:stretch>
            <a:fillRect/>
          </a:stretch>
        </p:blipFill>
        <p:spPr>
          <a:xfrm>
            <a:off x="7570525" y="4114800"/>
            <a:ext cx="952390" cy="1005840"/>
          </a:xfrm>
          <a:prstGeom prst="rect">
            <a:avLst/>
          </a:prstGeom>
        </p:spPr>
      </p:pic>
      <p:sp>
        <p:nvSpPr>
          <p:cNvPr id="27" name="s5-text-?"/>
          <p:cNvSpPr txBox="1"/>
          <p:nvPr/>
        </p:nvSpPr>
        <p:spPr>
          <a:xfrm>
            <a:off x="8549640" y="3977640"/>
            <a:ext cx="411480" cy="502920"/>
          </a:xfrm>
          <a:prstGeom prst="rect">
            <a:avLst/>
          </a:prstGeom>
          <a:noFill/>
          <a:ln/>
        </p:spPr>
        <p:txBody>
          <a:bodyPr wrap="square" lIns="0" tIns="0" rIns="0" bIns="0" rtlCol="0" anchor="t"/>
          <a:lstStyle/>
          <a:p>
            <a:pPr algn="l" indent="0" marL="0">
              <a:buNone/>
            </a:pPr>
            <a:r>
              <a:rPr lang="en-US" sz="3000" b="1" dirty="0">
                <a:solidFill>
                  <a:srgbClr val="4A6FA5"/>
                </a:solidFill>
              </a:rPr>
              <a:t>?</a:t>
            </a:r>
            <a:endParaRPr lang="en-US" sz="3000" dirty="0"/>
          </a:p>
        </p:txBody>
      </p:sp>
      <p:sp>
        <p:nvSpPr>
          <p:cNvPr id="28" name="s5-text-still contributing"/>
          <p:cNvSpPr txBox="1"/>
          <p:nvPr/>
        </p:nvSpPr>
        <p:spPr>
          <a:xfrm>
            <a:off x="7040880" y="5212080"/>
            <a:ext cx="2377440" cy="320040"/>
          </a:xfrm>
          <a:prstGeom prst="rect">
            <a:avLst/>
          </a:prstGeom>
          <a:noFill/>
          <a:ln/>
        </p:spPr>
        <p:txBody>
          <a:bodyPr wrap="square" lIns="0" tIns="0" rIns="0" bIns="0" rtlCol="0" anchor="t"/>
          <a:lstStyle/>
          <a:p>
            <a:pPr algn="ctr" indent="0" marL="0">
              <a:buNone/>
            </a:pPr>
            <a:r>
              <a:rPr lang="en-US" sz="1400" b="1" dirty="0">
                <a:solidFill>
                  <a:srgbClr val="2E3A46"/>
                </a:solidFill>
              </a:rPr>
              <a:t>still contributing a year later?</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lIns="0" tIns="0" rIns="0" bIns="0" rtlCol="0" anchor="t"/>
          <a:lstStyle/>
          <a:p>
            <a:pPr algn="l" indent="0" marL="0">
              <a:buNone/>
            </a:pPr>
            <a:r>
              <a:rPr lang="en-US" sz="2800" b="1" dirty="0">
                <a:solidFill>
                  <a:srgbClr val="2E3A46"/>
                </a:solidFill>
              </a:rPr>
              <a:t>Among non-newcomers, less experienced people tend to write the simple patches, so experience can explain the flip</a:t>
            </a:r>
            <a:endParaRPr lang="en-US" sz="2800" dirty="0"/>
          </a:p>
        </p:txBody>
      </p:sp>
      <p:pic>
        <p:nvPicPr>
          <p:cNvPr id="3" name="thr-construct" descr="/Users/amberwang/Desktop/paper-review/assets/thr-construct.png">    </p:cNvPr>
          <p:cNvPicPr>
            <a:picLocks noChangeAspect="1"/>
          </p:cNvPicPr>
          <p:nvPr/>
        </p:nvPicPr>
        <p:blipFill>
          <a:blip r:embed="rId1"/>
          <a:stretch>
            <a:fillRect/>
          </a:stretch>
        </p:blipFill>
        <p:spPr>
          <a:xfrm>
            <a:off x="5020056" y="6013791"/>
            <a:ext cx="502920" cy="453978"/>
          </a:xfrm>
          <a:prstGeom prst="rect">
            <a:avLst/>
          </a:prstGeom>
        </p:spPr>
      </p:pic>
      <p:sp>
        <p:nvSpPr>
          <p:cNvPr id="4" name="mark-thr-construct"/>
          <p:cNvSpPr txBox="1"/>
          <p:nvPr/>
        </p:nvSpPr>
        <p:spPr>
          <a:xfrm>
            <a:off x="5372100" y="5928970"/>
            <a:ext cx="226314" cy="226314"/>
          </a:xfrm>
          <a:prstGeom prst="rect">
            <a:avLst/>
          </a:prstGeom>
          <a:noFill/>
          <a:ln/>
        </p:spPr>
        <p:txBody>
          <a:bodyPr wrap="square" lIns="0" tIns="0" rIns="0" bIns="0" rtlCol="0" anchor="ctr"/>
          <a:lstStyle/>
          <a:p>
            <a:pPr algn="ctr" indent="0" marL="0">
              <a:buNone/>
            </a:pPr>
            <a:r>
              <a:rPr lang="en-US" sz="1200" b="1" dirty="0">
                <a:solidFill>
                  <a:srgbClr val="E63946"/>
                </a:solidFill>
              </a:rPr>
              <a:t>✗</a:t>
            </a:r>
            <a:endParaRPr lang="en-US" sz="1200" dirty="0"/>
          </a:p>
        </p:txBody>
      </p:sp>
      <p:pic>
        <p:nvPicPr>
          <p:cNvPr id="5" name="thr-internal" descr="/Users/amberwang/Desktop/paper-review/assets/thr-internal.png">    </p:cNvPr>
          <p:cNvPicPr>
            <a:picLocks noChangeAspect="1"/>
          </p:cNvPicPr>
          <p:nvPr/>
        </p:nvPicPr>
        <p:blipFill>
          <a:blip r:embed="rId2"/>
          <a:stretch>
            <a:fillRect/>
          </a:stretch>
        </p:blipFill>
        <p:spPr>
          <a:xfrm>
            <a:off x="10789920" y="423071"/>
            <a:ext cx="1005840" cy="708338"/>
          </a:xfrm>
          <a:prstGeom prst="rect">
            <a:avLst/>
          </a:prstGeom>
        </p:spPr>
      </p:pic>
      <p:pic>
        <p:nvPicPr>
          <p:cNvPr id="6" name="thr-conclusion" descr="/Users/amberwang/Desktop/paper-review/assets/thr-conclusion.png">    </p:cNvPr>
          <p:cNvPicPr>
            <a:picLocks noChangeAspect="1"/>
          </p:cNvPicPr>
          <p:nvPr/>
        </p:nvPicPr>
        <p:blipFill>
          <a:blip r:embed="rId3">
            <a:alphaModFix amt="35000"/>
          </a:blip>
          <a:stretch>
            <a:fillRect/>
          </a:stretch>
        </p:blipFill>
        <p:spPr>
          <a:xfrm>
            <a:off x="6670721" y="5989320"/>
            <a:ext cx="493431" cy="502920"/>
          </a:xfrm>
          <a:prstGeom prst="rect">
            <a:avLst/>
          </a:prstGeom>
        </p:spPr>
      </p:pic>
      <p:pic>
        <p:nvPicPr>
          <p:cNvPr id="7" name="s6-jar-nonnewcomers" descr="/Users/amberwang/Desktop/paper-review/assets/jar-nonnewcomers.png">    </p:cNvPr>
          <p:cNvPicPr>
            <a:picLocks noChangeAspect="1"/>
          </p:cNvPicPr>
          <p:nvPr/>
        </p:nvPicPr>
        <p:blipFill>
          <a:blip r:embed="rId4"/>
          <a:stretch>
            <a:fillRect/>
          </a:stretch>
        </p:blipFill>
        <p:spPr>
          <a:xfrm>
            <a:off x="548640" y="2109614"/>
            <a:ext cx="1600200" cy="2273011"/>
          </a:xfrm>
          <a:prstGeom prst="rect">
            <a:avLst/>
          </a:prstGeom>
        </p:spPr>
      </p:pic>
      <p:sp>
        <p:nvSpPr>
          <p:cNvPr id="8" name="s6-text-non-newcomers"/>
          <p:cNvSpPr txBox="1"/>
          <p:nvPr/>
        </p:nvSpPr>
        <p:spPr>
          <a:xfrm>
            <a:off x="365760" y="4526280"/>
            <a:ext cx="1965960" cy="365760"/>
          </a:xfrm>
          <a:prstGeom prst="rect">
            <a:avLst/>
          </a:prstGeom>
          <a:noFill/>
          <a:ln/>
        </p:spPr>
        <p:txBody>
          <a:bodyPr wrap="square" lIns="0" tIns="0" rIns="0" bIns="0" rtlCol="0" anchor="t"/>
          <a:lstStyle/>
          <a:p>
            <a:pPr algn="ctr" indent="0" marL="0">
              <a:buNone/>
            </a:pPr>
            <a:r>
              <a:rPr lang="en-US" sz="1600" b="1" dirty="0">
                <a:solidFill>
                  <a:srgbClr val="2E3A46"/>
                </a:solidFill>
              </a:rPr>
              <a:t>non-newcomers</a:t>
            </a:r>
            <a:endParaRPr lang="en-US" sz="1600" dirty="0"/>
          </a:p>
        </p:txBody>
      </p:sp>
      <p:pic>
        <p:nvPicPr>
          <p:cNvPr id="9" name="s6-char-maintainer" descr="/Users/amberwang/Desktop/paper-review/assets/char-maintainer.png">    </p:cNvPr>
          <p:cNvPicPr>
            <a:picLocks noChangeAspect="1"/>
          </p:cNvPicPr>
          <p:nvPr/>
        </p:nvPicPr>
        <p:blipFill>
          <a:blip r:embed="rId5"/>
          <a:stretch>
            <a:fillRect/>
          </a:stretch>
        </p:blipFill>
        <p:spPr>
          <a:xfrm>
            <a:off x="5075113" y="1783080"/>
            <a:ext cx="959734" cy="1051560"/>
          </a:xfrm>
          <a:prstGeom prst="rect">
            <a:avLst/>
          </a:prstGeom>
        </p:spPr>
      </p:pic>
      <p:pic>
        <p:nvPicPr>
          <p:cNvPr id="10" name="s6-char-employee" descr="/Users/amberwang/Desktop/paper-review/assets/char-employee.png">    </p:cNvPr>
          <p:cNvPicPr>
            <a:picLocks noChangeAspect="1"/>
          </p:cNvPicPr>
          <p:nvPr/>
        </p:nvPicPr>
        <p:blipFill>
          <a:blip r:embed="rId6"/>
          <a:stretch>
            <a:fillRect/>
          </a:stretch>
        </p:blipFill>
        <p:spPr>
          <a:xfrm>
            <a:off x="6204974" y="1783080"/>
            <a:ext cx="711691" cy="1051560"/>
          </a:xfrm>
          <a:prstGeom prst="rect">
            <a:avLst/>
          </a:prstGeom>
        </p:spPr>
      </p:pic>
      <p:sp>
        <p:nvSpPr>
          <p:cNvPr id="11" name="s6-text-experience and tru"/>
          <p:cNvSpPr txBox="1"/>
          <p:nvPr/>
        </p:nvSpPr>
        <p:spPr>
          <a:xfrm>
            <a:off x="4663440" y="2852928"/>
            <a:ext cx="2834640" cy="320040"/>
          </a:xfrm>
          <a:prstGeom prst="rect">
            <a:avLst/>
          </a:prstGeom>
          <a:noFill/>
          <a:ln/>
        </p:spPr>
        <p:txBody>
          <a:bodyPr wrap="square" lIns="0" tIns="0" rIns="0" bIns="0" rtlCol="0" anchor="t"/>
          <a:lstStyle/>
          <a:p>
            <a:pPr algn="ctr" indent="0" marL="0">
              <a:buNone/>
            </a:pPr>
            <a:r>
              <a:rPr lang="en-US" sz="1600" b="1" dirty="0">
                <a:solidFill>
                  <a:srgbClr val="2E3A46"/>
                </a:solidFill>
              </a:rPr>
              <a:t>experience and trust</a:t>
            </a:r>
            <a:endParaRPr lang="en-US" sz="1600" dirty="0"/>
          </a:p>
        </p:txBody>
      </p:sp>
      <p:sp>
        <p:nvSpPr>
          <p:cNvPr id="12" name="s6-node-complex"/>
          <p:cNvSpPr/>
          <p:nvPr/>
        </p:nvSpPr>
        <p:spPr>
          <a:xfrm>
            <a:off x="2743200" y="4069080"/>
            <a:ext cx="2468880" cy="914400"/>
          </a:xfrm>
          <a:prstGeom prst="roundRect">
            <a:avLst>
              <a:gd name="adj" fmla="val 8000"/>
            </a:avLst>
          </a:prstGeom>
          <a:solidFill>
            <a:srgbClr val="CFE3F0"/>
          </a:solidFill>
          <a:ln/>
        </p:spPr>
      </p:sp>
      <p:pic>
        <p:nvPicPr>
          <p:cNvPr id="13" name="s6-icon-patch" descr="/Users/amberwang/Desktop/paper-review/assets/icon-patch.png">    </p:cNvPr>
          <p:cNvPicPr>
            <a:picLocks noChangeAspect="1"/>
          </p:cNvPicPr>
          <p:nvPr/>
        </p:nvPicPr>
        <p:blipFill>
          <a:blip r:embed="rId7"/>
          <a:stretch>
            <a:fillRect/>
          </a:stretch>
        </p:blipFill>
        <p:spPr>
          <a:xfrm>
            <a:off x="2852928" y="4215674"/>
            <a:ext cx="548640" cy="621211"/>
          </a:xfrm>
          <a:prstGeom prst="rect">
            <a:avLst/>
          </a:prstGeom>
        </p:spPr>
      </p:pic>
      <p:sp>
        <p:nvSpPr>
          <p:cNvPr id="14" name="s6-text-complex, non-doc p"/>
          <p:cNvSpPr txBox="1"/>
          <p:nvPr/>
        </p:nvSpPr>
        <p:spPr>
          <a:xfrm>
            <a:off x="3474720" y="4160520"/>
            <a:ext cx="1691640" cy="731520"/>
          </a:xfrm>
          <a:prstGeom prst="rect">
            <a:avLst/>
          </a:prstGeom>
          <a:noFill/>
          <a:ln/>
        </p:spPr>
        <p:txBody>
          <a:bodyPr wrap="square" lIns="0" tIns="0" rIns="0" bIns="0" rtlCol="0" anchor="ctr"/>
          <a:lstStyle/>
          <a:p>
            <a:pPr algn="l" indent="0" marL="0">
              <a:buNone/>
            </a:pPr>
            <a:r>
              <a:rPr lang="en-US" sz="1400" dirty="0">
                <a:solidFill>
                  <a:srgbClr val="2E3A46"/>
                </a:solidFill>
              </a:rPr>
              <a:t>complex, non-doc patch</a:t>
            </a:r>
            <a:endParaRPr lang="en-US" sz="1400" dirty="0"/>
          </a:p>
        </p:txBody>
      </p:sp>
      <p:sp>
        <p:nvSpPr>
          <p:cNvPr id="15" name="s6-node-accepted"/>
          <p:cNvSpPr/>
          <p:nvPr/>
        </p:nvSpPr>
        <p:spPr>
          <a:xfrm>
            <a:off x="6949440" y="4069080"/>
            <a:ext cx="2468880" cy="914400"/>
          </a:xfrm>
          <a:prstGeom prst="roundRect">
            <a:avLst>
              <a:gd name="adj" fmla="val 8000"/>
            </a:avLst>
          </a:prstGeom>
          <a:solidFill>
            <a:srgbClr val="CFE3F0"/>
          </a:solidFill>
          <a:ln/>
        </p:spPr>
      </p:sp>
      <p:pic>
        <p:nvPicPr>
          <p:cNvPr id="16" name="s6-icon-stamp-accepted" descr="/Users/amberwang/Desktop/paper-review/assets/icon-stamp-accepted.png">    </p:cNvPr>
          <p:cNvPicPr>
            <a:picLocks noChangeAspect="1"/>
          </p:cNvPicPr>
          <p:nvPr/>
        </p:nvPicPr>
        <p:blipFill>
          <a:blip r:embed="rId8"/>
          <a:stretch>
            <a:fillRect/>
          </a:stretch>
        </p:blipFill>
        <p:spPr>
          <a:xfrm>
            <a:off x="7059168" y="4163646"/>
            <a:ext cx="731520" cy="725268"/>
          </a:xfrm>
          <a:prstGeom prst="rect">
            <a:avLst/>
          </a:prstGeom>
        </p:spPr>
      </p:pic>
      <p:sp>
        <p:nvSpPr>
          <p:cNvPr id="17" name="s6-text-accepted"/>
          <p:cNvSpPr txBox="1"/>
          <p:nvPr/>
        </p:nvSpPr>
        <p:spPr>
          <a:xfrm>
            <a:off x="7909560" y="4160520"/>
            <a:ext cx="1417320" cy="731520"/>
          </a:xfrm>
          <a:prstGeom prst="rect">
            <a:avLst/>
          </a:prstGeom>
          <a:noFill/>
          <a:ln/>
        </p:spPr>
        <p:txBody>
          <a:bodyPr wrap="square" lIns="0" tIns="0" rIns="0" bIns="0" rtlCol="0" anchor="ctr"/>
          <a:lstStyle/>
          <a:p>
            <a:pPr algn="l" indent="0" marL="0">
              <a:buNone/>
            </a:pPr>
            <a:r>
              <a:rPr lang="en-US" sz="1600" b="1" dirty="0">
                <a:solidFill>
                  <a:srgbClr val="2E3A46"/>
                </a:solidFill>
              </a:rPr>
              <a:t>accepted</a:t>
            </a:r>
            <a:endParaRPr lang="en-US" sz="1600" dirty="0"/>
          </a:p>
        </p:txBody>
      </p:sp>
      <p:sp>
        <p:nvSpPr>
          <p:cNvPr id="18" name="s6-arrow-exp-complex"/>
          <p:cNvSpPr/>
          <p:nvPr/>
        </p:nvSpPr>
        <p:spPr>
          <a:xfrm flipH="1">
            <a:off x="3977640" y="3246120"/>
            <a:ext cx="1600200" cy="804672"/>
          </a:xfrm>
          <a:prstGeom prst="line">
            <a:avLst/>
          </a:prstGeom>
          <a:noFill/>
          <a:ln w="25400">
            <a:solidFill>
              <a:srgbClr val="2E3A46"/>
            </a:solidFill>
            <a:prstDash val="solid"/>
            <a:tailEnd type="triangle"/>
          </a:ln>
        </p:spPr>
      </p:sp>
      <p:sp>
        <p:nvSpPr>
          <p:cNvPr id="19" name="s6-arrow-exp-accepted"/>
          <p:cNvSpPr/>
          <p:nvPr/>
        </p:nvSpPr>
        <p:spPr>
          <a:xfrm>
            <a:off x="6583680" y="3246120"/>
            <a:ext cx="1600200" cy="804672"/>
          </a:xfrm>
          <a:prstGeom prst="line">
            <a:avLst/>
          </a:prstGeom>
          <a:noFill/>
          <a:ln w="25400">
            <a:solidFill>
              <a:srgbClr val="2E3A46"/>
            </a:solidFill>
            <a:prstDash val="solid"/>
            <a:tailEnd type="triangle"/>
          </a:ln>
        </p:spPr>
      </p:sp>
      <p:sp>
        <p:nvSpPr>
          <p:cNvPr id="20" name="s6-text-takes on the compl"/>
          <p:cNvSpPr txBox="1"/>
          <p:nvPr/>
        </p:nvSpPr>
        <p:spPr>
          <a:xfrm>
            <a:off x="2331720" y="3429000"/>
            <a:ext cx="2240280" cy="274320"/>
          </a:xfrm>
          <a:prstGeom prst="rect">
            <a:avLst/>
          </a:prstGeom>
          <a:noFill/>
          <a:ln/>
        </p:spPr>
        <p:txBody>
          <a:bodyPr wrap="square" lIns="0" tIns="0" rIns="0" bIns="0" rtlCol="0" anchor="t"/>
          <a:lstStyle/>
          <a:p>
            <a:pPr algn="r" indent="0" marL="0">
              <a:buNone/>
            </a:pPr>
            <a:r>
              <a:rPr lang="en-US" sz="1200" dirty="0">
                <a:solidFill>
                  <a:srgbClr val="9AA5B1"/>
                </a:solidFill>
              </a:rPr>
              <a:t>takes on the complex work</a:t>
            </a:r>
            <a:endParaRPr lang="en-US" sz="1200" dirty="0"/>
          </a:p>
        </p:txBody>
      </p:sp>
      <p:sp>
        <p:nvSpPr>
          <p:cNvPr id="21" name="s6-text-gets patches accep"/>
          <p:cNvSpPr txBox="1"/>
          <p:nvPr/>
        </p:nvSpPr>
        <p:spPr>
          <a:xfrm>
            <a:off x="7635240" y="3429000"/>
            <a:ext cx="2103120" cy="274320"/>
          </a:xfrm>
          <a:prstGeom prst="rect">
            <a:avLst/>
          </a:prstGeom>
          <a:noFill/>
          <a:ln/>
        </p:spPr>
        <p:txBody>
          <a:bodyPr wrap="square" lIns="0" tIns="0" rIns="0" bIns="0" rtlCol="0" anchor="t"/>
          <a:lstStyle/>
          <a:p>
            <a:pPr algn="l" indent="0" marL="0">
              <a:buNone/>
            </a:pPr>
            <a:r>
              <a:rPr lang="en-US" sz="1200" dirty="0">
                <a:solidFill>
                  <a:srgbClr val="9AA5B1"/>
                </a:solidFill>
              </a:rPr>
              <a:t>gets patches accepted</a:t>
            </a:r>
            <a:endParaRPr lang="en-US" sz="1200" dirty="0"/>
          </a:p>
        </p:txBody>
      </p:sp>
      <p:sp>
        <p:nvSpPr>
          <p:cNvPr id="22" name="s6-arrow-seen"/>
          <p:cNvSpPr/>
          <p:nvPr/>
        </p:nvSpPr>
        <p:spPr>
          <a:xfrm>
            <a:off x="5257800" y="4526280"/>
            <a:ext cx="1645920" cy="0"/>
          </a:xfrm>
          <a:prstGeom prst="line">
            <a:avLst/>
          </a:prstGeom>
          <a:noFill/>
          <a:ln w="25400">
            <a:solidFill>
              <a:srgbClr val="E63946"/>
            </a:solidFill>
            <a:prstDash val="dash"/>
            <a:tailEnd type="triangle"/>
          </a:ln>
        </p:spPr>
      </p:sp>
      <p:sp>
        <p:nvSpPr>
          <p:cNvPr id="23" name="s6-text-what the regressio"/>
          <p:cNvSpPr txBox="1"/>
          <p:nvPr/>
        </p:nvSpPr>
        <p:spPr>
          <a:xfrm>
            <a:off x="4846320" y="5074920"/>
            <a:ext cx="2468880" cy="274320"/>
          </a:xfrm>
          <a:prstGeom prst="rect">
            <a:avLst/>
          </a:prstGeom>
          <a:noFill/>
          <a:ln/>
        </p:spPr>
        <p:txBody>
          <a:bodyPr wrap="square" lIns="0" tIns="0" rIns="0" bIns="0" rtlCol="0" anchor="t"/>
          <a:lstStyle/>
          <a:p>
            <a:pPr algn="ctr" indent="0" marL="0">
              <a:buNone/>
            </a:pPr>
            <a:r>
              <a:rPr lang="en-US" sz="1300" i="1" dirty="0">
                <a:solidFill>
                  <a:srgbClr val="E63946"/>
                </a:solidFill>
              </a:rPr>
              <a:t>what the regression sees</a:t>
            </a:r>
            <a:endParaRPr lang="en-US" sz="1300" dirty="0"/>
          </a:p>
        </p:txBody>
      </p:sp>
      <p:sp>
        <p:nvSpPr>
          <p:cNvPr id="24" name="s6-text-missing from the m"/>
          <p:cNvSpPr txBox="1"/>
          <p:nvPr/>
        </p:nvSpPr>
        <p:spPr>
          <a:xfrm>
            <a:off x="9829800" y="2103120"/>
            <a:ext cx="1828800" cy="320040"/>
          </a:xfrm>
          <a:prstGeom prst="rect">
            <a:avLst/>
          </a:prstGeom>
          <a:noFill/>
          <a:ln/>
        </p:spPr>
        <p:txBody>
          <a:bodyPr wrap="square" lIns="0" tIns="0" rIns="0" bIns="0" rtlCol="0" anchor="t"/>
          <a:lstStyle/>
          <a:p>
            <a:pPr algn="ctr" indent="0" marL="0">
              <a:buNone/>
            </a:pPr>
            <a:r>
              <a:rPr lang="en-US" sz="1300" b="1" dirty="0">
                <a:solidFill>
                  <a:srgbClr val="2E3A46"/>
                </a:solidFill>
              </a:rPr>
              <a:t>missing from the model</a:t>
            </a:r>
            <a:endParaRPr lang="en-US" sz="1300" dirty="0"/>
          </a:p>
        </p:txBody>
      </p:sp>
      <p:sp>
        <p:nvSpPr>
          <p:cNvPr id="25" name="s6-missing-tenure"/>
          <p:cNvSpPr/>
          <p:nvPr/>
        </p:nvSpPr>
        <p:spPr>
          <a:xfrm>
            <a:off x="9829800" y="2514600"/>
            <a:ext cx="1828800" cy="502920"/>
          </a:xfrm>
          <a:prstGeom prst="roundRect">
            <a:avLst>
              <a:gd name="adj" fmla="val 14545"/>
            </a:avLst>
          </a:prstGeom>
          <a:solidFill>
            <a:srgbClr val="EEF3F8"/>
          </a:solidFill>
          <a:ln w="12700">
            <a:solidFill>
              <a:srgbClr val="9AA5B1"/>
            </a:solidFill>
          </a:ln>
        </p:spPr>
        <p:txBody>
          <a:bodyPr wrap="square" rtlCol="0" anchor="ctr"/>
          <a:lstStyle/>
          <a:p>
            <a:pPr algn="ctr" indent="0" marL="0">
              <a:buNone/>
            </a:pPr>
            <a:r>
              <a:rPr lang="en-US" sz="1500" dirty="0">
                <a:solidFill>
                  <a:srgbClr val="9AA5B1"/>
                </a:solidFill>
              </a:rPr>
              <a:t>tenure   </a:t>
            </a:r>
            <a:pPr algn="ctr" indent="0" marL="0">
              <a:buNone/>
            </a:pPr>
            <a:r>
              <a:rPr lang="en-US" sz="1500" b="1" dirty="0">
                <a:solidFill>
                  <a:srgbClr val="E63946"/>
                </a:solidFill>
              </a:rPr>
              <a:t>✗</a:t>
            </a:r>
            <a:endParaRPr lang="en-US" sz="1500" dirty="0"/>
          </a:p>
        </p:txBody>
      </p:sp>
      <p:sp>
        <p:nvSpPr>
          <p:cNvPr id="26" name="s6-missing-affiliation"/>
          <p:cNvSpPr/>
          <p:nvPr/>
        </p:nvSpPr>
        <p:spPr>
          <a:xfrm>
            <a:off x="9829800" y="3154680"/>
            <a:ext cx="1828800" cy="502920"/>
          </a:xfrm>
          <a:prstGeom prst="roundRect">
            <a:avLst>
              <a:gd name="adj" fmla="val 14545"/>
            </a:avLst>
          </a:prstGeom>
          <a:solidFill>
            <a:srgbClr val="EEF3F8"/>
          </a:solidFill>
          <a:ln w="12700">
            <a:solidFill>
              <a:srgbClr val="9AA5B1"/>
            </a:solidFill>
          </a:ln>
        </p:spPr>
        <p:txBody>
          <a:bodyPr wrap="square" rtlCol="0" anchor="ctr"/>
          <a:lstStyle/>
          <a:p>
            <a:pPr algn="ctr" indent="0" marL="0">
              <a:buNone/>
            </a:pPr>
            <a:r>
              <a:rPr lang="en-US" sz="1500" dirty="0">
                <a:solidFill>
                  <a:srgbClr val="9AA5B1"/>
                </a:solidFill>
              </a:rPr>
              <a:t>affiliation   </a:t>
            </a:r>
            <a:pPr algn="ctr" indent="0" marL="0">
              <a:buNone/>
            </a:pPr>
            <a:r>
              <a:rPr lang="en-US" sz="1500" b="1" dirty="0">
                <a:solidFill>
                  <a:srgbClr val="E63946"/>
                </a:solidFill>
              </a:rPr>
              <a:t>✗</a:t>
            </a:r>
            <a:endParaRPr lang="en-US" sz="1500" dirty="0"/>
          </a:p>
        </p:txBody>
      </p:sp>
      <p:sp>
        <p:nvSpPr>
          <p:cNvPr id="27" name="s6-missing-author"/>
          <p:cNvSpPr/>
          <p:nvPr/>
        </p:nvSpPr>
        <p:spPr>
          <a:xfrm>
            <a:off x="9829800" y="3794760"/>
            <a:ext cx="1828800" cy="502920"/>
          </a:xfrm>
          <a:prstGeom prst="roundRect">
            <a:avLst>
              <a:gd name="adj" fmla="val 14545"/>
            </a:avLst>
          </a:prstGeom>
          <a:solidFill>
            <a:srgbClr val="EEF3F8"/>
          </a:solidFill>
          <a:ln w="12700">
            <a:solidFill>
              <a:srgbClr val="9AA5B1"/>
            </a:solidFill>
          </a:ln>
        </p:spPr>
        <p:txBody>
          <a:bodyPr wrap="square" rtlCol="0" anchor="ctr"/>
          <a:lstStyle/>
          <a:p>
            <a:pPr algn="ctr" indent="0" marL="0">
              <a:buNone/>
            </a:pPr>
            <a:r>
              <a:rPr lang="en-US" sz="1500" dirty="0">
                <a:solidFill>
                  <a:srgbClr val="9AA5B1"/>
                </a:solidFill>
              </a:rPr>
              <a:t>author   </a:t>
            </a:r>
            <a:pPr algn="ctr" indent="0" marL="0">
              <a:buNone/>
            </a:pPr>
            <a:r>
              <a:rPr lang="en-US" sz="1500" b="1" dirty="0">
                <a:solidFill>
                  <a:srgbClr val="E63946"/>
                </a:solidFill>
              </a:rPr>
              <a: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lIns="0" tIns="0" rIns="0" bIns="0" rtlCol="0" anchor="t"/>
          <a:lstStyle/>
          <a:p>
            <a:pPr algn="l" indent="0" marL="0">
              <a:buNone/>
            </a:pPr>
            <a:r>
              <a:rPr lang="en-US" sz="2800" b="1" dirty="0">
                <a:solidFill>
                  <a:srgbClr val="2E3A46"/>
                </a:solidFill>
              </a:rPr>
              <a:t>Comparing people with the same experience would show whether stage or experience drives the flip</a:t>
            </a:r>
            <a:endParaRPr lang="en-US" sz="2800" dirty="0"/>
          </a:p>
        </p:txBody>
      </p:sp>
      <p:pic>
        <p:nvPicPr>
          <p:cNvPr id="3" name="thr-construct" descr="/Users/amberwang/Desktop/paper-review/assets/thr-construct.png">    </p:cNvPr>
          <p:cNvPicPr>
            <a:picLocks noChangeAspect="1"/>
          </p:cNvPicPr>
          <p:nvPr/>
        </p:nvPicPr>
        <p:blipFill>
          <a:blip r:embed="rId1"/>
          <a:stretch>
            <a:fillRect/>
          </a:stretch>
        </p:blipFill>
        <p:spPr>
          <a:xfrm>
            <a:off x="5020056" y="6013791"/>
            <a:ext cx="502920" cy="453978"/>
          </a:xfrm>
          <a:prstGeom prst="rect">
            <a:avLst/>
          </a:prstGeom>
        </p:spPr>
      </p:pic>
      <p:sp>
        <p:nvSpPr>
          <p:cNvPr id="4" name="mark-thr-construct"/>
          <p:cNvSpPr txBox="1"/>
          <p:nvPr/>
        </p:nvSpPr>
        <p:spPr>
          <a:xfrm>
            <a:off x="5372100" y="5928970"/>
            <a:ext cx="226314" cy="226314"/>
          </a:xfrm>
          <a:prstGeom prst="rect">
            <a:avLst/>
          </a:prstGeom>
          <a:noFill/>
          <a:ln/>
        </p:spPr>
        <p:txBody>
          <a:bodyPr wrap="square" lIns="0" tIns="0" rIns="0" bIns="0" rtlCol="0" anchor="ctr"/>
          <a:lstStyle/>
          <a:p>
            <a:pPr algn="ctr" indent="0" marL="0">
              <a:buNone/>
            </a:pPr>
            <a:r>
              <a:rPr lang="en-US" sz="1200" b="1" dirty="0">
                <a:solidFill>
                  <a:srgbClr val="E63946"/>
                </a:solidFill>
              </a:rPr>
              <a:t>✗</a:t>
            </a:r>
            <a:endParaRPr lang="en-US" sz="1200" dirty="0"/>
          </a:p>
        </p:txBody>
      </p:sp>
      <p:pic>
        <p:nvPicPr>
          <p:cNvPr id="5" name="thr-internal" descr="/Users/amberwang/Desktop/paper-review/assets/thr-internal.png">    </p:cNvPr>
          <p:cNvPicPr>
            <a:picLocks noChangeAspect="1"/>
          </p:cNvPicPr>
          <p:nvPr/>
        </p:nvPicPr>
        <p:blipFill>
          <a:blip r:embed="rId2"/>
          <a:stretch>
            <a:fillRect/>
          </a:stretch>
        </p:blipFill>
        <p:spPr>
          <a:xfrm>
            <a:off x="10789920" y="423071"/>
            <a:ext cx="1005840" cy="708338"/>
          </a:xfrm>
          <a:prstGeom prst="rect">
            <a:avLst/>
          </a:prstGeom>
        </p:spPr>
      </p:pic>
      <p:sp>
        <p:nvSpPr>
          <p:cNvPr id="6" name="mark-thr-internal"/>
          <p:cNvSpPr txBox="1"/>
          <p:nvPr/>
        </p:nvSpPr>
        <p:spPr>
          <a:xfrm>
            <a:off x="11494008" y="153619"/>
            <a:ext cx="452628" cy="452628"/>
          </a:xfrm>
          <a:prstGeom prst="rect">
            <a:avLst/>
          </a:prstGeom>
          <a:noFill/>
          <a:ln/>
        </p:spPr>
        <p:txBody>
          <a:bodyPr wrap="square" lIns="0" tIns="0" rIns="0" bIns="0" rtlCol="0" anchor="ctr"/>
          <a:lstStyle/>
          <a:p>
            <a:pPr algn="ctr" indent="0" marL="0">
              <a:buNone/>
            </a:pPr>
            <a:r>
              <a:rPr lang="en-US" sz="2200" b="1" dirty="0">
                <a:solidFill>
                  <a:srgbClr val="E63946"/>
                </a:solidFill>
              </a:rPr>
              <a:t>✗</a:t>
            </a:r>
            <a:endParaRPr lang="en-US" sz="2200" dirty="0"/>
          </a:p>
        </p:txBody>
      </p:sp>
      <p:pic>
        <p:nvPicPr>
          <p:cNvPr id="7" name="thr-conclusion" descr="/Users/amberwang/Desktop/paper-review/assets/thr-conclusion.png">    </p:cNvPr>
          <p:cNvPicPr>
            <a:picLocks noChangeAspect="1"/>
          </p:cNvPicPr>
          <p:nvPr/>
        </p:nvPicPr>
        <p:blipFill>
          <a:blip r:embed="rId3">
            <a:alphaModFix amt="35000"/>
          </a:blip>
          <a:stretch>
            <a:fillRect/>
          </a:stretch>
        </p:blipFill>
        <p:spPr>
          <a:xfrm>
            <a:off x="6670721" y="5989320"/>
            <a:ext cx="493431" cy="502920"/>
          </a:xfrm>
          <a:prstGeom prst="rect">
            <a:avLst/>
          </a:prstGeom>
        </p:spPr>
      </p:pic>
      <p:sp>
        <p:nvSpPr>
          <p:cNvPr id="8" name="s7-divider"/>
          <p:cNvSpPr/>
          <p:nvPr/>
        </p:nvSpPr>
        <p:spPr>
          <a:xfrm>
            <a:off x="6080760" y="1920240"/>
            <a:ext cx="0" cy="3474720"/>
          </a:xfrm>
          <a:prstGeom prst="line">
            <a:avLst/>
          </a:prstGeom>
          <a:noFill/>
          <a:ln w="9525">
            <a:solidFill>
              <a:srgbClr val="9AA5B1"/>
            </a:solidFill>
            <a:prstDash val="solid"/>
          </a:ln>
        </p:spPr>
      </p:sp>
      <p:pic>
        <p:nvPicPr>
          <p:cNvPr id="9" name="s7-flask-left" descr="/Users/amberwang/Desktop/paper-review/assets/pt-experiment.png">    </p:cNvPr>
          <p:cNvPicPr>
            <a:picLocks noChangeAspect="1"/>
          </p:cNvPicPr>
          <p:nvPr/>
        </p:nvPicPr>
        <p:blipFill>
          <a:blip r:embed="rId4"/>
          <a:stretch>
            <a:fillRect/>
          </a:stretch>
        </p:blipFill>
        <p:spPr>
          <a:xfrm>
            <a:off x="590896" y="1828800"/>
            <a:ext cx="281247" cy="411480"/>
          </a:xfrm>
          <a:prstGeom prst="rect">
            <a:avLst/>
          </a:prstGeom>
        </p:spPr>
      </p:pic>
      <p:sp>
        <p:nvSpPr>
          <p:cNvPr id="10" name="s7-text-Split by experienc"/>
          <p:cNvSpPr txBox="1"/>
          <p:nvPr/>
        </p:nvSpPr>
        <p:spPr>
          <a:xfrm>
            <a:off x="1005840" y="1874520"/>
            <a:ext cx="4846320" cy="365760"/>
          </a:xfrm>
          <a:prstGeom prst="rect">
            <a:avLst/>
          </a:prstGeom>
          <a:noFill/>
          <a:ln/>
        </p:spPr>
        <p:txBody>
          <a:bodyPr wrap="square" lIns="0" tIns="0" rIns="0" bIns="0" rtlCol="0" anchor="t"/>
          <a:lstStyle/>
          <a:p>
            <a:pPr algn="l" indent="0" marL="0">
              <a:buNone/>
            </a:pPr>
            <a:r>
              <a:rPr lang="en-US" sz="1700" b="1" dirty="0">
                <a:solidFill>
                  <a:srgbClr val="4A6FA5"/>
                </a:solidFill>
              </a:rPr>
              <a:t>Split by experience</a:t>
            </a:r>
            <a:endParaRPr lang="en-US" sz="1700" dirty="0"/>
          </a:p>
        </p:txBody>
      </p:sp>
      <p:sp>
        <p:nvSpPr>
          <p:cNvPr id="11" name="s7-bin-0"/>
          <p:cNvSpPr/>
          <p:nvPr/>
        </p:nvSpPr>
        <p:spPr>
          <a:xfrm>
            <a:off x="548640" y="2423160"/>
            <a:ext cx="1600200" cy="1828800"/>
          </a:xfrm>
          <a:prstGeom prst="roundRect">
            <a:avLst>
              <a:gd name="adj" fmla="val 4571"/>
            </a:avLst>
          </a:prstGeom>
          <a:solidFill>
            <a:srgbClr val="EEF3F8"/>
          </a:solidFill>
          <a:ln w="12700">
            <a:solidFill>
              <a:srgbClr val="9AA5B1"/>
            </a:solidFill>
            <a:prstDash val="solid"/>
          </a:ln>
        </p:spPr>
      </p:sp>
      <p:pic>
        <p:nvPicPr>
          <p:cNvPr id="12" name="s7-char-newcomer" descr="/Users/amberwang/Desktop/paper-review/assets/char-newcomer.png">    </p:cNvPr>
          <p:cNvPicPr>
            <a:picLocks noChangeAspect="1"/>
          </p:cNvPicPr>
          <p:nvPr/>
        </p:nvPicPr>
        <p:blipFill>
          <a:blip r:embed="rId5"/>
          <a:stretch>
            <a:fillRect/>
          </a:stretch>
        </p:blipFill>
        <p:spPr>
          <a:xfrm>
            <a:off x="902679" y="2514600"/>
            <a:ext cx="892123" cy="1097280"/>
          </a:xfrm>
          <a:prstGeom prst="rect">
            <a:avLst/>
          </a:prstGeom>
        </p:spPr>
      </p:pic>
      <p:sp>
        <p:nvSpPr>
          <p:cNvPr id="13" name="s7-text-2–5 accepted patch"/>
          <p:cNvSpPr txBox="1"/>
          <p:nvPr/>
        </p:nvSpPr>
        <p:spPr>
          <a:xfrm>
            <a:off x="640080" y="3703320"/>
            <a:ext cx="1417320" cy="457200"/>
          </a:xfrm>
          <a:prstGeom prst="rect">
            <a:avLst/>
          </a:prstGeom>
          <a:noFill/>
          <a:ln/>
        </p:spPr>
        <p:txBody>
          <a:bodyPr wrap="square" lIns="0" tIns="0" rIns="0" bIns="0" rtlCol="0" anchor="t"/>
          <a:lstStyle/>
          <a:p>
            <a:pPr algn="ctr" indent="0" marL="0">
              <a:buNone/>
            </a:pPr>
            <a:r>
              <a:rPr lang="en-US" sz="1300" b="1" dirty="0">
                <a:solidFill>
                  <a:srgbClr val="2E3A46"/>
                </a:solidFill>
              </a:rPr>
              <a:t>2–5 accepted patches</a:t>
            </a:r>
            <a:endParaRPr lang="en-US" sz="1300" dirty="0"/>
          </a:p>
        </p:txBody>
      </p:sp>
      <p:sp>
        <p:nvSpPr>
          <p:cNvPr id="14" name="s7-bin-1"/>
          <p:cNvSpPr/>
          <p:nvPr/>
        </p:nvSpPr>
        <p:spPr>
          <a:xfrm>
            <a:off x="2286000" y="2423160"/>
            <a:ext cx="1600200" cy="1828800"/>
          </a:xfrm>
          <a:prstGeom prst="roundRect">
            <a:avLst>
              <a:gd name="adj" fmla="val 4571"/>
            </a:avLst>
          </a:prstGeom>
          <a:solidFill>
            <a:srgbClr val="EEF3F8"/>
          </a:solidFill>
          <a:ln w="12700">
            <a:solidFill>
              <a:srgbClr val="9AA5B1"/>
            </a:solidFill>
            <a:prstDash val="solid"/>
          </a:ln>
        </p:spPr>
      </p:sp>
      <p:pic>
        <p:nvPicPr>
          <p:cNvPr id="15" name="s7-char-employee" descr="/Users/amberwang/Desktop/paper-review/assets/char-employee.png">    </p:cNvPr>
          <p:cNvPicPr>
            <a:picLocks noChangeAspect="1"/>
          </p:cNvPicPr>
          <p:nvPr/>
        </p:nvPicPr>
        <p:blipFill>
          <a:blip r:embed="rId6"/>
          <a:stretch>
            <a:fillRect/>
          </a:stretch>
        </p:blipFill>
        <p:spPr>
          <a:xfrm>
            <a:off x="2714783" y="2514600"/>
            <a:ext cx="742634" cy="1097280"/>
          </a:xfrm>
          <a:prstGeom prst="rect">
            <a:avLst/>
          </a:prstGeom>
        </p:spPr>
      </p:pic>
      <p:sp>
        <p:nvSpPr>
          <p:cNvPr id="16" name="s7-text-6–20 accepted patc"/>
          <p:cNvSpPr txBox="1"/>
          <p:nvPr/>
        </p:nvSpPr>
        <p:spPr>
          <a:xfrm>
            <a:off x="2377440" y="3703320"/>
            <a:ext cx="1417320" cy="457200"/>
          </a:xfrm>
          <a:prstGeom prst="rect">
            <a:avLst/>
          </a:prstGeom>
          <a:noFill/>
          <a:ln/>
        </p:spPr>
        <p:txBody>
          <a:bodyPr wrap="square" lIns="0" tIns="0" rIns="0" bIns="0" rtlCol="0" anchor="t"/>
          <a:lstStyle/>
          <a:p>
            <a:pPr algn="ctr" indent="0" marL="0">
              <a:buNone/>
            </a:pPr>
            <a:r>
              <a:rPr lang="en-US" sz="1300" b="1" dirty="0">
                <a:solidFill>
                  <a:srgbClr val="2E3A46"/>
                </a:solidFill>
              </a:rPr>
              <a:t>6–20 accepted patches</a:t>
            </a:r>
            <a:endParaRPr lang="en-US" sz="1300" dirty="0"/>
          </a:p>
        </p:txBody>
      </p:sp>
      <p:sp>
        <p:nvSpPr>
          <p:cNvPr id="17" name="s7-bin-2"/>
          <p:cNvSpPr/>
          <p:nvPr/>
        </p:nvSpPr>
        <p:spPr>
          <a:xfrm>
            <a:off x="4023360" y="2423160"/>
            <a:ext cx="1600200" cy="1828800"/>
          </a:xfrm>
          <a:prstGeom prst="roundRect">
            <a:avLst>
              <a:gd name="adj" fmla="val 4571"/>
            </a:avLst>
          </a:prstGeom>
          <a:solidFill>
            <a:srgbClr val="EEF3F8"/>
          </a:solidFill>
          <a:ln w="12700">
            <a:solidFill>
              <a:srgbClr val="9AA5B1"/>
            </a:solidFill>
            <a:prstDash val="solid"/>
          </a:ln>
        </p:spPr>
      </p:sp>
      <p:pic>
        <p:nvPicPr>
          <p:cNvPr id="18" name="s7-char-maintainer" descr="/Users/amberwang/Desktop/paper-review/assets/char-maintainer.png">    </p:cNvPr>
          <p:cNvPicPr>
            <a:picLocks noChangeAspect="1"/>
          </p:cNvPicPr>
          <p:nvPr/>
        </p:nvPicPr>
        <p:blipFill>
          <a:blip r:embed="rId7"/>
          <a:stretch>
            <a:fillRect/>
          </a:stretch>
        </p:blipFill>
        <p:spPr>
          <a:xfrm>
            <a:off x="4322729" y="2514600"/>
            <a:ext cx="1001461" cy="1097280"/>
          </a:xfrm>
          <a:prstGeom prst="rect">
            <a:avLst/>
          </a:prstGeom>
        </p:spPr>
      </p:pic>
      <p:sp>
        <p:nvSpPr>
          <p:cNvPr id="19" name="s7-text-core maintainers"/>
          <p:cNvSpPr txBox="1"/>
          <p:nvPr/>
        </p:nvSpPr>
        <p:spPr>
          <a:xfrm>
            <a:off x="4114800" y="3703320"/>
            <a:ext cx="1417320" cy="457200"/>
          </a:xfrm>
          <a:prstGeom prst="rect">
            <a:avLst/>
          </a:prstGeom>
          <a:noFill/>
          <a:ln/>
        </p:spPr>
        <p:txBody>
          <a:bodyPr wrap="square" lIns="0" tIns="0" rIns="0" bIns="0" rtlCol="0" anchor="t"/>
          <a:lstStyle/>
          <a:p>
            <a:pPr algn="ctr" indent="0" marL="0">
              <a:buNone/>
            </a:pPr>
            <a:r>
              <a:rPr lang="en-US" sz="1300" b="1" dirty="0">
                <a:solidFill>
                  <a:srgbClr val="2E3A46"/>
                </a:solidFill>
              </a:rPr>
              <a:t>core maintainers</a:t>
            </a:r>
            <a:endParaRPr lang="en-US" sz="1300" dirty="0"/>
          </a:p>
        </p:txBody>
      </p:sp>
      <p:sp>
        <p:nvSpPr>
          <p:cNvPr id="20" name="s7-dot-stage"/>
          <p:cNvSpPr/>
          <p:nvPr/>
        </p:nvSpPr>
        <p:spPr>
          <a:xfrm>
            <a:off x="594360" y="4572000"/>
            <a:ext cx="182880" cy="182880"/>
          </a:xfrm>
          <a:prstGeom prst="ellipse">
            <a:avLst/>
          </a:prstGeom>
          <a:solidFill>
            <a:srgbClr val="4CAF7A"/>
          </a:solidFill>
          <a:ln w="12700">
            <a:solidFill>
              <a:srgbClr val="4CAF7A"/>
            </a:solidFill>
            <a:prstDash val="solid"/>
          </a:ln>
        </p:spPr>
      </p:sp>
      <p:sp>
        <p:nvSpPr>
          <p:cNvPr id="21" name="s7-text-Flip already at 2–"/>
          <p:cNvSpPr txBox="1"/>
          <p:nvPr/>
        </p:nvSpPr>
        <p:spPr>
          <a:xfrm>
            <a:off x="868680" y="4480560"/>
            <a:ext cx="5029200" cy="365760"/>
          </a:xfrm>
          <a:prstGeom prst="rect">
            <a:avLst/>
          </a:prstGeom>
          <a:noFill/>
          <a:ln/>
        </p:spPr>
        <p:txBody>
          <a:bodyPr wrap="square" lIns="0" tIns="0" rIns="0" bIns="0" rtlCol="0" anchor="ctr"/>
          <a:lstStyle/>
          <a:p>
            <a:pPr algn="l" indent="0" marL="0">
              <a:buNone/>
            </a:pPr>
            <a:r>
              <a:rPr lang="en-US" sz="1500" dirty="0">
                <a:solidFill>
                  <a:srgbClr val="2E3A46"/>
                </a:solidFill>
              </a:rPr>
              <a:t>Flip already at 2–5 patches: stage matters</a:t>
            </a:r>
            <a:endParaRPr lang="en-US" sz="1500" dirty="0"/>
          </a:p>
        </p:txBody>
      </p:sp>
      <p:sp>
        <p:nvSpPr>
          <p:cNvPr id="22" name="s7-dot-exp"/>
          <p:cNvSpPr/>
          <p:nvPr/>
        </p:nvSpPr>
        <p:spPr>
          <a:xfrm>
            <a:off x="594360" y="5029200"/>
            <a:ext cx="182880" cy="182880"/>
          </a:xfrm>
          <a:prstGeom prst="ellipse">
            <a:avLst/>
          </a:prstGeom>
          <a:solidFill>
            <a:srgbClr val="E63946"/>
          </a:solidFill>
          <a:ln w="12700">
            <a:solidFill>
              <a:srgbClr val="E63946"/>
            </a:solidFill>
            <a:prstDash val="solid"/>
          </a:ln>
        </p:spPr>
      </p:sp>
      <p:sp>
        <p:nvSpPr>
          <p:cNvPr id="23" name="s7-text-Flip only among co"/>
          <p:cNvSpPr txBox="1"/>
          <p:nvPr/>
        </p:nvSpPr>
        <p:spPr>
          <a:xfrm>
            <a:off x="868680" y="4937760"/>
            <a:ext cx="5029200" cy="365760"/>
          </a:xfrm>
          <a:prstGeom prst="rect">
            <a:avLst/>
          </a:prstGeom>
          <a:noFill/>
          <a:ln/>
        </p:spPr>
        <p:txBody>
          <a:bodyPr wrap="square" lIns="0" tIns="0" rIns="0" bIns="0" rtlCol="0" anchor="ctr"/>
          <a:lstStyle/>
          <a:p>
            <a:pPr algn="l" indent="0" marL="0">
              <a:buNone/>
            </a:pPr>
            <a:r>
              <a:rPr lang="en-US" sz="1500" dirty="0">
                <a:solidFill>
                  <a:srgbClr val="2E3A46"/>
                </a:solidFill>
              </a:rPr>
              <a:t>Flip only among core maintainers: experience</a:t>
            </a:r>
            <a:endParaRPr lang="en-US" sz="1500" dirty="0"/>
          </a:p>
        </p:txBody>
      </p:sp>
      <p:pic>
        <p:nvPicPr>
          <p:cNvPr id="24" name="s7-flask-right" descr="/Users/amberwang/Desktop/paper-review/assets/pt-experiment.png">    </p:cNvPr>
          <p:cNvPicPr>
            <a:picLocks noChangeAspect="1"/>
          </p:cNvPicPr>
          <p:nvPr/>
        </p:nvPicPr>
        <p:blipFill>
          <a:blip r:embed="rId8"/>
          <a:stretch>
            <a:fillRect/>
          </a:stretch>
        </p:blipFill>
        <p:spPr>
          <a:xfrm>
            <a:off x="6397336" y="1828800"/>
            <a:ext cx="281247" cy="411480"/>
          </a:xfrm>
          <a:prstGeom prst="rect">
            <a:avLst/>
          </a:prstGeom>
        </p:spPr>
      </p:pic>
      <p:sp>
        <p:nvSpPr>
          <p:cNvPr id="25" name="s7-text-Follow the same pe"/>
          <p:cNvSpPr txBox="1"/>
          <p:nvPr/>
        </p:nvSpPr>
        <p:spPr>
          <a:xfrm>
            <a:off x="6812280" y="1874520"/>
            <a:ext cx="4754880" cy="365760"/>
          </a:xfrm>
          <a:prstGeom prst="rect">
            <a:avLst/>
          </a:prstGeom>
          <a:noFill/>
          <a:ln/>
        </p:spPr>
        <p:txBody>
          <a:bodyPr wrap="square" lIns="0" tIns="0" rIns="0" bIns="0" rtlCol="0" anchor="t"/>
          <a:lstStyle/>
          <a:p>
            <a:pPr algn="l" indent="0" marL="0">
              <a:buNone/>
            </a:pPr>
            <a:r>
              <a:rPr lang="en-US" sz="1700" b="1" dirty="0">
                <a:solidFill>
                  <a:srgbClr val="4A6FA5"/>
                </a:solidFill>
              </a:rPr>
              <a:t>Follow the same person</a:t>
            </a:r>
            <a:endParaRPr lang="en-US" sz="1700" dirty="0"/>
          </a:p>
        </p:txBody>
      </p:sp>
      <p:pic>
        <p:nvPicPr>
          <p:cNvPr id="26" name="s7-char-newcomer" descr="/Users/amberwang/Desktop/paper-review/assets/char-newcomer.png">    </p:cNvPr>
          <p:cNvPicPr>
            <a:picLocks noChangeAspect="1"/>
          </p:cNvPicPr>
          <p:nvPr/>
        </p:nvPicPr>
        <p:blipFill>
          <a:blip r:embed="rId9"/>
          <a:stretch>
            <a:fillRect/>
          </a:stretch>
        </p:blipFill>
        <p:spPr>
          <a:xfrm>
            <a:off x="6355080" y="2810426"/>
            <a:ext cx="1005840" cy="1237148"/>
          </a:xfrm>
          <a:prstGeom prst="rect">
            <a:avLst/>
          </a:prstGeom>
        </p:spPr>
      </p:pic>
      <p:sp>
        <p:nvSpPr>
          <p:cNvPr id="27" name="s7-text-patches 2 to 10"/>
          <p:cNvSpPr txBox="1"/>
          <p:nvPr/>
        </p:nvSpPr>
        <p:spPr>
          <a:xfrm>
            <a:off x="7498080" y="2788920"/>
            <a:ext cx="2743200" cy="274320"/>
          </a:xfrm>
          <a:prstGeom prst="rect">
            <a:avLst/>
          </a:prstGeom>
          <a:noFill/>
          <a:ln/>
        </p:spPr>
        <p:txBody>
          <a:bodyPr wrap="square" lIns="0" tIns="0" rIns="0" bIns="0" rtlCol="0" anchor="t"/>
          <a:lstStyle/>
          <a:p>
            <a:pPr algn="l" indent="0" marL="0">
              <a:buNone/>
            </a:pPr>
            <a:r>
              <a:rPr lang="en-US" sz="1300" b="1" dirty="0">
                <a:solidFill>
                  <a:srgbClr val="8FAF9A"/>
                </a:solidFill>
              </a:rPr>
              <a:t>patches 2 to 10</a:t>
            </a:r>
            <a:endParaRPr lang="en-US" sz="1300" dirty="0"/>
          </a:p>
        </p:txBody>
      </p:sp>
      <p:sp>
        <p:nvSpPr>
          <p:cNvPr id="28" name="s7-tile-2"/>
          <p:cNvSpPr/>
          <p:nvPr/>
        </p:nvSpPr>
        <p:spPr>
          <a:xfrm>
            <a:off x="7498080" y="3154680"/>
            <a:ext cx="384048" cy="384048"/>
          </a:xfrm>
          <a:prstGeom prst="roundRect">
            <a:avLst>
              <a:gd name="adj" fmla="val 11905"/>
            </a:avLst>
          </a:prstGeom>
          <a:solidFill>
            <a:srgbClr val="CFE3F0"/>
          </a:solidFill>
          <a:ln/>
        </p:spPr>
      </p:sp>
      <p:sp>
        <p:nvSpPr>
          <p:cNvPr id="29" name="s7-tile-3"/>
          <p:cNvSpPr/>
          <p:nvPr/>
        </p:nvSpPr>
        <p:spPr>
          <a:xfrm>
            <a:off x="7955280" y="3154680"/>
            <a:ext cx="384048" cy="384048"/>
          </a:xfrm>
          <a:prstGeom prst="roundRect">
            <a:avLst>
              <a:gd name="adj" fmla="val 11905"/>
            </a:avLst>
          </a:prstGeom>
          <a:solidFill>
            <a:srgbClr val="4A6FA5"/>
          </a:solidFill>
          <a:ln/>
        </p:spPr>
      </p:sp>
      <p:sp>
        <p:nvSpPr>
          <p:cNvPr id="30" name="s7-tile-4"/>
          <p:cNvSpPr/>
          <p:nvPr/>
        </p:nvSpPr>
        <p:spPr>
          <a:xfrm>
            <a:off x="8412480" y="3154680"/>
            <a:ext cx="384048" cy="384048"/>
          </a:xfrm>
          <a:prstGeom prst="roundRect">
            <a:avLst>
              <a:gd name="adj" fmla="val 11905"/>
            </a:avLst>
          </a:prstGeom>
          <a:solidFill>
            <a:srgbClr val="CFE3F0"/>
          </a:solidFill>
          <a:ln/>
        </p:spPr>
      </p:sp>
      <p:sp>
        <p:nvSpPr>
          <p:cNvPr id="31" name="s7-tile-5"/>
          <p:cNvSpPr/>
          <p:nvPr/>
        </p:nvSpPr>
        <p:spPr>
          <a:xfrm>
            <a:off x="8869680" y="3154680"/>
            <a:ext cx="384048" cy="384048"/>
          </a:xfrm>
          <a:prstGeom prst="roundRect">
            <a:avLst>
              <a:gd name="adj" fmla="val 11905"/>
            </a:avLst>
          </a:prstGeom>
          <a:solidFill>
            <a:srgbClr val="4A6FA5"/>
          </a:solidFill>
          <a:ln/>
        </p:spPr>
      </p:sp>
      <p:sp>
        <p:nvSpPr>
          <p:cNvPr id="32" name="s7-tile-6"/>
          <p:cNvSpPr/>
          <p:nvPr/>
        </p:nvSpPr>
        <p:spPr>
          <a:xfrm>
            <a:off x="9326880" y="3154680"/>
            <a:ext cx="384048" cy="384048"/>
          </a:xfrm>
          <a:prstGeom prst="roundRect">
            <a:avLst>
              <a:gd name="adj" fmla="val 11905"/>
            </a:avLst>
          </a:prstGeom>
          <a:solidFill>
            <a:srgbClr val="CFE3F0"/>
          </a:solidFill>
          <a:ln/>
        </p:spPr>
      </p:sp>
      <p:sp>
        <p:nvSpPr>
          <p:cNvPr id="33" name="s7-tile-7"/>
          <p:cNvSpPr/>
          <p:nvPr/>
        </p:nvSpPr>
        <p:spPr>
          <a:xfrm>
            <a:off x="9784080" y="3154680"/>
            <a:ext cx="384048" cy="384048"/>
          </a:xfrm>
          <a:prstGeom prst="roundRect">
            <a:avLst>
              <a:gd name="adj" fmla="val 11905"/>
            </a:avLst>
          </a:prstGeom>
          <a:solidFill>
            <a:srgbClr val="4A6FA5"/>
          </a:solidFill>
          <a:ln/>
        </p:spPr>
      </p:sp>
      <p:sp>
        <p:nvSpPr>
          <p:cNvPr id="34" name="s7-tile-8"/>
          <p:cNvSpPr/>
          <p:nvPr/>
        </p:nvSpPr>
        <p:spPr>
          <a:xfrm>
            <a:off x="10241280" y="3154680"/>
            <a:ext cx="384048" cy="384048"/>
          </a:xfrm>
          <a:prstGeom prst="roundRect">
            <a:avLst>
              <a:gd name="adj" fmla="val 11905"/>
            </a:avLst>
          </a:prstGeom>
          <a:solidFill>
            <a:srgbClr val="CFE3F0"/>
          </a:solidFill>
          <a:ln/>
        </p:spPr>
      </p:sp>
      <p:sp>
        <p:nvSpPr>
          <p:cNvPr id="35" name="s7-tile-9"/>
          <p:cNvSpPr/>
          <p:nvPr/>
        </p:nvSpPr>
        <p:spPr>
          <a:xfrm>
            <a:off x="10698480" y="3154680"/>
            <a:ext cx="384048" cy="384048"/>
          </a:xfrm>
          <a:prstGeom prst="roundRect">
            <a:avLst>
              <a:gd name="adj" fmla="val 11905"/>
            </a:avLst>
          </a:prstGeom>
          <a:solidFill>
            <a:srgbClr val="4A6FA5"/>
          </a:solidFill>
          <a:ln/>
        </p:spPr>
      </p:sp>
      <p:sp>
        <p:nvSpPr>
          <p:cNvPr id="36" name="s7-tile-10"/>
          <p:cNvSpPr/>
          <p:nvPr/>
        </p:nvSpPr>
        <p:spPr>
          <a:xfrm>
            <a:off x="11155680" y="3154680"/>
            <a:ext cx="384048" cy="384048"/>
          </a:xfrm>
          <a:prstGeom prst="roundRect">
            <a:avLst>
              <a:gd name="adj" fmla="val 11905"/>
            </a:avLst>
          </a:prstGeom>
          <a:solidFill>
            <a:srgbClr val="CFE3F0"/>
          </a:solidFill>
          <a:ln/>
        </p:spPr>
      </p:sp>
      <p:sp>
        <p:nvSpPr>
          <p:cNvPr id="37" name="s7-text-light = simple · d"/>
          <p:cNvSpPr txBox="1"/>
          <p:nvPr/>
        </p:nvSpPr>
        <p:spPr>
          <a:xfrm>
            <a:off x="7498080" y="3657600"/>
            <a:ext cx="4023360" cy="274320"/>
          </a:xfrm>
          <a:prstGeom prst="rect">
            <a:avLst/>
          </a:prstGeom>
          <a:noFill/>
          <a:ln/>
        </p:spPr>
        <p:txBody>
          <a:bodyPr wrap="square" lIns="0" tIns="0" rIns="0" bIns="0" rtlCol="0" anchor="t"/>
          <a:lstStyle/>
          <a:p>
            <a:pPr algn="l" indent="0" marL="0">
              <a:buNone/>
            </a:pPr>
            <a:r>
              <a:rPr lang="en-US" sz="1200" dirty="0">
                <a:solidFill>
                  <a:srgbClr val="9AA5B1"/>
                </a:solidFill>
              </a:rPr>
              <a:t>light = simple · dark = complex</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lIns="0" tIns="0" rIns="0" bIns="0" rtlCol="0" anchor="t"/>
          <a:lstStyle/>
          <a:p>
            <a:pPr algn="l" indent="0" marL="0">
              <a:buNone/>
            </a:pPr>
            <a:r>
              <a:rPr lang="en-US" sz="2800" b="1" dirty="0">
                <a:solidFill>
                  <a:srgbClr val="2E3A46"/>
                </a:solidFill>
              </a:rPr>
              <a:t>The abstract reports four recommendations with “significant negative associations”, and every one rests on an odds ratio of 0.999 or 1.001</a:t>
            </a:r>
            <a:endParaRPr lang="en-US" sz="2800" dirty="0"/>
          </a:p>
        </p:txBody>
      </p:sp>
      <p:pic>
        <p:nvPicPr>
          <p:cNvPr id="3" name="thr-construct" descr="/Users/amberwang/Desktop/paper-review/assets/thr-construct.png">    </p:cNvPr>
          <p:cNvPicPr>
            <a:picLocks noChangeAspect="1"/>
          </p:cNvPicPr>
          <p:nvPr/>
        </p:nvPicPr>
        <p:blipFill>
          <a:blip r:embed="rId1"/>
          <a:stretch>
            <a:fillRect/>
          </a:stretch>
        </p:blipFill>
        <p:spPr>
          <a:xfrm>
            <a:off x="5020056" y="6013791"/>
            <a:ext cx="502920" cy="453978"/>
          </a:xfrm>
          <a:prstGeom prst="rect">
            <a:avLst/>
          </a:prstGeom>
        </p:spPr>
      </p:pic>
      <p:sp>
        <p:nvSpPr>
          <p:cNvPr id="4" name="mark-thr-construct"/>
          <p:cNvSpPr txBox="1"/>
          <p:nvPr/>
        </p:nvSpPr>
        <p:spPr>
          <a:xfrm>
            <a:off x="5372100" y="5928970"/>
            <a:ext cx="226314" cy="226314"/>
          </a:xfrm>
          <a:prstGeom prst="rect">
            <a:avLst/>
          </a:prstGeom>
          <a:noFill/>
          <a:ln/>
        </p:spPr>
        <p:txBody>
          <a:bodyPr wrap="square" lIns="0" tIns="0" rIns="0" bIns="0" rtlCol="0" anchor="ctr"/>
          <a:lstStyle/>
          <a:p>
            <a:pPr algn="ctr" indent="0" marL="0">
              <a:buNone/>
            </a:pPr>
            <a:r>
              <a:rPr lang="en-US" sz="1200" b="1" dirty="0">
                <a:solidFill>
                  <a:srgbClr val="E63946"/>
                </a:solidFill>
              </a:rPr>
              <a:t>✗</a:t>
            </a:r>
            <a:endParaRPr lang="en-US" sz="1200" dirty="0"/>
          </a:p>
        </p:txBody>
      </p:sp>
      <p:pic>
        <p:nvPicPr>
          <p:cNvPr id="5" name="thr-internal" descr="/Users/amberwang/Desktop/paper-review/assets/thr-internal.png">    </p:cNvPr>
          <p:cNvPicPr>
            <a:picLocks noChangeAspect="1"/>
          </p:cNvPicPr>
          <p:nvPr/>
        </p:nvPicPr>
        <p:blipFill>
          <a:blip r:embed="rId2"/>
          <a:stretch>
            <a:fillRect/>
          </a:stretch>
        </p:blipFill>
        <p:spPr>
          <a:xfrm>
            <a:off x="5843016" y="6063695"/>
            <a:ext cx="502920" cy="354169"/>
          </a:xfrm>
          <a:prstGeom prst="rect">
            <a:avLst/>
          </a:prstGeom>
        </p:spPr>
      </p:pic>
      <p:sp>
        <p:nvSpPr>
          <p:cNvPr id="6" name="mark-thr-internal"/>
          <p:cNvSpPr txBox="1"/>
          <p:nvPr/>
        </p:nvSpPr>
        <p:spPr>
          <a:xfrm>
            <a:off x="6195060" y="5928970"/>
            <a:ext cx="226314" cy="226314"/>
          </a:xfrm>
          <a:prstGeom prst="rect">
            <a:avLst/>
          </a:prstGeom>
          <a:noFill/>
          <a:ln/>
        </p:spPr>
        <p:txBody>
          <a:bodyPr wrap="square" lIns="0" tIns="0" rIns="0" bIns="0" rtlCol="0" anchor="ctr"/>
          <a:lstStyle/>
          <a:p>
            <a:pPr algn="ctr" indent="0" marL="0">
              <a:buNone/>
            </a:pPr>
            <a:r>
              <a:rPr lang="en-US" sz="1200" b="1" dirty="0">
                <a:solidFill>
                  <a:srgbClr val="E63946"/>
                </a:solidFill>
              </a:rPr>
              <a:t>✗</a:t>
            </a:r>
            <a:endParaRPr lang="en-US" sz="1200" dirty="0"/>
          </a:p>
        </p:txBody>
      </p:sp>
      <p:pic>
        <p:nvPicPr>
          <p:cNvPr id="7" name="thr-conclusion" descr="/Users/amberwang/Desktop/paper-review/assets/thr-conclusion.png">    </p:cNvPr>
          <p:cNvPicPr>
            <a:picLocks noChangeAspect="1"/>
          </p:cNvPicPr>
          <p:nvPr/>
        </p:nvPicPr>
        <p:blipFill>
          <a:blip r:embed="rId3"/>
          <a:stretch>
            <a:fillRect/>
          </a:stretch>
        </p:blipFill>
        <p:spPr>
          <a:xfrm>
            <a:off x="10799409" y="274320"/>
            <a:ext cx="986862" cy="1005840"/>
          </a:xfrm>
          <a:prstGeom prst="rect">
            <a:avLst/>
          </a:prstGeom>
        </p:spPr>
      </p:pic>
      <p:sp>
        <p:nvSpPr>
          <p:cNvPr id="8" name="s8-quote"/>
          <p:cNvSpPr/>
          <p:nvPr/>
        </p:nvSpPr>
        <p:spPr>
          <a:xfrm>
            <a:off x="548640" y="1828800"/>
            <a:ext cx="5760720" cy="1005840"/>
          </a:xfrm>
          <a:prstGeom prst="wedgeRoundRectCallout">
            <a:avLst/>
          </a:prstGeom>
          <a:solidFill>
            <a:srgbClr val="CFE3F0"/>
          </a:solidFill>
          <a:ln w="12700">
            <a:solidFill>
              <a:srgbClr val="4A6FA5"/>
            </a:solidFill>
          </a:ln>
        </p:spPr>
        <p:txBody>
          <a:bodyPr wrap="square" lIns="2286" tIns="2286" rIns="2286" bIns="2286" rtlCol="0" anchor="ctr"/>
          <a:lstStyle/>
          <a:p>
            <a:pPr algn="l" indent="0" marL="0">
              <a:buNone/>
            </a:pPr>
            <a:r>
              <a:rPr lang="en-US" sz="1600" i="1" dirty="0">
                <a:solidFill>
                  <a:srgbClr val="2E3A46"/>
                </a:solidFill>
              </a:rPr>
              <a:t>“Four recommendations are context-dependent, and four indicate significant negative associations for most projects.”</a:t>
            </a:r>
            <a:endParaRPr lang="en-US" sz="1600" dirty="0"/>
          </a:p>
        </p:txBody>
      </p:sp>
      <p:sp>
        <p:nvSpPr>
          <p:cNvPr id="9" name="s8-text-Abstract"/>
          <p:cNvSpPr txBox="1"/>
          <p:nvPr/>
        </p:nvSpPr>
        <p:spPr>
          <a:xfrm>
            <a:off x="4480560" y="2971800"/>
            <a:ext cx="1828800" cy="274320"/>
          </a:xfrm>
          <a:prstGeom prst="rect">
            <a:avLst/>
          </a:prstGeom>
          <a:noFill/>
          <a:ln/>
        </p:spPr>
        <p:txBody>
          <a:bodyPr wrap="square" lIns="0" tIns="0" rIns="0" bIns="0" rtlCol="0" anchor="t"/>
          <a:lstStyle/>
          <a:p>
            <a:pPr algn="r" indent="0" marL="0">
              <a:buNone/>
            </a:pPr>
            <a:r>
              <a:rPr lang="en-US" sz="1200" i="1" dirty="0">
                <a:solidFill>
                  <a:srgbClr val="9AA5B1"/>
                </a:solidFill>
              </a:rPr>
              <a:t>Abstract</a:t>
            </a:r>
            <a:endParaRPr lang="en-US" sz="1200" dirty="0"/>
          </a:p>
        </p:txBody>
      </p:sp>
      <p:sp>
        <p:nvSpPr>
          <p:cNvPr id="10" name="s8-chip-0"/>
          <p:cNvSpPr/>
          <p:nvPr/>
        </p:nvSpPr>
        <p:spPr>
          <a:xfrm>
            <a:off x="548640" y="3383280"/>
            <a:ext cx="2788920" cy="960120"/>
          </a:xfrm>
          <a:prstGeom prst="roundRect">
            <a:avLst>
              <a:gd name="adj" fmla="val 7619"/>
            </a:avLst>
          </a:prstGeom>
          <a:solidFill>
            <a:srgbClr val="EEF3F8"/>
          </a:solidFill>
          <a:ln w="12700">
            <a:solidFill>
              <a:srgbClr val="9AA5B1"/>
            </a:solidFill>
            <a:prstDash val="solid"/>
          </a:ln>
        </p:spPr>
      </p:sp>
      <p:sp>
        <p:nvSpPr>
          <p:cNvPr id="11" name="s8-text-R10 · title length"/>
          <p:cNvSpPr txBox="1"/>
          <p:nvPr/>
        </p:nvSpPr>
        <p:spPr>
          <a:xfrm>
            <a:off x="713232" y="3474720"/>
            <a:ext cx="2514600" cy="274320"/>
          </a:xfrm>
          <a:prstGeom prst="rect">
            <a:avLst/>
          </a:prstGeom>
          <a:noFill/>
          <a:ln/>
        </p:spPr>
        <p:txBody>
          <a:bodyPr wrap="square" lIns="0" tIns="0" rIns="0" bIns="0" rtlCol="0" anchor="t"/>
          <a:lstStyle/>
          <a:p>
            <a:pPr algn="l" indent="0" marL="0">
              <a:buNone/>
            </a:pPr>
            <a:r>
              <a:rPr lang="en-US" sz="1300" b="1" dirty="0">
                <a:solidFill>
                  <a:srgbClr val="2E3A46"/>
                </a:solidFill>
              </a:rPr>
              <a:t>R10 · title length</a:t>
            </a:r>
            <a:endParaRPr lang="en-US" sz="1300" dirty="0"/>
          </a:p>
        </p:txBody>
      </p:sp>
      <p:sp>
        <p:nvSpPr>
          <p:cNvPr id="12" name="s8-text-0.999***"/>
          <p:cNvSpPr txBox="1"/>
          <p:nvPr/>
        </p:nvSpPr>
        <p:spPr>
          <a:xfrm>
            <a:off x="713232" y="3767328"/>
            <a:ext cx="2514600" cy="502920"/>
          </a:xfrm>
          <a:prstGeom prst="rect">
            <a:avLst/>
          </a:prstGeom>
          <a:noFill/>
          <a:ln/>
        </p:spPr>
        <p:txBody>
          <a:bodyPr wrap="square" lIns="0" tIns="0" rIns="0" bIns="0" rtlCol="0" anchor="t"/>
          <a:lstStyle/>
          <a:p>
            <a:pPr algn="l" indent="0" marL="0">
              <a:buNone/>
            </a:pPr>
            <a:r>
              <a:rPr lang="en-US" sz="2600" b="1" dirty="0">
                <a:solidFill>
                  <a:srgbClr val="E63946"/>
                </a:solidFill>
              </a:rPr>
              <a:t>0.999***</a:t>
            </a:r>
            <a:endParaRPr lang="en-US" sz="2600" dirty="0"/>
          </a:p>
        </p:txBody>
      </p:sp>
      <p:sp>
        <p:nvSpPr>
          <p:cNvPr id="13" name="s8-chip-1"/>
          <p:cNvSpPr/>
          <p:nvPr/>
        </p:nvSpPr>
        <p:spPr>
          <a:xfrm>
            <a:off x="3520440" y="3383280"/>
            <a:ext cx="2788920" cy="960120"/>
          </a:xfrm>
          <a:prstGeom prst="roundRect">
            <a:avLst>
              <a:gd name="adj" fmla="val 7619"/>
            </a:avLst>
          </a:prstGeom>
          <a:solidFill>
            <a:srgbClr val="EEF3F8"/>
          </a:solidFill>
          <a:ln w="12700">
            <a:solidFill>
              <a:srgbClr val="9AA5B1"/>
            </a:solidFill>
            <a:prstDash val="solid"/>
          </a:ln>
        </p:spPr>
      </p:sp>
      <p:sp>
        <p:nvSpPr>
          <p:cNvPr id="14" name="s8-text-R11 · description "/>
          <p:cNvSpPr txBox="1"/>
          <p:nvPr/>
        </p:nvSpPr>
        <p:spPr>
          <a:xfrm>
            <a:off x="3685032" y="3474720"/>
            <a:ext cx="2514600" cy="274320"/>
          </a:xfrm>
          <a:prstGeom prst="rect">
            <a:avLst/>
          </a:prstGeom>
          <a:noFill/>
          <a:ln/>
        </p:spPr>
        <p:txBody>
          <a:bodyPr wrap="square" lIns="0" tIns="0" rIns="0" bIns="0" rtlCol="0" anchor="t"/>
          <a:lstStyle/>
          <a:p>
            <a:pPr algn="l" indent="0" marL="0">
              <a:buNone/>
            </a:pPr>
            <a:r>
              <a:rPr lang="en-US" sz="1300" b="1" dirty="0">
                <a:solidFill>
                  <a:srgbClr val="2E3A46"/>
                </a:solidFill>
              </a:rPr>
              <a:t>R11 · description length</a:t>
            </a:r>
            <a:endParaRPr lang="en-US" sz="1300" dirty="0"/>
          </a:p>
        </p:txBody>
      </p:sp>
      <p:sp>
        <p:nvSpPr>
          <p:cNvPr id="15" name="s8-text-0.999***"/>
          <p:cNvSpPr txBox="1"/>
          <p:nvPr/>
        </p:nvSpPr>
        <p:spPr>
          <a:xfrm>
            <a:off x="3685032" y="3767328"/>
            <a:ext cx="2514600" cy="502920"/>
          </a:xfrm>
          <a:prstGeom prst="rect">
            <a:avLst/>
          </a:prstGeom>
          <a:noFill/>
          <a:ln/>
        </p:spPr>
        <p:txBody>
          <a:bodyPr wrap="square" lIns="0" tIns="0" rIns="0" bIns="0" rtlCol="0" anchor="t"/>
          <a:lstStyle/>
          <a:p>
            <a:pPr algn="l" indent="0" marL="0">
              <a:buNone/>
            </a:pPr>
            <a:r>
              <a:rPr lang="en-US" sz="2600" b="1" dirty="0">
                <a:solidFill>
                  <a:srgbClr val="E63946"/>
                </a:solidFill>
              </a:rPr>
              <a:t>0.999***</a:t>
            </a:r>
            <a:endParaRPr lang="en-US" sz="2600" dirty="0"/>
          </a:p>
        </p:txBody>
      </p:sp>
      <p:sp>
        <p:nvSpPr>
          <p:cNvPr id="16" name="s8-chip-2"/>
          <p:cNvSpPr/>
          <p:nvPr/>
        </p:nvSpPr>
        <p:spPr>
          <a:xfrm>
            <a:off x="548640" y="4480560"/>
            <a:ext cx="2788920" cy="960120"/>
          </a:xfrm>
          <a:prstGeom prst="roundRect">
            <a:avLst>
              <a:gd name="adj" fmla="val 7619"/>
            </a:avLst>
          </a:prstGeom>
          <a:solidFill>
            <a:srgbClr val="EEF3F8"/>
          </a:solidFill>
          <a:ln w="12700">
            <a:solidFill>
              <a:srgbClr val="9AA5B1"/>
            </a:solidFill>
            <a:prstDash val="solid"/>
          </a:ln>
        </p:spPr>
      </p:sp>
      <p:sp>
        <p:nvSpPr>
          <p:cNvPr id="17" name="s8-text-R12 · title readab"/>
          <p:cNvSpPr txBox="1"/>
          <p:nvPr/>
        </p:nvSpPr>
        <p:spPr>
          <a:xfrm>
            <a:off x="713232" y="4572000"/>
            <a:ext cx="2514600" cy="274320"/>
          </a:xfrm>
          <a:prstGeom prst="rect">
            <a:avLst/>
          </a:prstGeom>
          <a:noFill/>
          <a:ln/>
        </p:spPr>
        <p:txBody>
          <a:bodyPr wrap="square" lIns="0" tIns="0" rIns="0" bIns="0" rtlCol="0" anchor="t"/>
          <a:lstStyle/>
          <a:p>
            <a:pPr algn="l" indent="0" marL="0">
              <a:buNone/>
            </a:pPr>
            <a:r>
              <a:rPr lang="en-US" sz="1300" b="1" dirty="0">
                <a:solidFill>
                  <a:srgbClr val="2E3A46"/>
                </a:solidFill>
              </a:rPr>
              <a:t>R12 · title readability</a:t>
            </a:r>
            <a:endParaRPr lang="en-US" sz="1300" dirty="0"/>
          </a:p>
        </p:txBody>
      </p:sp>
      <p:sp>
        <p:nvSpPr>
          <p:cNvPr id="18" name="s8-text-0.999***"/>
          <p:cNvSpPr txBox="1"/>
          <p:nvPr/>
        </p:nvSpPr>
        <p:spPr>
          <a:xfrm>
            <a:off x="713232" y="4864608"/>
            <a:ext cx="2514600" cy="502920"/>
          </a:xfrm>
          <a:prstGeom prst="rect">
            <a:avLst/>
          </a:prstGeom>
          <a:noFill/>
          <a:ln/>
        </p:spPr>
        <p:txBody>
          <a:bodyPr wrap="square" lIns="0" tIns="0" rIns="0" bIns="0" rtlCol="0" anchor="t"/>
          <a:lstStyle/>
          <a:p>
            <a:pPr algn="l" indent="0" marL="0">
              <a:buNone/>
            </a:pPr>
            <a:r>
              <a:rPr lang="en-US" sz="2600" b="1" dirty="0">
                <a:solidFill>
                  <a:srgbClr val="E63946"/>
                </a:solidFill>
              </a:rPr>
              <a:t>0.999***</a:t>
            </a:r>
            <a:endParaRPr lang="en-US" sz="2600" dirty="0"/>
          </a:p>
        </p:txBody>
      </p:sp>
      <p:sp>
        <p:nvSpPr>
          <p:cNvPr id="19" name="s8-chip-3"/>
          <p:cNvSpPr/>
          <p:nvPr/>
        </p:nvSpPr>
        <p:spPr>
          <a:xfrm>
            <a:off x="3520440" y="4480560"/>
            <a:ext cx="2788920" cy="960120"/>
          </a:xfrm>
          <a:prstGeom prst="roundRect">
            <a:avLst>
              <a:gd name="adj" fmla="val 7619"/>
            </a:avLst>
          </a:prstGeom>
          <a:solidFill>
            <a:srgbClr val="EEF3F8"/>
          </a:solidFill>
          <a:ln w="12700">
            <a:solidFill>
              <a:srgbClr val="9AA5B1"/>
            </a:solidFill>
            <a:prstDash val="solid"/>
          </a:ln>
        </p:spPr>
      </p:sp>
      <p:sp>
        <p:nvSpPr>
          <p:cNvPr id="20" name="s8-text-R13 · description "/>
          <p:cNvSpPr txBox="1"/>
          <p:nvPr/>
        </p:nvSpPr>
        <p:spPr>
          <a:xfrm>
            <a:off x="3685032" y="4572000"/>
            <a:ext cx="2514600" cy="274320"/>
          </a:xfrm>
          <a:prstGeom prst="rect">
            <a:avLst/>
          </a:prstGeom>
          <a:noFill/>
          <a:ln/>
        </p:spPr>
        <p:txBody>
          <a:bodyPr wrap="square" lIns="0" tIns="0" rIns="0" bIns="0" rtlCol="0" anchor="t"/>
          <a:lstStyle/>
          <a:p>
            <a:pPr algn="l" indent="0" marL="0">
              <a:buNone/>
            </a:pPr>
            <a:r>
              <a:rPr lang="en-US" sz="1300" b="1" dirty="0">
                <a:solidFill>
                  <a:srgbClr val="2E3A46"/>
                </a:solidFill>
              </a:rPr>
              <a:t>R13 · description readability</a:t>
            </a:r>
            <a:endParaRPr lang="en-US" sz="1300" dirty="0"/>
          </a:p>
        </p:txBody>
      </p:sp>
      <p:sp>
        <p:nvSpPr>
          <p:cNvPr id="21" name="s8-text-0.999***"/>
          <p:cNvSpPr txBox="1"/>
          <p:nvPr/>
        </p:nvSpPr>
        <p:spPr>
          <a:xfrm>
            <a:off x="3685032" y="4864608"/>
            <a:ext cx="2514600" cy="502920"/>
          </a:xfrm>
          <a:prstGeom prst="rect">
            <a:avLst/>
          </a:prstGeom>
          <a:noFill/>
          <a:ln/>
        </p:spPr>
        <p:txBody>
          <a:bodyPr wrap="square" lIns="0" tIns="0" rIns="0" bIns="0" rtlCol="0" anchor="t"/>
          <a:lstStyle/>
          <a:p>
            <a:pPr algn="l" indent="0" marL="0">
              <a:buNone/>
            </a:pPr>
            <a:r>
              <a:rPr lang="en-US" sz="2600" b="1" dirty="0">
                <a:solidFill>
                  <a:srgbClr val="E63946"/>
                </a:solidFill>
              </a:rPr>
              <a:t>0.999***</a:t>
            </a:r>
            <a:endParaRPr lang="en-US" sz="2600" dirty="0"/>
          </a:p>
        </p:txBody>
      </p:sp>
      <p:graphicFrame>
        <p:nvGraphicFramePr>
          <p:cNvPr id="22" name="s8-chart-ep" descr=""/>
          <p:cNvGraphicFramePr/>
          <p:nvPr/>
        </p:nvGraphicFramePr>
        <p:xfrm>
          <a:off x="6675120" y="1828800"/>
          <a:ext cx="4937760" cy="365760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lIns="0" tIns="0" rIns="0" bIns="0" rtlCol="0" anchor="t"/>
          <a:lstStyle/>
          <a:p>
            <a:pPr algn="l" indent="0" marL="0">
              <a:buNone/>
            </a:pPr>
            <a:r>
              <a:rPr lang="en-US" sz="2800" b="1" dirty="0">
                <a:solidFill>
                  <a:srgbClr val="2E3A46"/>
                </a:solidFill>
              </a:rPr>
              <a:t>An odds ratio of 0.999 per word means ten extra words in a title move a 50% chance of acceptance to 49.75%</a:t>
            </a:r>
            <a:endParaRPr lang="en-US" sz="2800" dirty="0"/>
          </a:p>
        </p:txBody>
      </p:sp>
      <p:pic>
        <p:nvPicPr>
          <p:cNvPr id="3" name="thr-construct" descr="/Users/amberwang/Desktop/paper-review/assets/thr-construct.png">    </p:cNvPr>
          <p:cNvPicPr>
            <a:picLocks noChangeAspect="1"/>
          </p:cNvPicPr>
          <p:nvPr/>
        </p:nvPicPr>
        <p:blipFill>
          <a:blip r:embed="rId1"/>
          <a:stretch>
            <a:fillRect/>
          </a:stretch>
        </p:blipFill>
        <p:spPr>
          <a:xfrm>
            <a:off x="5020056" y="6013791"/>
            <a:ext cx="502920" cy="453978"/>
          </a:xfrm>
          <a:prstGeom prst="rect">
            <a:avLst/>
          </a:prstGeom>
        </p:spPr>
      </p:pic>
      <p:sp>
        <p:nvSpPr>
          <p:cNvPr id="4" name="mark-thr-construct"/>
          <p:cNvSpPr txBox="1"/>
          <p:nvPr/>
        </p:nvSpPr>
        <p:spPr>
          <a:xfrm>
            <a:off x="5372100" y="5928970"/>
            <a:ext cx="226314" cy="226314"/>
          </a:xfrm>
          <a:prstGeom prst="rect">
            <a:avLst/>
          </a:prstGeom>
          <a:noFill/>
          <a:ln/>
        </p:spPr>
        <p:txBody>
          <a:bodyPr wrap="square" lIns="0" tIns="0" rIns="0" bIns="0" rtlCol="0" anchor="ctr"/>
          <a:lstStyle/>
          <a:p>
            <a:pPr algn="ctr" indent="0" marL="0">
              <a:buNone/>
            </a:pPr>
            <a:r>
              <a:rPr lang="en-US" sz="1200" b="1" dirty="0">
                <a:solidFill>
                  <a:srgbClr val="E63946"/>
                </a:solidFill>
              </a:rPr>
              <a:t>✗</a:t>
            </a:r>
            <a:endParaRPr lang="en-US" sz="1200" dirty="0"/>
          </a:p>
        </p:txBody>
      </p:sp>
      <p:pic>
        <p:nvPicPr>
          <p:cNvPr id="5" name="thr-internal" descr="/Users/amberwang/Desktop/paper-review/assets/thr-internal.png">    </p:cNvPr>
          <p:cNvPicPr>
            <a:picLocks noChangeAspect="1"/>
          </p:cNvPicPr>
          <p:nvPr/>
        </p:nvPicPr>
        <p:blipFill>
          <a:blip r:embed="rId2"/>
          <a:stretch>
            <a:fillRect/>
          </a:stretch>
        </p:blipFill>
        <p:spPr>
          <a:xfrm>
            <a:off x="5843016" y="6063695"/>
            <a:ext cx="502920" cy="354169"/>
          </a:xfrm>
          <a:prstGeom prst="rect">
            <a:avLst/>
          </a:prstGeom>
        </p:spPr>
      </p:pic>
      <p:sp>
        <p:nvSpPr>
          <p:cNvPr id="6" name="mark-thr-internal"/>
          <p:cNvSpPr txBox="1"/>
          <p:nvPr/>
        </p:nvSpPr>
        <p:spPr>
          <a:xfrm>
            <a:off x="6195060" y="5928970"/>
            <a:ext cx="226314" cy="226314"/>
          </a:xfrm>
          <a:prstGeom prst="rect">
            <a:avLst/>
          </a:prstGeom>
          <a:noFill/>
          <a:ln/>
        </p:spPr>
        <p:txBody>
          <a:bodyPr wrap="square" lIns="0" tIns="0" rIns="0" bIns="0" rtlCol="0" anchor="ctr"/>
          <a:lstStyle/>
          <a:p>
            <a:pPr algn="ctr" indent="0" marL="0">
              <a:buNone/>
            </a:pPr>
            <a:r>
              <a:rPr lang="en-US" sz="1200" b="1" dirty="0">
                <a:solidFill>
                  <a:srgbClr val="E63946"/>
                </a:solidFill>
              </a:rPr>
              <a:t>✗</a:t>
            </a:r>
            <a:endParaRPr lang="en-US" sz="1200" dirty="0"/>
          </a:p>
        </p:txBody>
      </p:sp>
      <p:pic>
        <p:nvPicPr>
          <p:cNvPr id="7" name="thr-conclusion" descr="/Users/amberwang/Desktop/paper-review/assets/thr-conclusion.png">    </p:cNvPr>
          <p:cNvPicPr>
            <a:picLocks noChangeAspect="1"/>
          </p:cNvPicPr>
          <p:nvPr/>
        </p:nvPicPr>
        <p:blipFill>
          <a:blip r:embed="rId3"/>
          <a:stretch>
            <a:fillRect/>
          </a:stretch>
        </p:blipFill>
        <p:spPr>
          <a:xfrm>
            <a:off x="10799409" y="274320"/>
            <a:ext cx="986862" cy="1005840"/>
          </a:xfrm>
          <a:prstGeom prst="rect">
            <a:avLst/>
          </a:prstGeom>
        </p:spPr>
      </p:pic>
      <p:sp>
        <p:nvSpPr>
          <p:cNvPr id="8" name="s9-pr-short"/>
          <p:cNvSpPr/>
          <p:nvPr/>
        </p:nvSpPr>
        <p:spPr>
          <a:xfrm>
            <a:off x="548640" y="1920240"/>
            <a:ext cx="5852160" cy="914400"/>
          </a:xfrm>
          <a:prstGeom prst="roundRect">
            <a:avLst>
              <a:gd name="adj" fmla="val 8000"/>
            </a:avLst>
          </a:prstGeom>
          <a:solidFill>
            <a:srgbClr val="FFFFFF"/>
          </a:solidFill>
          <a:ln w="12700">
            <a:solidFill>
              <a:srgbClr val="9AA5B1"/>
            </a:solidFill>
            <a:prstDash val="solid"/>
          </a:ln>
        </p:spPr>
      </p:sp>
      <p:pic>
        <p:nvPicPr>
          <p:cNvPr id="9" name="s9-icon-patch" descr="/Users/amberwang/Desktop/paper-review/assets/icon-patch.png">    </p:cNvPr>
          <p:cNvPicPr>
            <a:picLocks noChangeAspect="1"/>
          </p:cNvPicPr>
          <p:nvPr/>
        </p:nvPicPr>
        <p:blipFill>
          <a:blip r:embed="rId4"/>
          <a:stretch>
            <a:fillRect/>
          </a:stretch>
        </p:blipFill>
        <p:spPr>
          <a:xfrm>
            <a:off x="685800" y="2062262"/>
            <a:ext cx="548640" cy="621211"/>
          </a:xfrm>
          <a:prstGeom prst="rect">
            <a:avLst/>
          </a:prstGeom>
        </p:spPr>
      </p:pic>
      <p:sp>
        <p:nvSpPr>
          <p:cNvPr id="10" name="s9-text-Fix broken link in"/>
          <p:cNvSpPr txBox="1"/>
          <p:nvPr/>
        </p:nvSpPr>
        <p:spPr>
          <a:xfrm>
            <a:off x="1371600" y="2057400"/>
            <a:ext cx="3931920" cy="640080"/>
          </a:xfrm>
          <a:prstGeom prst="rect">
            <a:avLst/>
          </a:prstGeom>
          <a:noFill/>
          <a:ln/>
        </p:spPr>
        <p:txBody>
          <a:bodyPr wrap="square" lIns="0" tIns="0" rIns="0" bIns="0" rtlCol="0" anchor="ctr"/>
          <a:lstStyle/>
          <a:p>
            <a:pPr algn="l" indent="0" marL="0">
              <a:buNone/>
            </a:pPr>
            <a:r>
              <a:rPr lang="en-US" sz="1800" b="1" dirty="0">
                <a:solidFill>
                  <a:srgbClr val="2E3A46"/>
                </a:solidFill>
              </a:rPr>
              <a:t>Fix broken link in README</a:t>
            </a:r>
            <a:endParaRPr lang="en-US" sz="1800" dirty="0"/>
          </a:p>
        </p:txBody>
      </p:sp>
      <p:sp>
        <p:nvSpPr>
          <p:cNvPr id="11" name="s9-text-5 words"/>
          <p:cNvSpPr txBox="1"/>
          <p:nvPr/>
        </p:nvSpPr>
        <p:spPr>
          <a:xfrm>
            <a:off x="5303520" y="2057400"/>
            <a:ext cx="960120" cy="640080"/>
          </a:xfrm>
          <a:prstGeom prst="rect">
            <a:avLst/>
          </a:prstGeom>
          <a:noFill/>
          <a:ln/>
        </p:spPr>
        <p:txBody>
          <a:bodyPr wrap="square" lIns="0" tIns="0" rIns="0" bIns="0" rtlCol="0" anchor="ctr"/>
          <a:lstStyle/>
          <a:p>
            <a:pPr algn="r" indent="0" marL="0">
              <a:buNone/>
            </a:pPr>
            <a:r>
              <a:rPr lang="en-US" sz="1400" dirty="0">
                <a:solidFill>
                  <a:srgbClr val="9AA5B1"/>
                </a:solidFill>
              </a:rPr>
              <a:t>5 words</a:t>
            </a:r>
            <a:endParaRPr lang="en-US" sz="1400" dirty="0"/>
          </a:p>
        </p:txBody>
      </p:sp>
      <p:sp>
        <p:nvSpPr>
          <p:cNvPr id="12" name="s9-pr-long"/>
          <p:cNvSpPr/>
          <p:nvPr/>
        </p:nvSpPr>
        <p:spPr>
          <a:xfrm>
            <a:off x="548640" y="3108960"/>
            <a:ext cx="5852160" cy="1280160"/>
          </a:xfrm>
          <a:prstGeom prst="roundRect">
            <a:avLst>
              <a:gd name="adj" fmla="val 5714"/>
            </a:avLst>
          </a:prstGeom>
          <a:solidFill>
            <a:srgbClr val="FFFFFF"/>
          </a:solidFill>
          <a:ln w="12700">
            <a:solidFill>
              <a:srgbClr val="9AA5B1"/>
            </a:solidFill>
            <a:prstDash val="solid"/>
          </a:ln>
        </p:spPr>
      </p:sp>
      <p:pic>
        <p:nvPicPr>
          <p:cNvPr id="13" name="s9-icon-patch" descr="/Users/amberwang/Desktop/paper-review/assets/icon-patch.png">    </p:cNvPr>
          <p:cNvPicPr>
            <a:picLocks noChangeAspect="1"/>
          </p:cNvPicPr>
          <p:nvPr/>
        </p:nvPicPr>
        <p:blipFill>
          <a:blip r:embed="rId5"/>
          <a:stretch>
            <a:fillRect/>
          </a:stretch>
        </p:blipFill>
        <p:spPr>
          <a:xfrm>
            <a:off x="685800" y="3415574"/>
            <a:ext cx="548640" cy="621211"/>
          </a:xfrm>
          <a:prstGeom prst="rect">
            <a:avLst/>
          </a:prstGeom>
        </p:spPr>
      </p:pic>
      <p:sp>
        <p:nvSpPr>
          <p:cNvPr id="14" name="s9-text-Fix broken link in"/>
          <p:cNvSpPr txBox="1"/>
          <p:nvPr/>
        </p:nvSpPr>
        <p:spPr>
          <a:xfrm>
            <a:off x="1371600" y="3200400"/>
            <a:ext cx="3931920" cy="1097280"/>
          </a:xfrm>
          <a:prstGeom prst="rect">
            <a:avLst/>
          </a:prstGeom>
          <a:noFill/>
          <a:ln/>
        </p:spPr>
        <p:txBody>
          <a:bodyPr wrap="square" lIns="0" tIns="0" rIns="0" bIns="0" rtlCol="0" anchor="ctr"/>
          <a:lstStyle/>
          <a:p>
            <a:pPr algn="l" indent="0" marL="0">
              <a:buNone/>
            </a:pPr>
            <a:r>
              <a:rPr lang="en-US" sz="1800" b="1" dirty="0">
                <a:solidFill>
                  <a:srgbClr val="2E3A46"/>
                </a:solidFill>
              </a:rPr>
              <a:t>Fix broken link in README that points to the old installation guide for Windows users</a:t>
            </a:r>
            <a:endParaRPr lang="en-US" sz="1800" dirty="0"/>
          </a:p>
        </p:txBody>
      </p:sp>
      <p:sp>
        <p:nvSpPr>
          <p:cNvPr id="15" name="s9-text-15 words"/>
          <p:cNvSpPr txBox="1"/>
          <p:nvPr/>
        </p:nvSpPr>
        <p:spPr>
          <a:xfrm>
            <a:off x="5303520" y="3200400"/>
            <a:ext cx="960120" cy="1097280"/>
          </a:xfrm>
          <a:prstGeom prst="rect">
            <a:avLst/>
          </a:prstGeom>
          <a:noFill/>
          <a:ln/>
        </p:spPr>
        <p:txBody>
          <a:bodyPr wrap="square" lIns="0" tIns="0" rIns="0" bIns="0" rtlCol="0" anchor="ctr"/>
          <a:lstStyle/>
          <a:p>
            <a:pPr algn="r" indent="0" marL="0">
              <a:buNone/>
            </a:pPr>
            <a:r>
              <a:rPr lang="en-US" sz="1400" dirty="0">
                <a:solidFill>
                  <a:srgbClr val="9AA5B1"/>
                </a:solidFill>
              </a:rPr>
              <a:t>15 words</a:t>
            </a:r>
            <a:endParaRPr lang="en-US" sz="1400" dirty="0"/>
          </a:p>
        </p:txBody>
      </p:sp>
      <p:sp>
        <p:nvSpPr>
          <p:cNvPr id="16" name="s9-stat-before"/>
          <p:cNvSpPr txBox="1"/>
          <p:nvPr/>
        </p:nvSpPr>
        <p:spPr>
          <a:xfrm>
            <a:off x="6675120" y="1920240"/>
            <a:ext cx="2103120" cy="914400"/>
          </a:xfrm>
          <a:prstGeom prst="rect">
            <a:avLst/>
          </a:prstGeom>
          <a:noFill/>
          <a:ln/>
        </p:spPr>
        <p:txBody>
          <a:bodyPr wrap="square" lIns="0" tIns="0" rIns="0" bIns="0" rtlCol="0" anchor="ctr"/>
          <a:lstStyle/>
          <a:p>
            <a:pPr algn="ctr" indent="0" marL="0">
              <a:buNone/>
            </a:pPr>
            <a:r>
              <a:rPr lang="en-US" sz="4800" b="1" dirty="0">
                <a:solidFill>
                  <a:srgbClr val="9AA5B1"/>
                </a:solidFill>
              </a:rPr>
              <a:t>50.0%</a:t>
            </a:r>
            <a:endParaRPr lang="en-US" sz="4800" dirty="0"/>
          </a:p>
        </p:txBody>
      </p:sp>
      <p:sp>
        <p:nvSpPr>
          <p:cNvPr id="17" name="s9-arrow"/>
          <p:cNvSpPr/>
          <p:nvPr/>
        </p:nvSpPr>
        <p:spPr>
          <a:xfrm>
            <a:off x="8823960" y="2221992"/>
            <a:ext cx="502920" cy="320040"/>
          </a:xfrm>
          <a:prstGeom prst="rightArrow">
            <a:avLst/>
          </a:prstGeom>
          <a:solidFill>
            <a:srgbClr val="4A6FA5"/>
          </a:solidFill>
          <a:ln w="12700">
            <a:solidFill>
              <a:srgbClr val="4A6FA5"/>
            </a:solidFill>
            <a:prstDash val="solid"/>
          </a:ln>
        </p:spPr>
      </p:sp>
      <p:sp>
        <p:nvSpPr>
          <p:cNvPr id="18" name="s9-stat-after"/>
          <p:cNvSpPr txBox="1"/>
          <p:nvPr/>
        </p:nvSpPr>
        <p:spPr>
          <a:xfrm>
            <a:off x="9418320" y="1920240"/>
            <a:ext cx="2286000" cy="914400"/>
          </a:xfrm>
          <a:prstGeom prst="rect">
            <a:avLst/>
          </a:prstGeom>
          <a:noFill/>
          <a:ln/>
        </p:spPr>
        <p:txBody>
          <a:bodyPr wrap="square" lIns="0" tIns="0" rIns="0" bIns="0" rtlCol="0" anchor="ctr"/>
          <a:lstStyle/>
          <a:p>
            <a:pPr algn="ctr" indent="0" marL="0">
              <a:buNone/>
            </a:pPr>
            <a:r>
              <a:rPr lang="en-US" sz="4800" b="1" dirty="0">
                <a:solidFill>
                  <a:srgbClr val="E63946"/>
                </a:solidFill>
              </a:rPr>
              <a:t>49.75%</a:t>
            </a:r>
            <a:endParaRPr lang="en-US" sz="4800" dirty="0"/>
          </a:p>
        </p:txBody>
      </p:sp>
      <p:sp>
        <p:nvSpPr>
          <p:cNvPr id="19" name="s9-text-chance of acceptan"/>
          <p:cNvSpPr txBox="1"/>
          <p:nvPr/>
        </p:nvSpPr>
        <p:spPr>
          <a:xfrm>
            <a:off x="6675120" y="2880360"/>
            <a:ext cx="5029200" cy="320040"/>
          </a:xfrm>
          <a:prstGeom prst="rect">
            <a:avLst/>
          </a:prstGeom>
          <a:noFill/>
          <a:ln/>
        </p:spPr>
        <p:txBody>
          <a:bodyPr wrap="square" lIns="0" tIns="0" rIns="0" bIns="0" rtlCol="0" anchor="t"/>
          <a:lstStyle/>
          <a:p>
            <a:pPr algn="ctr" indent="0" marL="0">
              <a:buNone/>
            </a:pPr>
            <a:r>
              <a:rPr lang="en-US" sz="1500" dirty="0">
                <a:solidFill>
                  <a:srgbClr val="2E3A46"/>
                </a:solidFill>
              </a:rPr>
              <a:t>chance of acceptance</a:t>
            </a:r>
            <a:endParaRPr lang="en-US" sz="1500" dirty="0"/>
          </a:p>
        </p:txBody>
      </p:sp>
      <p:sp>
        <p:nvSpPr>
          <p:cNvPr id="20" name="s9-working"/>
          <p:cNvSpPr/>
          <p:nvPr/>
        </p:nvSpPr>
        <p:spPr>
          <a:xfrm>
            <a:off x="6675120" y="3474720"/>
            <a:ext cx="5029200" cy="822960"/>
          </a:xfrm>
          <a:prstGeom prst="roundRect">
            <a:avLst>
              <a:gd name="adj" fmla="val 8889"/>
            </a:avLst>
          </a:prstGeom>
          <a:solidFill>
            <a:srgbClr val="EEF3F8"/>
          </a:solidFill>
          <a:ln/>
        </p:spPr>
      </p:sp>
      <p:sp>
        <p:nvSpPr>
          <p:cNvPr id="21" name="s9-text-odds × 0.999¹⁰ = 0"/>
          <p:cNvSpPr txBox="1"/>
          <p:nvPr/>
        </p:nvSpPr>
        <p:spPr>
          <a:xfrm>
            <a:off x="6858000" y="3520440"/>
            <a:ext cx="4663440" cy="731520"/>
          </a:xfrm>
          <a:prstGeom prst="rect">
            <a:avLst/>
          </a:prstGeom>
          <a:noFill/>
          <a:ln/>
        </p:spPr>
        <p:txBody>
          <a:bodyPr wrap="square" lIns="0" tIns="0" rIns="0" bIns="0" rtlCol="0" anchor="ctr"/>
          <a:lstStyle/>
          <a:p>
            <a:pPr algn="ctr" indent="0" marL="0">
              <a:buNone/>
            </a:pPr>
            <a:r>
              <a:rPr lang="en-US" sz="2200" b="1" dirty="0">
                <a:solidFill>
                  <a:srgbClr val="4A6FA5"/>
                </a:solidFill>
              </a:rPr>
              <a:t>odds × 0.999¹⁰ = 0.990</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lIns="0" tIns="0" rIns="0" bIns="0" rtlCol="0" anchor="t"/>
          <a:lstStyle/>
          <a:p>
            <a:pPr algn="l" indent="0" marL="0">
              <a:buNone/>
            </a:pPr>
            <a:r>
              <a:rPr lang="en-US" sz="2800" b="1" dirty="0">
                <a:solidFill>
                  <a:srgbClr val="2E3A46"/>
                </a:solidFill>
              </a:rPr>
              <a:t>It still passes p &lt; 0.001 because with 262,013 newcomers almost any difference does, just as a coin landing heads 50.4% of the time looks “unfair” after 262,013 flips</a:t>
            </a:r>
            <a:endParaRPr lang="en-US" sz="2800" dirty="0"/>
          </a:p>
        </p:txBody>
      </p:sp>
      <p:pic>
        <p:nvPicPr>
          <p:cNvPr id="3" name="thr-construct" descr="/Users/amberwang/Desktop/paper-review/assets/thr-construct.png">    </p:cNvPr>
          <p:cNvPicPr>
            <a:picLocks noChangeAspect="1"/>
          </p:cNvPicPr>
          <p:nvPr/>
        </p:nvPicPr>
        <p:blipFill>
          <a:blip r:embed="rId1"/>
          <a:stretch>
            <a:fillRect/>
          </a:stretch>
        </p:blipFill>
        <p:spPr>
          <a:xfrm>
            <a:off x="5020056" y="6013791"/>
            <a:ext cx="502920" cy="453978"/>
          </a:xfrm>
          <a:prstGeom prst="rect">
            <a:avLst/>
          </a:prstGeom>
        </p:spPr>
      </p:pic>
      <p:sp>
        <p:nvSpPr>
          <p:cNvPr id="4" name="mark-thr-construct"/>
          <p:cNvSpPr txBox="1"/>
          <p:nvPr/>
        </p:nvSpPr>
        <p:spPr>
          <a:xfrm>
            <a:off x="5372100" y="5928970"/>
            <a:ext cx="226314" cy="226314"/>
          </a:xfrm>
          <a:prstGeom prst="rect">
            <a:avLst/>
          </a:prstGeom>
          <a:noFill/>
          <a:ln/>
        </p:spPr>
        <p:txBody>
          <a:bodyPr wrap="square" lIns="0" tIns="0" rIns="0" bIns="0" rtlCol="0" anchor="ctr"/>
          <a:lstStyle/>
          <a:p>
            <a:pPr algn="ctr" indent="0" marL="0">
              <a:buNone/>
            </a:pPr>
            <a:r>
              <a:rPr lang="en-US" sz="1200" b="1" dirty="0">
                <a:solidFill>
                  <a:srgbClr val="E63946"/>
                </a:solidFill>
              </a:rPr>
              <a:t>✗</a:t>
            </a:r>
            <a:endParaRPr lang="en-US" sz="1200" dirty="0"/>
          </a:p>
        </p:txBody>
      </p:sp>
      <p:pic>
        <p:nvPicPr>
          <p:cNvPr id="5" name="thr-internal" descr="/Users/amberwang/Desktop/paper-review/assets/thr-internal.png">    </p:cNvPr>
          <p:cNvPicPr>
            <a:picLocks noChangeAspect="1"/>
          </p:cNvPicPr>
          <p:nvPr/>
        </p:nvPicPr>
        <p:blipFill>
          <a:blip r:embed="rId2"/>
          <a:stretch>
            <a:fillRect/>
          </a:stretch>
        </p:blipFill>
        <p:spPr>
          <a:xfrm>
            <a:off x="5843016" y="6063695"/>
            <a:ext cx="502920" cy="354169"/>
          </a:xfrm>
          <a:prstGeom prst="rect">
            <a:avLst/>
          </a:prstGeom>
        </p:spPr>
      </p:pic>
      <p:sp>
        <p:nvSpPr>
          <p:cNvPr id="6" name="mark-thr-internal"/>
          <p:cNvSpPr txBox="1"/>
          <p:nvPr/>
        </p:nvSpPr>
        <p:spPr>
          <a:xfrm>
            <a:off x="6195060" y="5928970"/>
            <a:ext cx="226314" cy="226314"/>
          </a:xfrm>
          <a:prstGeom prst="rect">
            <a:avLst/>
          </a:prstGeom>
          <a:noFill/>
          <a:ln/>
        </p:spPr>
        <p:txBody>
          <a:bodyPr wrap="square" lIns="0" tIns="0" rIns="0" bIns="0" rtlCol="0" anchor="ctr"/>
          <a:lstStyle/>
          <a:p>
            <a:pPr algn="ctr" indent="0" marL="0">
              <a:buNone/>
            </a:pPr>
            <a:r>
              <a:rPr lang="en-US" sz="1200" b="1" dirty="0">
                <a:solidFill>
                  <a:srgbClr val="E63946"/>
                </a:solidFill>
              </a:rPr>
              <a:t>✗</a:t>
            </a:r>
            <a:endParaRPr lang="en-US" sz="1200" dirty="0"/>
          </a:p>
        </p:txBody>
      </p:sp>
      <p:pic>
        <p:nvPicPr>
          <p:cNvPr id="7" name="thr-conclusion" descr="/Users/amberwang/Desktop/paper-review/assets/thr-conclusion.png">    </p:cNvPr>
          <p:cNvPicPr>
            <a:picLocks noChangeAspect="1"/>
          </p:cNvPicPr>
          <p:nvPr/>
        </p:nvPicPr>
        <p:blipFill>
          <a:blip r:embed="rId3"/>
          <a:stretch>
            <a:fillRect/>
          </a:stretch>
        </p:blipFill>
        <p:spPr>
          <a:xfrm>
            <a:off x="10799409" y="274320"/>
            <a:ext cx="986862" cy="1005840"/>
          </a:xfrm>
          <a:prstGeom prst="rect">
            <a:avLst/>
          </a:prstGeom>
        </p:spPr>
      </p:pic>
      <p:sp>
        <p:nvSpPr>
          <p:cNvPr id="8" name="mark-thr-conclusion"/>
          <p:cNvSpPr txBox="1"/>
          <p:nvPr/>
        </p:nvSpPr>
        <p:spPr>
          <a:xfrm>
            <a:off x="11494008" y="153619"/>
            <a:ext cx="452628" cy="452628"/>
          </a:xfrm>
          <a:prstGeom prst="rect">
            <a:avLst/>
          </a:prstGeom>
          <a:noFill/>
          <a:ln/>
        </p:spPr>
        <p:txBody>
          <a:bodyPr wrap="square" lIns="0" tIns="0" rIns="0" bIns="0" rtlCol="0" anchor="ctr"/>
          <a:lstStyle/>
          <a:p>
            <a:pPr algn="ctr" indent="0" marL="0">
              <a:buNone/>
            </a:pPr>
            <a:r>
              <a:rPr lang="en-US" sz="2200" b="1" dirty="0">
                <a:solidFill>
                  <a:srgbClr val="E63946"/>
                </a:solidFill>
              </a:rPr>
              <a:t>✗</a:t>
            </a:r>
            <a:endParaRPr lang="en-US" sz="2200" dirty="0"/>
          </a:p>
        </p:txBody>
      </p:sp>
      <p:sp>
        <p:nvSpPr>
          <p:cNvPr id="9" name="s10-coin-back"/>
          <p:cNvSpPr/>
          <p:nvPr/>
        </p:nvSpPr>
        <p:spPr>
          <a:xfrm>
            <a:off x="1417320" y="2103120"/>
            <a:ext cx="1600200" cy="1600200"/>
          </a:xfrm>
          <a:prstGeom prst="ellipse">
            <a:avLst/>
          </a:prstGeom>
          <a:solidFill>
            <a:srgbClr val="CFE3F0"/>
          </a:solidFill>
          <a:ln w="25400">
            <a:solidFill>
              <a:srgbClr val="4A6FA5"/>
            </a:solidFill>
            <a:prstDash val="solid"/>
          </a:ln>
        </p:spPr>
      </p:sp>
      <p:sp>
        <p:nvSpPr>
          <p:cNvPr id="10" name="s10-coin"/>
          <p:cNvSpPr/>
          <p:nvPr/>
        </p:nvSpPr>
        <p:spPr>
          <a:xfrm>
            <a:off x="1188720" y="1965960"/>
            <a:ext cx="1600200" cy="1600200"/>
          </a:xfrm>
          <a:prstGeom prst="ellipse">
            <a:avLst/>
          </a:prstGeom>
          <a:solidFill>
            <a:srgbClr val="FFFFFF"/>
          </a:solidFill>
          <a:ln w="38100">
            <a:solidFill>
              <a:srgbClr val="4A6FA5"/>
            </a:solidFill>
          </a:ln>
        </p:spPr>
        <p:txBody>
          <a:bodyPr wrap="square" rtlCol="0" anchor="ctr"/>
          <a:lstStyle/>
          <a:p>
            <a:pPr algn="ctr" indent="0" marL="0">
              <a:buNone/>
            </a:pPr>
            <a:r>
              <a:rPr lang="en-US" sz="5400" b="1" dirty="0">
                <a:solidFill>
                  <a:srgbClr val="4A6FA5"/>
                </a:solidFill>
              </a:rPr>
              <a:t>H</a:t>
            </a:r>
            <a:endParaRPr lang="en-US" sz="5400" dirty="0"/>
          </a:p>
        </p:txBody>
      </p:sp>
      <p:sp>
        <p:nvSpPr>
          <p:cNvPr id="11" name="s10-text-262,013 flips"/>
          <p:cNvSpPr txBox="1"/>
          <p:nvPr/>
        </p:nvSpPr>
        <p:spPr>
          <a:xfrm>
            <a:off x="548640" y="3886200"/>
            <a:ext cx="3108960" cy="365760"/>
          </a:xfrm>
          <a:prstGeom prst="rect">
            <a:avLst/>
          </a:prstGeom>
          <a:noFill/>
          <a:ln/>
        </p:spPr>
        <p:txBody>
          <a:bodyPr wrap="square" lIns="0" tIns="0" rIns="0" bIns="0" rtlCol="0" anchor="t"/>
          <a:lstStyle/>
          <a:p>
            <a:pPr algn="ctr" indent="0" marL="0">
              <a:buNone/>
            </a:pPr>
            <a:r>
              <a:rPr lang="en-US" sz="2000" b="1" dirty="0">
                <a:solidFill>
                  <a:srgbClr val="2E3A46"/>
                </a:solidFill>
              </a:rPr>
              <a:t>262,013 flips</a:t>
            </a:r>
            <a:endParaRPr lang="en-US" sz="2000" dirty="0"/>
          </a:p>
        </p:txBody>
      </p:sp>
      <p:sp>
        <p:nvSpPr>
          <p:cNvPr id="12" name="s10-text-50.4% heads"/>
          <p:cNvSpPr txBox="1"/>
          <p:nvPr/>
        </p:nvSpPr>
        <p:spPr>
          <a:xfrm>
            <a:off x="548640" y="4297680"/>
            <a:ext cx="3108960" cy="320040"/>
          </a:xfrm>
          <a:prstGeom prst="rect">
            <a:avLst/>
          </a:prstGeom>
          <a:noFill/>
          <a:ln/>
        </p:spPr>
        <p:txBody>
          <a:bodyPr wrap="square" lIns="0" tIns="0" rIns="0" bIns="0" rtlCol="0" anchor="t"/>
          <a:lstStyle/>
          <a:p>
            <a:pPr algn="ctr" indent="0" marL="0">
              <a:buNone/>
            </a:pPr>
            <a:r>
              <a:rPr lang="en-US" sz="1700" dirty="0">
                <a:solidFill>
                  <a:srgbClr val="2E3A46"/>
                </a:solidFill>
              </a:rPr>
              <a:t>50.4% heads</a:t>
            </a:r>
            <a:endParaRPr lang="en-US" sz="1700" dirty="0"/>
          </a:p>
        </p:txBody>
      </p:sp>
      <p:sp>
        <p:nvSpPr>
          <p:cNvPr id="13" name="s10-stat-p"/>
          <p:cNvSpPr txBox="1"/>
          <p:nvPr/>
        </p:nvSpPr>
        <p:spPr>
          <a:xfrm>
            <a:off x="3931920" y="2194560"/>
            <a:ext cx="3657600" cy="822960"/>
          </a:xfrm>
          <a:prstGeom prst="rect">
            <a:avLst/>
          </a:prstGeom>
          <a:noFill/>
          <a:ln/>
        </p:spPr>
        <p:txBody>
          <a:bodyPr wrap="square" lIns="0" tIns="0" rIns="0" bIns="0" rtlCol="0" anchor="ctr"/>
          <a:lstStyle/>
          <a:p>
            <a:pPr algn="ctr" indent="0" marL="0">
              <a:buNone/>
            </a:pPr>
            <a:r>
              <a:rPr lang="en-US" sz="4400" b="1" dirty="0">
                <a:solidFill>
                  <a:srgbClr val="E63946"/>
                </a:solidFill>
              </a:rPr>
              <a:t>p ≈ 0.00004</a:t>
            </a:r>
            <a:endParaRPr lang="en-US" sz="4400" dirty="0"/>
          </a:p>
        </p:txBody>
      </p:sp>
      <p:sp>
        <p:nvSpPr>
          <p:cNvPr id="14" name="s10-text-“significantly unf"/>
          <p:cNvSpPr txBox="1"/>
          <p:nvPr/>
        </p:nvSpPr>
        <p:spPr>
          <a:xfrm>
            <a:off x="3931920" y="3063240"/>
            <a:ext cx="3657600" cy="365760"/>
          </a:xfrm>
          <a:prstGeom prst="rect">
            <a:avLst/>
          </a:prstGeom>
          <a:noFill/>
          <a:ln/>
        </p:spPr>
        <p:txBody>
          <a:bodyPr wrap="square" lIns="0" tIns="0" rIns="0" bIns="0" rtlCol="0" anchor="t"/>
          <a:lstStyle/>
          <a:p>
            <a:pPr algn="ctr" indent="0" marL="0">
              <a:buNone/>
            </a:pPr>
            <a:r>
              <a:rPr lang="en-US" sz="1700" dirty="0">
                <a:solidFill>
                  <a:srgbClr val="2E3A46"/>
                </a:solidFill>
              </a:rPr>
              <a:t>“significantly unfair”</a:t>
            </a:r>
            <a:endParaRPr lang="en-US" sz="1700" dirty="0"/>
          </a:p>
        </p:txBody>
      </p:sp>
      <p:sp>
        <p:nvSpPr>
          <p:cNvPr id="15" name="s10-text-="/>
          <p:cNvSpPr txBox="1"/>
          <p:nvPr/>
        </p:nvSpPr>
        <p:spPr>
          <a:xfrm>
            <a:off x="7589520" y="2194560"/>
            <a:ext cx="548640" cy="822960"/>
          </a:xfrm>
          <a:prstGeom prst="rect">
            <a:avLst/>
          </a:prstGeom>
          <a:noFill/>
          <a:ln/>
        </p:spPr>
        <p:txBody>
          <a:bodyPr wrap="square" lIns="0" tIns="0" rIns="0" bIns="0" rtlCol="0" anchor="ctr"/>
          <a:lstStyle/>
          <a:p>
            <a:pPr algn="ctr" indent="0" marL="0">
              <a:buNone/>
            </a:pPr>
            <a:r>
              <a:rPr lang="en-US" sz="4400" b="1" dirty="0">
                <a:solidFill>
                  <a:srgbClr val="9AA5B1"/>
                </a:solidFill>
              </a:rPr>
              <a:t>=</a:t>
            </a:r>
            <a:endParaRPr lang="en-US" sz="4400" dirty="0"/>
          </a:p>
        </p:txBody>
      </p:sp>
      <p:sp>
        <p:nvSpPr>
          <p:cNvPr id="16" name="s10-stat-n"/>
          <p:cNvSpPr txBox="1"/>
          <p:nvPr/>
        </p:nvSpPr>
        <p:spPr>
          <a:xfrm>
            <a:off x="8138160" y="2194560"/>
            <a:ext cx="3474720" cy="822960"/>
          </a:xfrm>
          <a:prstGeom prst="rect">
            <a:avLst/>
          </a:prstGeom>
          <a:noFill/>
          <a:ln/>
        </p:spPr>
        <p:txBody>
          <a:bodyPr wrap="square" lIns="0" tIns="0" rIns="0" bIns="0" rtlCol="0" anchor="ctr"/>
          <a:lstStyle/>
          <a:p>
            <a:pPr algn="ctr" indent="0" marL="0">
              <a:buNone/>
            </a:pPr>
            <a:r>
              <a:rPr lang="en-US" sz="4400" b="1" dirty="0">
                <a:solidFill>
                  <a:srgbClr val="2E3A46"/>
                </a:solidFill>
              </a:rPr>
              <a:t>262,013</a:t>
            </a:r>
            <a:endParaRPr lang="en-US" sz="4400" dirty="0"/>
          </a:p>
        </p:txBody>
      </p:sp>
      <p:sp>
        <p:nvSpPr>
          <p:cNvPr id="17" name="s10-text-newcomers in GitHu"/>
          <p:cNvSpPr txBox="1"/>
          <p:nvPr/>
        </p:nvSpPr>
        <p:spPr>
          <a:xfrm>
            <a:off x="8138160" y="3063240"/>
            <a:ext cx="3474720" cy="365760"/>
          </a:xfrm>
          <a:prstGeom prst="rect">
            <a:avLst/>
          </a:prstGeom>
          <a:noFill/>
          <a:ln/>
        </p:spPr>
        <p:txBody>
          <a:bodyPr wrap="square" lIns="0" tIns="0" rIns="0" bIns="0" rtlCol="0" anchor="t"/>
          <a:lstStyle/>
          <a:p>
            <a:pPr algn="ctr" indent="0" marL="0">
              <a:buNone/>
            </a:pPr>
            <a:r>
              <a:rPr lang="en-US" sz="1700" dirty="0">
                <a:solidFill>
                  <a:srgbClr val="2E3A46"/>
                </a:solidFill>
              </a:rPr>
              <a:t>newcomers in GitHub(H)</a:t>
            </a:r>
            <a:endParaRPr lang="en-US" sz="1700" dirty="0"/>
          </a:p>
        </p:txBody>
      </p:sp>
      <p:sp>
        <p:nvSpPr>
          <p:cNvPr id="18" name="s10-takeaway"/>
          <p:cNvSpPr/>
          <p:nvPr/>
        </p:nvSpPr>
        <p:spPr>
          <a:xfrm>
            <a:off x="2194560" y="4663440"/>
            <a:ext cx="7772400" cy="731520"/>
          </a:xfrm>
          <a:prstGeom prst="roundRect">
            <a:avLst>
              <a:gd name="adj" fmla="val 12500"/>
            </a:avLst>
          </a:prstGeom>
          <a:solidFill>
            <a:srgbClr val="CFE3F0"/>
          </a:solidFill>
          <a:ln/>
        </p:spPr>
        <p:txBody>
          <a:bodyPr wrap="square" rtlCol="0" anchor="ctr"/>
          <a:lstStyle/>
          <a:p>
            <a:pPr algn="ctr" indent="0" marL="0">
              <a:buNone/>
            </a:pPr>
            <a:r>
              <a:rPr lang="en-US" sz="2400" b="1" dirty="0">
                <a:solidFill>
                  <a:srgbClr val="4A6FA5"/>
                </a:solidFill>
              </a:rPr>
              <a:t>significant is not the same as important</a:t>
            </a:r>
            <a:endParaRPr lang="en-US" sz="2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0058400" cy="1463040"/>
          </a:xfrm>
          <a:prstGeom prst="rect">
            <a:avLst/>
          </a:prstGeom>
          <a:noFill/>
          <a:ln/>
        </p:spPr>
        <p:txBody>
          <a:bodyPr wrap="square" lIns="0" tIns="0" rIns="0" bIns="0" rtlCol="0" anchor="t"/>
          <a:lstStyle/>
          <a:p>
            <a:pPr algn="l" indent="0" marL="0">
              <a:buNone/>
            </a:pPr>
            <a:r>
              <a:rPr lang="en-US" sz="2800" b="1" dirty="0">
                <a:solidFill>
                  <a:srgbClr val="2E3A46"/>
                </a:solidFill>
              </a:rPr>
              <a:t>The paper shows which patches get accepted, not which newcomers stay, so both claims should be rewritten before it is accepted</a:t>
            </a:r>
            <a:endParaRPr lang="en-US" sz="2800" dirty="0"/>
          </a:p>
        </p:txBody>
      </p:sp>
      <p:pic>
        <p:nvPicPr>
          <p:cNvPr id="3" name="thr-construct" descr="/Users/amberwang/Desktop/paper-review/assets/thr-construct.png">    </p:cNvPr>
          <p:cNvPicPr>
            <a:picLocks noChangeAspect="1"/>
          </p:cNvPicPr>
          <p:nvPr/>
        </p:nvPicPr>
        <p:blipFill>
          <a:blip r:embed="rId1"/>
          <a:stretch>
            <a:fillRect/>
          </a:stretch>
        </p:blipFill>
        <p:spPr>
          <a:xfrm>
            <a:off x="2253996" y="1973631"/>
            <a:ext cx="1097280" cy="990498"/>
          </a:xfrm>
          <a:prstGeom prst="rect">
            <a:avLst/>
          </a:prstGeom>
        </p:spPr>
      </p:pic>
      <p:sp>
        <p:nvSpPr>
          <p:cNvPr id="4" name="lbl-thr-construct"/>
          <p:cNvSpPr txBox="1"/>
          <p:nvPr/>
        </p:nvSpPr>
        <p:spPr>
          <a:xfrm>
            <a:off x="1202436" y="3154680"/>
            <a:ext cx="3200400" cy="365760"/>
          </a:xfrm>
          <a:prstGeom prst="rect">
            <a:avLst/>
          </a:prstGeom>
          <a:noFill/>
          <a:ln/>
        </p:spPr>
        <p:txBody>
          <a:bodyPr wrap="square" lIns="0" tIns="0" rIns="0" bIns="0" rtlCol="0" anchor="t"/>
          <a:lstStyle/>
          <a:p>
            <a:pPr algn="ctr" indent="0" marL="0">
              <a:buNone/>
            </a:pPr>
            <a:r>
              <a:rPr lang="en-US" sz="1500" b="1" dirty="0">
                <a:solidFill>
                  <a:srgbClr val="2E3A46"/>
                </a:solidFill>
              </a:rPr>
              <a:t>No evidence</a:t>
            </a:r>
            <a:endParaRPr lang="en-US" sz="1500" dirty="0"/>
          </a:p>
        </p:txBody>
      </p:sp>
      <p:sp>
        <p:nvSpPr>
          <p:cNvPr id="5" name="mark-thr-construct"/>
          <p:cNvSpPr txBox="1"/>
          <p:nvPr/>
        </p:nvSpPr>
        <p:spPr>
          <a:xfrm>
            <a:off x="3022092" y="1788566"/>
            <a:ext cx="493776" cy="493776"/>
          </a:xfrm>
          <a:prstGeom prst="rect">
            <a:avLst/>
          </a:prstGeom>
          <a:noFill/>
          <a:ln/>
        </p:spPr>
        <p:txBody>
          <a:bodyPr wrap="square" lIns="0" tIns="0" rIns="0" bIns="0" rtlCol="0" anchor="ctr"/>
          <a:lstStyle/>
          <a:p>
            <a:pPr algn="ctr" indent="0" marL="0">
              <a:buNone/>
            </a:pPr>
            <a:r>
              <a:rPr lang="en-US" sz="2400" b="1" dirty="0">
                <a:solidFill>
                  <a:srgbClr val="E63946"/>
                </a:solidFill>
              </a:rPr>
              <a:t>✗</a:t>
            </a:r>
            <a:endParaRPr lang="en-US" sz="2400" dirty="0"/>
          </a:p>
        </p:txBody>
      </p:sp>
      <p:pic>
        <p:nvPicPr>
          <p:cNvPr id="6" name="thr-internal" descr="/Users/amberwang/Desktop/paper-review/assets/thr-internal.png">    </p:cNvPr>
          <p:cNvPicPr>
            <a:picLocks noChangeAspect="1"/>
          </p:cNvPicPr>
          <p:nvPr/>
        </p:nvPicPr>
        <p:blipFill>
          <a:blip r:embed="rId2"/>
          <a:stretch>
            <a:fillRect/>
          </a:stretch>
        </p:blipFill>
        <p:spPr>
          <a:xfrm>
            <a:off x="5545836" y="2082514"/>
            <a:ext cx="1097280" cy="772732"/>
          </a:xfrm>
          <a:prstGeom prst="rect">
            <a:avLst/>
          </a:prstGeom>
        </p:spPr>
      </p:pic>
      <p:sp>
        <p:nvSpPr>
          <p:cNvPr id="7" name="lbl-thr-internal"/>
          <p:cNvSpPr txBox="1"/>
          <p:nvPr/>
        </p:nvSpPr>
        <p:spPr>
          <a:xfrm>
            <a:off x="4494276" y="3154680"/>
            <a:ext cx="3200400" cy="365760"/>
          </a:xfrm>
          <a:prstGeom prst="rect">
            <a:avLst/>
          </a:prstGeom>
          <a:noFill/>
          <a:ln/>
        </p:spPr>
        <p:txBody>
          <a:bodyPr wrap="square" lIns="0" tIns="0" rIns="0" bIns="0" rtlCol="0" anchor="t"/>
          <a:lstStyle/>
          <a:p>
            <a:pPr algn="ctr" indent="0" marL="0">
              <a:buNone/>
            </a:pPr>
            <a:r>
              <a:rPr lang="en-US" sz="1500" b="1" dirty="0">
                <a:solidFill>
                  <a:srgbClr val="2E3A46"/>
                </a:solidFill>
              </a:rPr>
              <a:t>Biased conclusion</a:t>
            </a:r>
            <a:endParaRPr lang="en-US" sz="1500" dirty="0"/>
          </a:p>
        </p:txBody>
      </p:sp>
      <p:sp>
        <p:nvSpPr>
          <p:cNvPr id="8" name="mark-thr-internal"/>
          <p:cNvSpPr txBox="1"/>
          <p:nvPr/>
        </p:nvSpPr>
        <p:spPr>
          <a:xfrm>
            <a:off x="6313932" y="1788566"/>
            <a:ext cx="493776" cy="493776"/>
          </a:xfrm>
          <a:prstGeom prst="rect">
            <a:avLst/>
          </a:prstGeom>
          <a:noFill/>
          <a:ln/>
        </p:spPr>
        <p:txBody>
          <a:bodyPr wrap="square" lIns="0" tIns="0" rIns="0" bIns="0" rtlCol="0" anchor="ctr"/>
          <a:lstStyle/>
          <a:p>
            <a:pPr algn="ctr" indent="0" marL="0">
              <a:buNone/>
            </a:pPr>
            <a:r>
              <a:rPr lang="en-US" sz="2400" b="1" dirty="0">
                <a:solidFill>
                  <a:srgbClr val="E63946"/>
                </a:solidFill>
              </a:rPr>
              <a:t>✗</a:t>
            </a:r>
            <a:endParaRPr lang="en-US" sz="2400" dirty="0"/>
          </a:p>
        </p:txBody>
      </p:sp>
      <p:pic>
        <p:nvPicPr>
          <p:cNvPr id="9" name="thr-conclusion" descr="/Users/amberwang/Desktop/paper-review/assets/thr-conclusion.png">    </p:cNvPr>
          <p:cNvPicPr>
            <a:picLocks noChangeAspect="1"/>
          </p:cNvPicPr>
          <p:nvPr/>
        </p:nvPicPr>
        <p:blipFill>
          <a:blip r:embed="rId3"/>
          <a:stretch>
            <a:fillRect/>
          </a:stretch>
        </p:blipFill>
        <p:spPr>
          <a:xfrm>
            <a:off x="8848028" y="1920240"/>
            <a:ext cx="1076577" cy="1097280"/>
          </a:xfrm>
          <a:prstGeom prst="rect">
            <a:avLst/>
          </a:prstGeom>
        </p:spPr>
      </p:pic>
      <p:sp>
        <p:nvSpPr>
          <p:cNvPr id="10" name="lbl-thr-conclusion"/>
          <p:cNvSpPr txBox="1"/>
          <p:nvPr/>
        </p:nvSpPr>
        <p:spPr>
          <a:xfrm>
            <a:off x="7786116" y="3154680"/>
            <a:ext cx="3200400" cy="365760"/>
          </a:xfrm>
          <a:prstGeom prst="rect">
            <a:avLst/>
          </a:prstGeom>
          <a:noFill/>
          <a:ln/>
        </p:spPr>
        <p:txBody>
          <a:bodyPr wrap="square" lIns="0" tIns="0" rIns="0" bIns="0" rtlCol="0" anchor="t"/>
          <a:lstStyle/>
          <a:p>
            <a:pPr algn="ctr" indent="0" marL="0">
              <a:buNone/>
            </a:pPr>
            <a:r>
              <a:rPr lang="en-US" sz="1500" b="1" dirty="0">
                <a:solidFill>
                  <a:srgbClr val="2E3A46"/>
                </a:solidFill>
              </a:rPr>
              <a:t>Significance from large samples</a:t>
            </a:r>
            <a:endParaRPr lang="en-US" sz="1500" dirty="0"/>
          </a:p>
        </p:txBody>
      </p:sp>
      <p:sp>
        <p:nvSpPr>
          <p:cNvPr id="11" name="mark-thr-conclusion"/>
          <p:cNvSpPr txBox="1"/>
          <p:nvPr/>
        </p:nvSpPr>
        <p:spPr>
          <a:xfrm>
            <a:off x="9605772" y="1788566"/>
            <a:ext cx="493776" cy="493776"/>
          </a:xfrm>
          <a:prstGeom prst="rect">
            <a:avLst/>
          </a:prstGeom>
          <a:noFill/>
          <a:ln/>
        </p:spPr>
        <p:txBody>
          <a:bodyPr wrap="square" lIns="0" tIns="0" rIns="0" bIns="0" rtlCol="0" anchor="ctr"/>
          <a:lstStyle/>
          <a:p>
            <a:pPr algn="ctr" indent="0" marL="0">
              <a:buNone/>
            </a:pPr>
            <a:r>
              <a:rPr lang="en-US" sz="2400" b="1" dirty="0">
                <a:solidFill>
                  <a:srgbClr val="E63946"/>
                </a:solidFill>
              </a:rPr>
              <a:t>✗</a:t>
            </a:r>
            <a:endParaRPr lang="en-US" sz="2400" dirty="0"/>
          </a:p>
        </p:txBody>
      </p:sp>
      <p:sp>
        <p:nvSpPr>
          <p:cNvPr id="12" name="s11-rewrite-1"/>
          <p:cNvSpPr/>
          <p:nvPr/>
        </p:nvSpPr>
        <p:spPr>
          <a:xfrm>
            <a:off x="914400" y="3703320"/>
            <a:ext cx="7086600" cy="1600200"/>
          </a:xfrm>
          <a:prstGeom prst="roundRect">
            <a:avLst>
              <a:gd name="adj" fmla="val 4571"/>
            </a:avLst>
          </a:prstGeom>
          <a:solidFill>
            <a:srgbClr val="EEF3F8"/>
          </a:solidFill>
          <a:ln w="12700">
            <a:solidFill>
              <a:srgbClr val="9AA5B1"/>
            </a:solidFill>
            <a:prstDash val="solid"/>
          </a:ln>
        </p:spPr>
      </p:sp>
      <p:sp>
        <p:nvSpPr>
          <p:cNvPr id="13" name="s11-text-“should abandon at"/>
          <p:cNvSpPr txBox="1"/>
          <p:nvPr/>
        </p:nvSpPr>
        <p:spPr>
          <a:xfrm>
            <a:off x="1097280" y="3840480"/>
            <a:ext cx="6720840" cy="320040"/>
          </a:xfrm>
          <a:prstGeom prst="rect">
            <a:avLst/>
          </a:prstGeom>
          <a:noFill/>
          <a:ln/>
        </p:spPr>
        <p:txBody>
          <a:bodyPr wrap="square" lIns="0" tIns="0" rIns="0" bIns="0" rtlCol="0" anchor="t"/>
          <a:lstStyle/>
          <a:p>
            <a:pPr algn="l" indent="0" marL="0">
              <a:buNone/>
            </a:pPr>
            <a:r>
              <a:rPr lang="en-US" sz="1200" strike="sngStrike" dirty="0">
                <a:solidFill>
                  <a:srgbClr val="9AA5B1"/>
                </a:solidFill>
              </a:rPr>
              <a:t>“should abandon at non-newcomer status to increase their odds of becoming long-term contributors”</a:t>
            </a:r>
            <a:endParaRPr lang="en-US" sz="1200" dirty="0"/>
          </a:p>
        </p:txBody>
      </p:sp>
      <p:sp>
        <p:nvSpPr>
          <p:cNvPr id="14" name="s11-text-Among contributors"/>
          <p:cNvSpPr txBox="1"/>
          <p:nvPr/>
        </p:nvSpPr>
        <p:spPr>
          <a:xfrm>
            <a:off x="1097280" y="4251960"/>
            <a:ext cx="6720840" cy="868680"/>
          </a:xfrm>
          <a:prstGeom prst="rect">
            <a:avLst/>
          </a:prstGeom>
          <a:noFill/>
          <a:ln/>
        </p:spPr>
        <p:txBody>
          <a:bodyPr wrap="square" lIns="0" tIns="0" rIns="0" bIns="0" rtlCol="0" anchor="t"/>
          <a:lstStyle/>
          <a:p>
            <a:pPr algn="l" indent="0" marL="0">
              <a:buNone/>
            </a:pPr>
            <a:r>
              <a:rPr lang="en-US" sz="1700" b="1" dirty="0">
                <a:solidFill>
                  <a:srgbClr val="2E3A46"/>
                </a:solidFill>
              </a:rPr>
              <a:t>Among contributors with an accepted patch, simple, documentation, and low-deletion changes are associated with lower acceptance.</a:t>
            </a:r>
            <a:endParaRPr lang="en-US" sz="1700" dirty="0"/>
          </a:p>
        </p:txBody>
      </p:sp>
      <p:sp>
        <p:nvSpPr>
          <p:cNvPr id="15" name="s11-rewrite-2"/>
          <p:cNvSpPr/>
          <p:nvPr/>
        </p:nvSpPr>
        <p:spPr>
          <a:xfrm>
            <a:off x="8229600" y="3703320"/>
            <a:ext cx="3474720" cy="1600200"/>
          </a:xfrm>
          <a:prstGeom prst="roundRect">
            <a:avLst>
              <a:gd name="adj" fmla="val 4571"/>
            </a:avLst>
          </a:prstGeom>
          <a:solidFill>
            <a:srgbClr val="EEF3F8"/>
          </a:solidFill>
          <a:ln w="12700">
            <a:solidFill>
              <a:srgbClr val="9AA5B1"/>
            </a:solidFill>
            <a:prstDash val="solid"/>
          </a:ln>
        </p:spPr>
      </p:sp>
      <p:sp>
        <p:nvSpPr>
          <p:cNvPr id="16" name="s11-text-“four indicate sig"/>
          <p:cNvSpPr txBox="1"/>
          <p:nvPr/>
        </p:nvSpPr>
        <p:spPr>
          <a:xfrm>
            <a:off x="8412480" y="3840480"/>
            <a:ext cx="3108960" cy="320040"/>
          </a:xfrm>
          <a:prstGeom prst="rect">
            <a:avLst/>
          </a:prstGeom>
          <a:noFill/>
          <a:ln/>
        </p:spPr>
        <p:txBody>
          <a:bodyPr wrap="square" lIns="0" tIns="0" rIns="0" bIns="0" rtlCol="0" anchor="t"/>
          <a:lstStyle/>
          <a:p>
            <a:pPr algn="l" indent="0" marL="0">
              <a:buNone/>
            </a:pPr>
            <a:r>
              <a:rPr lang="en-US" sz="1200" strike="sngStrike" dirty="0">
                <a:solidFill>
                  <a:srgbClr val="9AA5B1"/>
                </a:solidFill>
              </a:rPr>
              <a:t>“four indicate significant negative associations”</a:t>
            </a:r>
            <a:endParaRPr lang="en-US" sz="1200" dirty="0"/>
          </a:p>
        </p:txBody>
      </p:sp>
      <p:sp>
        <p:nvSpPr>
          <p:cNvPr id="17" name="s11-text-Title and descript"/>
          <p:cNvSpPr txBox="1"/>
          <p:nvPr/>
        </p:nvSpPr>
        <p:spPr>
          <a:xfrm>
            <a:off x="8412480" y="4251960"/>
            <a:ext cx="3108960" cy="868680"/>
          </a:xfrm>
          <a:prstGeom prst="rect">
            <a:avLst/>
          </a:prstGeom>
          <a:noFill/>
          <a:ln/>
        </p:spPr>
        <p:txBody>
          <a:bodyPr wrap="square" lIns="0" tIns="0" rIns="0" bIns="0" rtlCol="0" anchor="t"/>
          <a:lstStyle/>
          <a:p>
            <a:pPr algn="l" indent="0" marL="0">
              <a:buNone/>
            </a:pPr>
            <a:r>
              <a:rPr lang="en-US" sz="1700" b="1" dirty="0">
                <a:solidFill>
                  <a:srgbClr val="2E3A46"/>
                </a:solidFill>
              </a:rPr>
              <a:t>Title and description length and readability show no practical effect.</a:t>
            </a:r>
            <a:endParaRPr lang="en-US" sz="1700" dirty="0"/>
          </a:p>
        </p:txBody>
      </p:sp>
      <p:pic>
        <p:nvPicPr>
          <p:cNvPr id="18" name="s11-pt-holds" descr="/Users/amberwang/Desktop/paper-review/assets/pt-holds.png">    </p:cNvPr>
          <p:cNvPicPr>
            <a:picLocks noChangeAspect="1"/>
          </p:cNvPicPr>
          <p:nvPr/>
        </p:nvPicPr>
        <p:blipFill>
          <a:blip r:embed="rId4"/>
          <a:stretch>
            <a:fillRect/>
          </a:stretch>
        </p:blipFill>
        <p:spPr>
          <a:xfrm>
            <a:off x="928249" y="5532120"/>
            <a:ext cx="429501" cy="502920"/>
          </a:xfrm>
          <a:prstGeom prst="rect">
            <a:avLst/>
          </a:prstGeom>
        </p:spPr>
      </p:pic>
      <p:sp>
        <p:nvSpPr>
          <p:cNvPr id="19" name="s11-text-Still stands: Good"/>
          <p:cNvSpPr txBox="1"/>
          <p:nvPr/>
        </p:nvSpPr>
        <p:spPr>
          <a:xfrm>
            <a:off x="1508760" y="5550408"/>
            <a:ext cx="10058400" cy="457200"/>
          </a:xfrm>
          <a:prstGeom prst="rect">
            <a:avLst/>
          </a:prstGeom>
          <a:noFill/>
          <a:ln/>
        </p:spPr>
        <p:txBody>
          <a:bodyPr wrap="square" lIns="0" tIns="0" rIns="0" bIns="0" rtlCol="0" anchor="ctr"/>
          <a:lstStyle/>
          <a:p>
            <a:pPr algn="l" indent="0" marL="0">
              <a:buNone/>
            </a:pPr>
            <a:r>
              <a:rPr lang="en-US" sz="1400" dirty="0">
                <a:solidFill>
                  <a:srgbClr val="2E3A46"/>
                </a:solidFill>
              </a:rPr>
              <a:t>Still stands: Good First Issues raise newcomers' acceptance odds 5.57× in busy GitHub projects, and bug fixes help newcomers in 7 of 8 datasets.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5B1"/>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800">
        <p159:morph option="byObject"/>
      </p:transition>
    </mc:Choice>
    <mc:Fallback>
      <p:transition spd="slow">
        <p:fade/>
      </p:transition>
    </mc:Fallback>
  </mc:AlternateContent>
</p:sld>
</file>

<file path=ppt/theme/theme1.xml><?xml version="1.0" encoding="utf-8"?>
<a:theme xmlns:a="http://schemas.openxmlformats.org/drawingml/2006/main" name="FirstPatch Adversary v2">
  <a:themeElements>
    <a:clrScheme name="FirstPatch Adversary v2">
      <a:dk1>
        <a:srgbClr val="2E3A46"/>
      </a:dk1>
      <a:lt1>
        <a:srgbClr val="FFFFFF"/>
      </a:lt1>
      <a:dk2>
        <a:srgbClr val="4A6FA5"/>
      </a:dk2>
      <a:lt2>
        <a:srgbClr val="CFE3F0"/>
      </a:lt2>
      <a:accent1>
        <a:srgbClr val="4A6FA5"/>
      </a:accent1>
      <a:accent2>
        <a:srgbClr val="8FAF9A"/>
      </a:accent2>
      <a:accent3>
        <a:srgbClr val="E63946"/>
      </a:accent3>
      <a:accent4>
        <a:srgbClr val="4CAF7A"/>
      </a:accent4>
      <a:accent5>
        <a:srgbClr val="9AA5B1"/>
      </a:accent5>
      <a:accent6>
        <a:srgbClr val="CFE3F0"/>
      </a:accent6>
      <a:hlink>
        <a:srgbClr val="4A6FA5"/>
      </a:hlink>
      <a:folHlink>
        <a:srgbClr val="8FAF9A"/>
      </a:folHlink>
    </a:clrScheme>
    <a:fontScheme name="FirstPatch Adversary v2">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First Patch to Long-Term Contributor: the adversary's case (v2)</dc:title>
  <dc:subject>PptxGenJS Presentation</dc:subject>
  <dc:creator>Amber Wang</dc:creator>
  <cp:lastModifiedBy>Amber Wang</cp:lastModifiedBy>
  <cp:revision>1</cp:revision>
  <dcterms:created xsi:type="dcterms:W3CDTF">2026-10-21T06:19:17Z</dcterms:created>
  <dcterms:modified xsi:type="dcterms:W3CDTF">2026-10-21T06:19:17Z</dcterms:modified>
</cp:coreProperties>
</file>